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20 seconds</a:t>
            </a:r>
          </a:p>
          <a:p/>
          <a:p>
            <a:r>
              <a:t>HRGenius is a human resource management system that connects employee information, daily self-service, operational workflows and workforce insight. Open with a relatable question: how many places would an employee normally visit to request leave, find a payslip and thank a teammate? This project puts those experiences into one permission-aware workspace. The presentation follows a roughly six-to-eight-minute core story; technical detail is available through four optional slides and these notes. All product screenshots come from the local HRGenius demonstration environment. Their names and figures are seeded demonstration data, not customer results. Use Slide Show mode (F5) and click Explore the story. The deck is editable and does not use macros.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navigate</a:t>
            </a:r>
          </a:p>
          <a:p/>
          <a:p>
            <a:r>
              <a:t>This is the main navigation hub. The six cards are actual internal PowerPoint hyperlinks. Menu returns here from every slide. The left and right arrows provide a conventional sequence. For a short product pitch use slides 1–6 and 10; for a technical project review continue through 7–9 and use appendices 12–14 for questions. Slide 4 links to a dark-mode comparison on slide 11. Slide 10 offers offline slide tours plus explicit external links to the running application. External links require the local application and a suitable signed-in account; the screenshots remain available offline. There is no embedded working HR application inside the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objectives and users</a:t>
            </a:r>
          </a:p>
          <a:p/>
          <a:p>
            <a:r>
              <a:t>The project addresses fragmentation in employee records and HR processes. Objectives are to provide a consistent employee source of information, support traceable request workflows, enable self-service, preserve role-appropriate access, and make operational data easier to understand. The intended users include employees, managers, recruiters, payroll administrators, HR managers, HR administrators and super administrators. Employees access their own information and applicable self-service features; operational specialists receive permissions for their responsibilities. Managers have team-oriented responsibilities where the backend permits them. Benefits on this slide are design goals and qualitative outcomes, not measured cost savings or adoption results. Do not claim percentage improvements in productivity or processing time without a separate study. The system includes public careers pages outside the authenticated application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system and dashboard tour</a:t>
            </a:r>
          </a:p>
          <a:p/>
          <a:p>
            <a:r>
              <a:t>The light theme uses white surfaces, a warm off-white background (#F7F7F2), olive actions (#5C6936), a deep olive sidebar (#293121) and dark readable text (#2D3424). The screenshot is a real captured dashboard; the counts and financial figure are demonstration records. The greeting changes with time of day. Permissions influence visible actions and access to analytics. The implemented workforce chart supports six- and twelve-month periods, keyboard/hover values and a data-table alternative. Department bars and policy acknowledgement progress summarize existing API data. The shared shell includes Ctrl/Cmd+K page search, arrow-key navigation, Enter to select, Escape to close, a mobile drawer, a skip link and a persistent theme preference. First visit defaults to the light theme. Dark mode remains an intentional user option. Do not claim that individual chart points already drill into filtered business lists: that enhancement was discussed but is not part of the verified implementation. Click the theme comparison button for the corresponding dark screenshot.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functional scope</a:t>
            </a:r>
          </a:p>
          <a:p/>
          <a:p>
            <a:r>
              <a:t>Recruitment includes requisitions, public careers, candidates, applications and pipeline events, interview scheduling/feedback, offers and onboarding. Onboarding provides templates, plans and tasks. Core HR includes employee records, contacts, statutory details, document metadata and file access, reporting relationships, timeline events, organization masters and asset allocation history. Time management includes attendance days, holidays, regularization, leave types, balances, requests, cancellations and accrual operations, integrated with approval requests and steps. Payroll includes salary components, payroll runs, adjustments, calculation, submission, paid state, payslips, PDF downloads and register/bank-file exports. Performance includes review cycles, goals, progress updates, employee self-review, manager review, acknowledgement and feedback/praise. Support includes helpdesk tickets/comments and policies/acknowledgements. Analytics and personal summaries assemble existing operational information. This scope was checked against current frontend routes, backend controllers and Flyway migrations; the older project report describes an earlier milestone and is not the sole source. Module presence does not itself prove every business scenario has been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and interaction details</a:t>
            </a:r>
          </a:p>
          <a:p/>
          <a:p>
            <a:r>
              <a:t>Use a leave request as the simple explanatory workflow: an employee submits a request, the authorized approval process handles it, and the visible outcome updates. This is a conceptual summary; the configured workflow and policy determine the actual approval stages and eligibility. Attendance adds calendar-day selection with check-in, check-out and worked-time detail; changing month clears the selected day. Leave balance graphics separate used, pending and available amounts. Payroll comparison uses existing recent-run data. The appreciation wall reads existing feedback and offers a Give shoutout action using the existing feedback form and service. The carousel and dialog were tested without posting a recognition message or making a business-data mutation. Other details include loading, empty and error states, retries, accessible chart values, responsive layouts, non-nested org-chart controls and reduced-motion behavior. These are frontend presentation improvements built around existing APIs. Avoid inventing birthdays, employee anniversaries or recognition messages when no corresponding data is available.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and technology rationale</a:t>
            </a:r>
          </a:p>
          <a:p/>
          <a:p>
            <a:r>
              <a:t>The frontend uses Angular 18 standalone components with lazy-loaded feature routes, Angular Material and SCSS. Route guards provide navigation behavior; the backend is responsible for authorization. The backend targets Java 21 and Spring Boot 3.3.4. Features are organized into packages with controllers, services, repositories and DTOs; JPA/Hibernate persists entities, MapStruct maps data and Bean Validation validates inputs. Spring Security and JWT protect REST endpoints under /api/v1. Oracle is the intended database for the packaged deployment. The running demonstration used an H2 profile with Oracle compatibility; it must not be described as proof of production Oracle behavior. Flyway manages versioned schema changes. Document metadata lives in the database while file bytes are handled by a storage service. The codebase also contains notification/mail handling, Caffeine caching and springdoc OpenAPI support. The architecture is a modular backend application, not a deployed microservice fleet. Keeping the existing REST and business-service boundary let the UI redesign change presentation without rewriting backend contracts.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boundaries and important limits</a:t>
            </a:r>
          </a:p>
          <a:p/>
          <a:p>
            <a:r>
              <a:t>The access model combines roles, permissions and record-level scope. An employee's self-service access differs from manager team access and authorized HR operations; specific permissions are checked by endpoint and service. JWT access tokens and rotating refresh tokens are used, with BCrypt password hashes and a failed-login lockout policy. Logout revokes refresh-token access; do not claim every issued access token is instantly invalidated. Selected statutory and bank fields use AES-GCM at rest with masked responses and controlled reveal paths; this does not mean every database column is encrypted. Sensitive actions and operational changes have audit support. Upload handling uses generated storage keys, allowed file types/signature validation and validated paths. It is not a malware-scanning service. HTTPS, managed secrets, deployment hardening, recovery procedures and security testing remain deployment responsibilities. The slide describes implemented controls, not a compliance certification or penetration-test result. Permission-filtered UI improves usability, but a hidden button is never the security boundary.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evidence and limits</a:t>
            </a:r>
          </a:p>
          <a:p/>
          <a:p>
            <a:r>
              <a:t>Evidence is stored in reports/ui-audit.json, ui-interactions.json, ui-mobile.json and ui-final.json. The audit records 18 routes in each of two themes, totaling 36 automated accessibility scans, with zero reported violations and no recorded page runtime errors. Nineteen interaction checks passed, including dashboard period selection, table rows, keyboard chart values, appreciation carousel and dialog cancellation, keyboard search, saved theme, attendance selection/reset, payroll tooltip, analytics period/table, org-chart keyboard behavior, mobile drawer behavior, analytics retry and employee permission restrictions. Eighteen mobile routes were checked at a 390-pixel viewport; native tab strips can scroll internally. Final checks covered first-visit light theme, light/dark dashboard scans and graceful fallback for failed organization lookups. The production Angular build passed within configured budgets. Backend test classes exist for auth, employee, leave/attendance, recruitment, payroll, performance, services, migrations and personal summary, but were not rerun for this presentation. Automated accessibility scans do not replace manual assistive-technology testing. No load benchmark, production Oracle acceptance, backup-restore exercise or business-result improvement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script, conclusion and questions</a:t>
            </a:r>
          </a:p>
          <a:p/>
          <a:p>
            <a:r>
              <a:t>Invite the audience to choose one moment. Explore: open Analytics with an authorized account, change between six and twelve months, inspect a data point by keyboard or pointer and show the tabular alternative. Appreciate: open Performance or the dashboard praise wall, show the carousel and open Give shoutout, then cancel unless posting is explicitly intended. Personalize: use the dashboard theme control and show its persistence and readable actions. The presentation's Slide tour buttons are offline internal links. Open app buttons use localhost:4200 and require the frontend, its configured backend and an appropriate session; on another computer localhost means that computer. Access may be denied or a login page shown if the account lacks permission. Close the core presentation here: HRGenius combines employee operations with a calm, accessible and human-centered interface. Ask which daily HR interaction the audience would improve next. Optional material follows: dark-mode comparison, module/API catalogue, logical data model and deployment/future work. No real business data needs to be created during this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 dark theme</a:t>
            </a:r>
          </a:p>
          <a:p/>
          <a:p>
            <a:r>
              <a:t>This screenshot shows the implemented dark theme, not a different product. Its background is #191D14, surfaces #252B1E, primary action color #CCD79E and primary text #F0F2E8. The selected sidebar state remains light and visible. Controls have separate surface, border, foreground, hover and focus treatments rather than merely darkening an entire screenshot. The preference persists between reloads, while a new session with no saved preference starts light even when the operating system prefers dark. The app has a visible Light mode / Dark mode control. Automated checks include the principal routes in both themes; automated success does not prove every contrast state or every assistive-technology interaction has been manually reviewed. Click Return to olive + white to compare with slide 4, or Menu to choose another chapter.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feature and API catalogue</a:t>
            </a:r>
          </a:p>
          <a:p/>
          <a:p>
            <a:r>
              <a:t>Core HR roots: /employees for directory and employee lifecycle, nested /employees/{employeeId} for profile subresources, /org for organization masters, /org-chart for reporting structure, /documents for document operations, /assets for allocation management and /me for personal summary. Time roots: /attendance, /holidays, /leave and /approvals. Leave exposes types, balances, adjustments, requests, cancellation and accrual operations. Recruitment roots: /recruitment and /public/careers; onboarding root: /onboarding. Payroll: /payroll/runs supports listing/detail, create, calculate, submit, paid state and deletion as permitted; nested run endpoints expose payslips, register, bank file and adjustments. /payroll/components manages salary components; /payroll/me/payslips, /me/structure and /payslips/{id}/pdf support self-service and downloads. Performance: /performance/cycles includes launch, close, summary and review lists; reviews support goals, progress, self/manager assessment and acknowledgement; feedback has wall, received, given and team views. Support/control roots are /helpdesk, /policies, /analytics, /audit-logs and /auth. These are API groupings, not a claim that every action is public or available to every role. Check controller annotations and services for exact HTTP methods, parameters, validation and permissions. Source: backend/src/main/java/com/hrgenius/**/controller and frontend/src/app/app.routes.ts.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relationships and persistence</a:t>
            </a:r>
          </a:p>
          <a:p/>
          <a:p>
            <a:r>
              <a:t>The diagram is intentionally a selected logical model, not an exhaustive ERD or a statement of every foreign-key cardinality. Flyway migrations define authentication tables (users, roles, permissions and join tables), refresh tokens and audit_log; organization masters; employees and their related statutory, emergency contact, document and timeline records; assets and assignment history; approval requests/steps; leave types, balances, requests and accrual log; holidays, attendance days and regularization requests. Recruitment tables include job_requisitions, candidates, job_applications, application_events, interviews, interview_feedback and offers. Onboarding includes templates/template tasks and plans/tasks. Payroll includes salary_components, payroll_runs, payslips, payslip_lines and payroll_adjustments. Performance includes review_cycles, performance_reviews, goals and feedback_notes. Support/compliance includes helpdesk_tickets, helpdesk_comments, policies and policy_acknowledgements. Employees have organization references and a manager self-reference. Users may link to an employee; do not imply that employee_id is necessarily a unique schema constraint without checking the migration. File metadata and storage bytes are separate. Versioned migrations document evolution of the database, but the H2 demo is not a substitute for Oracle integration and migration testing.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limitations, future scope and sources</a:t>
            </a:r>
          </a:p>
          <a:p/>
          <a:p>
            <a:r>
              <a:t>The repository provides an Angular frontend, a Spring Boot backend and a Docker Compose deployment configuration with Oracle, frontend serving, backend and mail development tooling. The current screenshots came from localhost:4200 with the development backend; environments may use different configured ports. H2 in-memory demonstration data can reset when the backend restarts. Production needs persistent database and upload storage, externalized secrets, HTTPS, backups and restore verification, monitoring and deployment-specific configuration. Existing backend tests cover several modules, but no backend test execution is represented as newly completed in this presentation. Next validation priorities are Oracle integration/migration acceptance, complete business-flow regression, manual accessibility testing, security review, realistic load tests and recovery exercises. Proposed product enhancements include richer role-specific dashboard composition and chart-to-record navigation; they were discussed but should not be presented as completed. SSO and operational hardening are future directions rather than current verified features. Primary sources: frontend/src/app/app.routes.ts; frontend/src/app/features and shared components; backend/pom.xml; backend/src/main/java/com/hrgenius; backend/src/main/resources/db/migration; reports/UI_DESIGN_NOTES.md; reports/ui-audit.json; reports/ui-interactions.json; reports/ui-mobile.json; reports/ui-final.json. The older Project Report and SRS are supporting documents; current source code takes precedence where scope differs. Slides and notes contain no real credentials, macros or unsupported business benefit statistics.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xml"/><Relationship Id="rId4" Type="http://schemas.openxmlformats.org/officeDocument/2006/relationships/image" Target="../media/image1.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image" Target="../media/image2.png"/><Relationship Id="rId6" Type="http://schemas.openxmlformats.org/officeDocument/2006/relationships/slide" Target="slide1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1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image" Target="../media/image3.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9.xml"/><Relationship Id="rId4" Type="http://schemas.openxmlformats.org/officeDocument/2006/relationships/slide" Target="slide11.xml"/><Relationship Id="rId5" Type="http://schemas.openxmlformats.org/officeDocument/2006/relationships/slide" Target="slide4.xml"/><Relationship Id="rId6" Type="http://schemas.openxmlformats.org/officeDocument/2006/relationships/hyperlink" Target="http://localhost:4200/analytics" TargetMode="External"/><Relationship Id="rId7" Type="http://schemas.openxmlformats.org/officeDocument/2006/relationships/slide" Target="slide6.xml"/><Relationship Id="rId8" Type="http://schemas.openxmlformats.org/officeDocument/2006/relationships/hyperlink" Target="http://localhost:4200/performance" TargetMode="External"/><Relationship Id="rId9" Type="http://schemas.openxmlformats.org/officeDocument/2006/relationships/hyperlink" Target="http://localhost:4200/dashboard" TargetMode="Externa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image" Target="../media/image4.png"/><Relationship Id="rId6" Type="http://schemas.openxmlformats.org/officeDocument/2006/relationships/slide" Target="slide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1.xml"/><Relationship Id="rId4" Type="http://schemas.openxmlformats.org/officeDocument/2006/relationships/slide" Target="slide1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0.xml"/><Relationship Id="rId6"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93121"/>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CCD79E"/>
                </a:solidFill>
                <a:latin typeface="Segoe UI"/>
              </a:defRPr>
            </a:pPr>
            <a:r>
              <a:t>HRGenius  /  HUMAN RESOURCE MANAGEMENT</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FFFFFF"/>
                </a:solidFill>
                <a:latin typeface="Segoe UI"/>
              </a:defRPr>
            </a:pPr>
          </a:p>
        </p:txBody>
      </p:sp>
      <p:sp>
        <p:nvSpPr>
          <p:cNvPr id="4" name="Rectangle 3"/>
          <p:cNvSpPr/>
          <p:nvPr/>
        </p:nvSpPr>
        <p:spPr>
          <a:xfrm>
            <a:off x="502920" y="6364224"/>
            <a:ext cx="11155680" cy="10972"/>
          </a:xfrm>
          <a:prstGeom prst="rect">
            <a:avLst/>
          </a:prstGeom>
          <a:solidFill>
            <a:srgbClr val="5C6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CCD79E"/>
                </a:solidFill>
                <a:latin typeface="Segoe UI"/>
              </a:defRPr>
            </a:pPr>
            <a:r>
              <a:t>A LITTLE MORE HUMAN.   •   PROJECT SHOWCASE</a:t>
            </a:r>
          </a:p>
        </p:txBody>
      </p:sp>
      <p:sp>
        <p:nvSpPr>
          <p:cNvPr id="6" name="Rounded Rectangle 5">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7" name="Rounded Rectangle 6">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8" name="Rounded Rectangle 7">
            <a:hlinkClick action="ppaction://hlinksldjump" r:id="rId2"/>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TextBox 8"/>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CCD79E"/>
                </a:solidFill>
                <a:latin typeface="Segoe UI"/>
              </a:defRPr>
            </a:pPr>
            <a:r>
              <a:t>01</a:t>
            </a:r>
          </a:p>
        </p:txBody>
      </p:sp>
      <p:pic>
        <p:nvPicPr>
          <p:cNvPr id="10" name="Picture 9" descr="olive-workspace.png"/>
          <p:cNvPicPr>
            <a:picLocks noChangeAspect="1"/>
          </p:cNvPicPr>
          <p:nvPr/>
        </p:nvPicPr>
        <p:blipFill>
          <a:blip r:embed="rId4"/>
          <a:stretch>
            <a:fillRect/>
          </a:stretch>
        </p:blipFill>
        <p:spPr>
          <a:xfrm>
            <a:off x="6309360" y="1584960"/>
            <a:ext cx="5394960" cy="3596640"/>
          </a:xfrm>
          <a:prstGeom prst="rect">
            <a:avLst/>
          </a:prstGeom>
        </p:spPr>
      </p:pic>
      <p:sp>
        <p:nvSpPr>
          <p:cNvPr id="11" name="TextBox 10"/>
          <p:cNvSpPr txBox="1"/>
          <p:nvPr/>
        </p:nvSpPr>
        <p:spPr>
          <a:xfrm>
            <a:off x="640080" y="1097280"/>
            <a:ext cx="5486400" cy="548640"/>
          </a:xfrm>
          <a:prstGeom prst="rect">
            <a:avLst/>
          </a:prstGeom>
          <a:noFill/>
        </p:spPr>
        <p:txBody>
          <a:bodyPr wrap="square" lIns="0" rIns="0" tIns="0" bIns="0">
            <a:spAutoFit/>
          </a:bodyPr>
          <a:lstStyle/>
          <a:p>
            <a:pPr>
              <a:spcAft>
                <a:spcPts val="800"/>
              </a:spcAft>
              <a:defRPr sz="4000" b="1">
                <a:solidFill>
                  <a:srgbClr val="FFFFFF"/>
                </a:solidFill>
                <a:latin typeface="Segoe UI"/>
              </a:defRPr>
            </a:pPr>
            <a:r>
              <a:t>HRGenius</a:t>
            </a:r>
          </a:p>
        </p:txBody>
      </p:sp>
      <p:sp>
        <p:nvSpPr>
          <p:cNvPr id="12" name="TextBox 11"/>
          <p:cNvSpPr txBox="1"/>
          <p:nvPr/>
        </p:nvSpPr>
        <p:spPr>
          <a:xfrm>
            <a:off x="640080" y="1920240"/>
            <a:ext cx="5486400" cy="1645920"/>
          </a:xfrm>
          <a:prstGeom prst="rect">
            <a:avLst/>
          </a:prstGeom>
          <a:noFill/>
        </p:spPr>
        <p:txBody>
          <a:bodyPr wrap="square" lIns="0" rIns="0" tIns="0" bIns="0">
            <a:spAutoFit/>
          </a:bodyPr>
          <a:lstStyle/>
          <a:p>
            <a:pPr>
              <a:spcAft>
                <a:spcPts val="800"/>
              </a:spcAft>
              <a:defRPr sz="3500" b="0">
                <a:solidFill>
                  <a:srgbClr val="FFFFFF"/>
                </a:solidFill>
                <a:latin typeface="Georgia"/>
              </a:defRPr>
            </a:pPr>
            <a:r>
              <a:t>Good work starts</a:t>
            </a:r>
          </a:p>
          <a:p>
            <a:pPr>
              <a:spcAft>
                <a:spcPts val="800"/>
              </a:spcAft>
              <a:defRPr sz="3500" b="0">
                <a:solidFill>
                  <a:srgbClr val="FFFFFF"/>
                </a:solidFill>
                <a:latin typeface="Georgia"/>
              </a:defRPr>
            </a:pPr>
            <a:r>
              <a:t>with happy people.</a:t>
            </a:r>
          </a:p>
        </p:txBody>
      </p:sp>
      <p:sp>
        <p:nvSpPr>
          <p:cNvPr id="13" name="TextBox 12"/>
          <p:cNvSpPr txBox="1"/>
          <p:nvPr/>
        </p:nvSpPr>
        <p:spPr>
          <a:xfrm>
            <a:off x="667512" y="3822191"/>
            <a:ext cx="4937760" cy="731520"/>
          </a:xfrm>
          <a:prstGeom prst="rect">
            <a:avLst/>
          </a:prstGeom>
          <a:noFill/>
        </p:spPr>
        <p:txBody>
          <a:bodyPr wrap="square" lIns="0" rIns="0" tIns="0" bIns="0">
            <a:spAutoFit/>
          </a:bodyPr>
          <a:lstStyle/>
          <a:p>
            <a:pPr>
              <a:spcAft>
                <a:spcPts val="800"/>
              </a:spcAft>
              <a:defRPr sz="1900" b="0">
                <a:solidFill>
                  <a:srgbClr val="CCD79E"/>
                </a:solidFill>
                <a:latin typeface="Segoe UI"/>
              </a:defRPr>
            </a:pPr>
            <a:r>
              <a:t>One connected workplace for people,</a:t>
            </a:r>
          </a:p>
          <a:p>
            <a:pPr>
              <a:spcAft>
                <a:spcPts val="800"/>
              </a:spcAft>
              <a:defRPr sz="1900" b="0">
                <a:solidFill>
                  <a:srgbClr val="CCD79E"/>
                </a:solidFill>
                <a:latin typeface="Segoe UI"/>
              </a:defRPr>
            </a:pPr>
            <a:r>
              <a:t>operations and everyday appreciation.</a:t>
            </a:r>
          </a:p>
        </p:txBody>
      </p:sp>
      <p:sp>
        <p:nvSpPr>
          <p:cNvPr id="14" name="Rounded Rectangle 13">
            <a:hlinkClick action="ppaction://hlinksldjump" r:id="rId2"/>
          </p:cNvPr>
          <p:cNvSpPr/>
          <p:nvPr/>
        </p:nvSpPr>
        <p:spPr>
          <a:xfrm>
            <a:off x="667512" y="5010912"/>
            <a:ext cx="2103120" cy="402336"/>
          </a:xfrm>
          <a:prstGeom prst="roundRect">
            <a:avLst>
              <a:gd name="adj" fmla="val 13000"/>
            </a:avLst>
          </a:prstGeom>
          <a:solidFill>
            <a:srgbClr val="CCD79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Explore the story  →</a:t>
            </a:r>
          </a:p>
        </p:txBody>
      </p:sp>
      <p:sp>
        <p:nvSpPr>
          <p:cNvPr id="15" name="TextBox 14"/>
          <p:cNvSpPr txBox="1"/>
          <p:nvPr/>
        </p:nvSpPr>
        <p:spPr>
          <a:xfrm>
            <a:off x="3017520" y="5111496"/>
            <a:ext cx="2926080" cy="457200"/>
          </a:xfrm>
          <a:prstGeom prst="rect">
            <a:avLst/>
          </a:prstGeom>
          <a:noFill/>
        </p:spPr>
        <p:txBody>
          <a:bodyPr wrap="square" lIns="0" rIns="0" tIns="0" bIns="0">
            <a:spAutoFit/>
          </a:bodyPr>
          <a:lstStyle/>
          <a:p>
            <a:pPr>
              <a:spcAft>
                <a:spcPts val="800"/>
              </a:spcAft>
              <a:defRPr sz="1100" b="0">
                <a:solidFill>
                  <a:srgbClr val="CCD79E"/>
                </a:solidFill>
                <a:latin typeface="Segoe UI"/>
              </a:defRPr>
            </a:pPr>
            <a:r>
              <a:t>10 core slides · 4 optional dives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CHOOSE YOUR ROUTE</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A presentation you can explore.</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Click a card for the part you care about, or follow the arrows for the complete story.</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02</a:t>
            </a:r>
          </a:p>
        </p:txBody>
      </p:sp>
      <p:sp>
        <p:nvSpPr>
          <p:cNvPr id="11" name="Rounded Rectangle 10">
            <a:hlinkClick action="ppaction://hlinksldjump" r:id="rId4"/>
          </p:cNvPr>
          <p:cNvSpPr/>
          <p:nvPr/>
        </p:nvSpPr>
        <p:spPr>
          <a:xfrm>
            <a:off x="548640" y="2194560"/>
            <a:ext cx="3547872" cy="190195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359152"/>
            <a:ext cx="314553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01 / WHY</a:t>
            </a:r>
          </a:p>
        </p:txBody>
      </p:sp>
      <p:sp>
        <p:nvSpPr>
          <p:cNvPr id="13" name="TextBox 12">
            <a:hlinkClick action="ppaction://hlinksldjump" r:id="rId4"/>
          </p:cNvPr>
          <p:cNvSpPr txBox="1"/>
          <p:nvPr/>
        </p:nvSpPr>
        <p:spPr>
          <a:xfrm>
            <a:off x="749808" y="2779776"/>
            <a:ext cx="314553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The big idea</a:t>
            </a:r>
          </a:p>
        </p:txBody>
      </p:sp>
      <p:sp>
        <p:nvSpPr>
          <p:cNvPr id="14" name="TextBox 13">
            <a:hlinkClick action="ppaction://hlinksldjump" r:id="rId4"/>
          </p:cNvPr>
          <p:cNvSpPr txBox="1"/>
          <p:nvPr/>
        </p:nvSpPr>
        <p:spPr>
          <a:xfrm>
            <a:off x="749808" y="3337560"/>
            <a:ext cx="3145536" cy="667512"/>
          </a:xfrm>
          <a:prstGeom prst="rect">
            <a:avLst/>
          </a:prstGeom>
          <a:noFill/>
        </p:spPr>
        <p:txBody>
          <a:bodyPr wrap="square" lIns="0" rIns="0" tIns="0" bIns="0">
            <a:spAutoFit/>
          </a:bodyPr>
          <a:lstStyle/>
          <a:p>
            <a:pPr>
              <a:spcAft>
                <a:spcPts val="800"/>
              </a:spcAft>
              <a:defRPr sz="1500" b="0">
                <a:solidFill>
                  <a:srgbClr val="626752"/>
                </a:solidFill>
                <a:latin typeface="Segoe UI"/>
              </a:defRPr>
            </a:pPr>
            <a:r>
              <a:t>The problem, the people,</a:t>
            </a:r>
          </a:p>
          <a:p>
            <a:pPr>
              <a:spcAft>
                <a:spcPts val="800"/>
              </a:spcAft>
              <a:defRPr sz="1500" b="0">
                <a:solidFill>
                  <a:srgbClr val="626752"/>
                </a:solidFill>
                <a:latin typeface="Segoe UI"/>
              </a:defRPr>
            </a:pPr>
            <a:r>
              <a:t>and the purpose.</a:t>
            </a:r>
          </a:p>
        </p:txBody>
      </p:sp>
      <p:sp>
        <p:nvSpPr>
          <p:cNvPr id="15" name="Rounded Rectangle 14">
            <a:hlinkClick action="ppaction://hlinksldjump" r:id="rId5"/>
          </p:cNvPr>
          <p:cNvSpPr/>
          <p:nvPr/>
        </p:nvSpPr>
        <p:spPr>
          <a:xfrm>
            <a:off x="4315968" y="2194560"/>
            <a:ext cx="3547872" cy="190195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17136" y="2359152"/>
            <a:ext cx="314553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02 / EXPERIENCE</a:t>
            </a:r>
          </a:p>
        </p:txBody>
      </p:sp>
      <p:sp>
        <p:nvSpPr>
          <p:cNvPr id="17" name="TextBox 16">
            <a:hlinkClick action="ppaction://hlinksldjump" r:id="rId5"/>
          </p:cNvPr>
          <p:cNvSpPr txBox="1"/>
          <p:nvPr/>
        </p:nvSpPr>
        <p:spPr>
          <a:xfrm>
            <a:off x="4517136" y="2779776"/>
            <a:ext cx="314553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Feel the product</a:t>
            </a:r>
          </a:p>
        </p:txBody>
      </p:sp>
      <p:sp>
        <p:nvSpPr>
          <p:cNvPr id="18" name="TextBox 17">
            <a:hlinkClick action="ppaction://hlinksldjump" r:id="rId5"/>
          </p:cNvPr>
          <p:cNvSpPr txBox="1"/>
          <p:nvPr/>
        </p:nvSpPr>
        <p:spPr>
          <a:xfrm>
            <a:off x="4517136" y="3337560"/>
            <a:ext cx="3145536" cy="667512"/>
          </a:xfrm>
          <a:prstGeom prst="rect">
            <a:avLst/>
          </a:prstGeom>
          <a:noFill/>
        </p:spPr>
        <p:txBody>
          <a:bodyPr wrap="square" lIns="0" rIns="0" tIns="0" bIns="0">
            <a:spAutoFit/>
          </a:bodyPr>
          <a:lstStyle/>
          <a:p>
            <a:pPr>
              <a:spcAft>
                <a:spcPts val="800"/>
              </a:spcAft>
              <a:defRPr sz="1500" b="0">
                <a:solidFill>
                  <a:srgbClr val="626752"/>
                </a:solidFill>
                <a:latin typeface="Segoe UI"/>
              </a:defRPr>
            </a:pPr>
            <a:r>
              <a:t>Olive and white, thoughtful</a:t>
            </a:r>
          </a:p>
          <a:p>
            <a:pPr>
              <a:spcAft>
                <a:spcPts val="800"/>
              </a:spcAft>
              <a:defRPr sz="1500" b="0">
                <a:solidFill>
                  <a:srgbClr val="626752"/>
                </a:solidFill>
                <a:latin typeface="Segoe UI"/>
              </a:defRPr>
            </a:pPr>
            <a:r>
              <a:t>details, real interaction.</a:t>
            </a:r>
          </a:p>
        </p:txBody>
      </p:sp>
      <p:sp>
        <p:nvSpPr>
          <p:cNvPr id="19" name="Rounded Rectangle 18">
            <a:hlinkClick action="ppaction://hlinksldjump" r:id="rId6"/>
          </p:cNvPr>
          <p:cNvSpPr/>
          <p:nvPr/>
        </p:nvSpPr>
        <p:spPr>
          <a:xfrm>
            <a:off x="8083296" y="2194560"/>
            <a:ext cx="3547872" cy="190195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4464" y="2359152"/>
            <a:ext cx="314553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03 / WORKFLOWS</a:t>
            </a:r>
          </a:p>
        </p:txBody>
      </p:sp>
      <p:sp>
        <p:nvSpPr>
          <p:cNvPr id="21" name="TextBox 20">
            <a:hlinkClick action="ppaction://hlinksldjump" r:id="rId6"/>
          </p:cNvPr>
          <p:cNvSpPr txBox="1"/>
          <p:nvPr/>
        </p:nvSpPr>
        <p:spPr>
          <a:xfrm>
            <a:off x="8284464" y="2779776"/>
            <a:ext cx="314553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Follow the journey</a:t>
            </a:r>
          </a:p>
        </p:txBody>
      </p:sp>
      <p:sp>
        <p:nvSpPr>
          <p:cNvPr id="22" name="TextBox 21">
            <a:hlinkClick action="ppaction://hlinksldjump" r:id="rId6"/>
          </p:cNvPr>
          <p:cNvSpPr txBox="1"/>
          <p:nvPr/>
        </p:nvSpPr>
        <p:spPr>
          <a:xfrm>
            <a:off x="8284464" y="3337560"/>
            <a:ext cx="3145536" cy="667512"/>
          </a:xfrm>
          <a:prstGeom prst="rect">
            <a:avLst/>
          </a:prstGeom>
          <a:noFill/>
        </p:spPr>
        <p:txBody>
          <a:bodyPr wrap="square" lIns="0" rIns="0" tIns="0" bIns="0">
            <a:spAutoFit/>
          </a:bodyPr>
          <a:lstStyle/>
          <a:p>
            <a:pPr>
              <a:spcAft>
                <a:spcPts val="800"/>
              </a:spcAft>
              <a:defRPr sz="1500" b="0">
                <a:solidFill>
                  <a:srgbClr val="626752"/>
                </a:solidFill>
                <a:latin typeface="Segoe UI"/>
              </a:defRPr>
            </a:pPr>
            <a:r>
              <a:t>From a first application</a:t>
            </a:r>
          </a:p>
          <a:p>
            <a:pPr>
              <a:spcAft>
                <a:spcPts val="800"/>
              </a:spcAft>
              <a:defRPr sz="1500" b="0">
                <a:solidFill>
                  <a:srgbClr val="626752"/>
                </a:solidFill>
                <a:latin typeface="Segoe UI"/>
              </a:defRPr>
            </a:pPr>
            <a:r>
              <a:t>to everyday growth.</a:t>
            </a:r>
          </a:p>
        </p:txBody>
      </p:sp>
      <p:sp>
        <p:nvSpPr>
          <p:cNvPr id="23" name="Rounded Rectangle 22">
            <a:hlinkClick action="ppaction://hlinksldjump" r:id="rId7"/>
          </p:cNvPr>
          <p:cNvSpPr/>
          <p:nvPr/>
        </p:nvSpPr>
        <p:spPr>
          <a:xfrm>
            <a:off x="548640" y="4187952"/>
            <a:ext cx="3547872" cy="190195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352544"/>
            <a:ext cx="314553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04 / ENGINEERING</a:t>
            </a:r>
          </a:p>
        </p:txBody>
      </p:sp>
      <p:sp>
        <p:nvSpPr>
          <p:cNvPr id="25" name="TextBox 24">
            <a:hlinkClick action="ppaction://hlinksldjump" r:id="rId7"/>
          </p:cNvPr>
          <p:cNvSpPr txBox="1"/>
          <p:nvPr/>
        </p:nvSpPr>
        <p:spPr>
          <a:xfrm>
            <a:off x="749808" y="4773168"/>
            <a:ext cx="314553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Under the surface</a:t>
            </a:r>
          </a:p>
        </p:txBody>
      </p:sp>
      <p:sp>
        <p:nvSpPr>
          <p:cNvPr id="26" name="TextBox 25">
            <a:hlinkClick action="ppaction://hlinksldjump" r:id="rId7"/>
          </p:cNvPr>
          <p:cNvSpPr txBox="1"/>
          <p:nvPr/>
        </p:nvSpPr>
        <p:spPr>
          <a:xfrm>
            <a:off x="749808" y="5330952"/>
            <a:ext cx="3145536" cy="667512"/>
          </a:xfrm>
          <a:prstGeom prst="rect">
            <a:avLst/>
          </a:prstGeom>
          <a:noFill/>
        </p:spPr>
        <p:txBody>
          <a:bodyPr wrap="square" lIns="0" rIns="0" tIns="0" bIns="0">
            <a:spAutoFit/>
          </a:bodyPr>
          <a:lstStyle/>
          <a:p>
            <a:pPr>
              <a:spcAft>
                <a:spcPts val="800"/>
              </a:spcAft>
              <a:defRPr sz="1500" b="0">
                <a:solidFill>
                  <a:srgbClr val="626752"/>
                </a:solidFill>
                <a:latin typeface="Segoe UI"/>
              </a:defRPr>
            </a:pPr>
            <a:r>
              <a:t>Architecture, permissions</a:t>
            </a:r>
          </a:p>
          <a:p>
            <a:pPr>
              <a:spcAft>
                <a:spcPts val="800"/>
              </a:spcAft>
              <a:defRPr sz="1500" b="0">
                <a:solidFill>
                  <a:srgbClr val="626752"/>
                </a:solidFill>
                <a:latin typeface="Segoe UI"/>
              </a:defRPr>
            </a:pPr>
            <a:r>
              <a:t>and sensitive information.</a:t>
            </a:r>
          </a:p>
        </p:txBody>
      </p:sp>
      <p:sp>
        <p:nvSpPr>
          <p:cNvPr id="27" name="Rounded Rectangle 26">
            <a:hlinkClick action="ppaction://hlinksldjump" r:id="rId8"/>
          </p:cNvPr>
          <p:cNvSpPr/>
          <p:nvPr/>
        </p:nvSpPr>
        <p:spPr>
          <a:xfrm>
            <a:off x="4315968" y="4187952"/>
            <a:ext cx="3547872" cy="190195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17136" y="4352544"/>
            <a:ext cx="314553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05 / EVIDENCE</a:t>
            </a:r>
          </a:p>
        </p:txBody>
      </p:sp>
      <p:sp>
        <p:nvSpPr>
          <p:cNvPr id="29" name="TextBox 28">
            <a:hlinkClick action="ppaction://hlinksldjump" r:id="rId8"/>
          </p:cNvPr>
          <p:cNvSpPr txBox="1"/>
          <p:nvPr/>
        </p:nvSpPr>
        <p:spPr>
          <a:xfrm>
            <a:off x="4517136" y="4773168"/>
            <a:ext cx="314553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See the checks</a:t>
            </a:r>
          </a:p>
        </p:txBody>
      </p:sp>
      <p:sp>
        <p:nvSpPr>
          <p:cNvPr id="30" name="TextBox 29">
            <a:hlinkClick action="ppaction://hlinksldjump" r:id="rId8"/>
          </p:cNvPr>
          <p:cNvSpPr txBox="1"/>
          <p:nvPr/>
        </p:nvSpPr>
        <p:spPr>
          <a:xfrm>
            <a:off x="4517136" y="5330952"/>
            <a:ext cx="3145536" cy="667512"/>
          </a:xfrm>
          <a:prstGeom prst="rect">
            <a:avLst/>
          </a:prstGeom>
          <a:noFill/>
        </p:spPr>
        <p:txBody>
          <a:bodyPr wrap="square" lIns="0" rIns="0" tIns="0" bIns="0">
            <a:spAutoFit/>
          </a:bodyPr>
          <a:lstStyle/>
          <a:p>
            <a:pPr>
              <a:spcAft>
                <a:spcPts val="800"/>
              </a:spcAft>
              <a:defRPr sz="1500" b="0">
                <a:solidFill>
                  <a:srgbClr val="626752"/>
                </a:solidFill>
                <a:latin typeface="Segoe UI"/>
              </a:defRPr>
            </a:pPr>
            <a:r>
              <a:t>What was verified, and</a:t>
            </a:r>
          </a:p>
          <a:p>
            <a:pPr>
              <a:spcAft>
                <a:spcPts val="800"/>
              </a:spcAft>
              <a:defRPr sz="1500" b="0">
                <a:solidFill>
                  <a:srgbClr val="626752"/>
                </a:solidFill>
                <a:latin typeface="Segoe UI"/>
              </a:defRPr>
            </a:pPr>
            <a:r>
              <a:t>what still needs validation.</a:t>
            </a:r>
          </a:p>
        </p:txBody>
      </p:sp>
      <p:sp>
        <p:nvSpPr>
          <p:cNvPr id="31" name="Rounded Rectangle 30">
            <a:hlinkClick action="ppaction://hlinksldjump" r:id="rId9"/>
          </p:cNvPr>
          <p:cNvSpPr/>
          <p:nvPr/>
        </p:nvSpPr>
        <p:spPr>
          <a:xfrm>
            <a:off x="8083296" y="4187952"/>
            <a:ext cx="3547872" cy="190195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4464" y="4352544"/>
            <a:ext cx="314553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06 / YOUR TURN</a:t>
            </a:r>
          </a:p>
        </p:txBody>
      </p:sp>
      <p:sp>
        <p:nvSpPr>
          <p:cNvPr id="33" name="TextBox 32">
            <a:hlinkClick action="ppaction://hlinksldjump" r:id="rId9"/>
          </p:cNvPr>
          <p:cNvSpPr txBox="1"/>
          <p:nvPr/>
        </p:nvSpPr>
        <p:spPr>
          <a:xfrm>
            <a:off x="8284464" y="4773168"/>
            <a:ext cx="314553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Pick a mini-demo</a:t>
            </a:r>
          </a:p>
        </p:txBody>
      </p:sp>
      <p:sp>
        <p:nvSpPr>
          <p:cNvPr id="34" name="TextBox 33">
            <a:hlinkClick action="ppaction://hlinksldjump" r:id="rId9"/>
          </p:cNvPr>
          <p:cNvSpPr txBox="1"/>
          <p:nvPr/>
        </p:nvSpPr>
        <p:spPr>
          <a:xfrm>
            <a:off x="8284464" y="5330952"/>
            <a:ext cx="3145536" cy="667512"/>
          </a:xfrm>
          <a:prstGeom prst="rect">
            <a:avLst/>
          </a:prstGeom>
          <a:noFill/>
        </p:spPr>
        <p:txBody>
          <a:bodyPr wrap="square" lIns="0" rIns="0" tIns="0" bIns="0">
            <a:spAutoFit/>
          </a:bodyPr>
          <a:lstStyle/>
          <a:p>
            <a:pPr>
              <a:spcAft>
                <a:spcPts val="800"/>
              </a:spcAft>
              <a:defRPr sz="1500" b="0">
                <a:solidFill>
                  <a:srgbClr val="626752"/>
                </a:solidFill>
                <a:latin typeface="Segoe UI"/>
              </a:defRPr>
            </a:pPr>
            <a:r>
              <a:t>Explore a chart, recognize</a:t>
            </a:r>
          </a:p>
          <a:p>
            <a:pPr>
              <a:spcAft>
                <a:spcPts val="800"/>
              </a:spcAft>
              <a:defRPr sz="1500" b="0">
                <a:solidFill>
                  <a:srgbClr val="626752"/>
                </a:solidFill>
                <a:latin typeface="Segoe UI"/>
              </a:defRPr>
            </a:pPr>
            <a:r>
              <a:t>a colleague, switch themes.</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THE PURPOSE</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Less chasing. More clarity.</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A shared workspace for employees, managers and HR operations.</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2"/>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3"/>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03</a:t>
            </a:r>
          </a:p>
        </p:txBody>
      </p:sp>
      <p:sp>
        <p:nvSpPr>
          <p:cNvPr id="11" name="Rounded Rectangle 10"/>
          <p:cNvSpPr/>
          <p:nvPr/>
        </p:nvSpPr>
        <p:spPr>
          <a:xfrm>
            <a:off x="548640" y="2240280"/>
            <a:ext cx="3657600" cy="3474720"/>
          </a:xfrm>
          <a:prstGeom prst="roundRect">
            <a:avLst>
              <a:gd name="adj" fmla="val 13000"/>
            </a:avLst>
          </a:prstGeom>
          <a:solidFill>
            <a:srgbClr val="293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532888"/>
            <a:ext cx="3108960" cy="274320"/>
          </a:xfrm>
          <a:prstGeom prst="rect">
            <a:avLst/>
          </a:prstGeom>
          <a:noFill/>
        </p:spPr>
        <p:txBody>
          <a:bodyPr wrap="square" lIns="0" rIns="0" tIns="0" bIns="0">
            <a:spAutoFit/>
          </a:bodyPr>
          <a:lstStyle/>
          <a:p>
            <a:pPr>
              <a:spcAft>
                <a:spcPts val="800"/>
              </a:spcAft>
              <a:defRPr sz="1100" b="1">
                <a:solidFill>
                  <a:srgbClr val="CCD79E"/>
                </a:solidFill>
                <a:latin typeface="Segoe UI"/>
              </a:defRPr>
            </a:pPr>
            <a:r>
              <a:t>THE EVERYDAY FRICTION</a:t>
            </a:r>
          </a:p>
        </p:txBody>
      </p:sp>
      <p:sp>
        <p:nvSpPr>
          <p:cNvPr id="13" name="TextBox 12"/>
          <p:cNvSpPr txBox="1"/>
          <p:nvPr/>
        </p:nvSpPr>
        <p:spPr>
          <a:xfrm>
            <a:off x="822960" y="3127248"/>
            <a:ext cx="3063240" cy="1645920"/>
          </a:xfrm>
          <a:prstGeom prst="rect">
            <a:avLst/>
          </a:prstGeom>
          <a:noFill/>
        </p:spPr>
        <p:txBody>
          <a:bodyPr wrap="square" lIns="0" rIns="0" tIns="0" bIns="0">
            <a:spAutoFit/>
          </a:bodyPr>
          <a:lstStyle/>
          <a:p>
            <a:pPr>
              <a:spcAft>
                <a:spcPts val="800"/>
              </a:spcAft>
              <a:defRPr sz="2500" b="0">
                <a:solidFill>
                  <a:srgbClr val="FFFFFF"/>
                </a:solidFill>
                <a:latin typeface="Segoe UI"/>
              </a:defRPr>
            </a:pPr>
            <a:r>
              <a:t>Scattered records.</a:t>
            </a:r>
          </a:p>
          <a:p>
            <a:pPr>
              <a:spcAft>
                <a:spcPts val="800"/>
              </a:spcAft>
              <a:defRPr sz="2500" b="0">
                <a:solidFill>
                  <a:srgbClr val="FFFFFF"/>
                </a:solidFill>
                <a:latin typeface="Segoe UI"/>
              </a:defRPr>
            </a:pPr>
            <a:r>
              <a:t>Unclear ownership.</a:t>
            </a:r>
          </a:p>
          <a:p>
            <a:pPr>
              <a:spcAft>
                <a:spcPts val="800"/>
              </a:spcAft>
              <a:defRPr sz="2500" b="0">
                <a:solidFill>
                  <a:srgbClr val="FFFFFF"/>
                </a:solidFill>
                <a:latin typeface="Segoe UI"/>
              </a:defRPr>
            </a:pPr>
            <a:r>
              <a:t>Repeated follow-ups.</a:t>
            </a:r>
          </a:p>
        </p:txBody>
      </p:sp>
      <p:sp>
        <p:nvSpPr>
          <p:cNvPr id="14" name="TextBox 13"/>
          <p:cNvSpPr txBox="1"/>
          <p:nvPr/>
        </p:nvSpPr>
        <p:spPr>
          <a:xfrm>
            <a:off x="822960" y="5056632"/>
            <a:ext cx="3017520" cy="365760"/>
          </a:xfrm>
          <a:prstGeom prst="rect">
            <a:avLst/>
          </a:prstGeom>
          <a:noFill/>
        </p:spPr>
        <p:txBody>
          <a:bodyPr wrap="square" lIns="0" rIns="0" tIns="0" bIns="0">
            <a:spAutoFit/>
          </a:bodyPr>
          <a:lstStyle/>
          <a:p>
            <a:pPr>
              <a:spcAft>
                <a:spcPts val="800"/>
              </a:spcAft>
              <a:defRPr sz="1400" b="0">
                <a:solidFill>
                  <a:srgbClr val="CCD79E"/>
                </a:solidFill>
                <a:latin typeface="Segoe UI"/>
              </a:defRPr>
            </a:pPr>
            <a:r>
              <a:t>A familiar problem worth solving.</a:t>
            </a:r>
          </a:p>
        </p:txBody>
      </p:sp>
      <p:sp>
        <p:nvSpPr>
          <p:cNvPr id="15" name="Rounded Rectangle 14"/>
          <p:cNvSpPr/>
          <p:nvPr/>
        </p:nvSpPr>
        <p:spPr>
          <a:xfrm>
            <a:off x="4498848" y="2286000"/>
            <a:ext cx="7132320" cy="98755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2423160"/>
            <a:ext cx="6492240" cy="320040"/>
          </a:xfrm>
          <a:prstGeom prst="rect">
            <a:avLst/>
          </a:prstGeom>
          <a:noFill/>
        </p:spPr>
        <p:txBody>
          <a:bodyPr wrap="square" lIns="0" rIns="0" tIns="0" bIns="0">
            <a:spAutoFit/>
          </a:bodyPr>
          <a:lstStyle/>
          <a:p>
            <a:pPr>
              <a:spcAft>
                <a:spcPts val="800"/>
              </a:spcAft>
              <a:defRPr sz="2000" b="1">
                <a:solidFill>
                  <a:srgbClr val="5C6936"/>
                </a:solidFill>
                <a:latin typeface="Segoe UI"/>
              </a:defRPr>
            </a:pPr>
            <a:r>
              <a:t>One employee context</a:t>
            </a:r>
          </a:p>
        </p:txBody>
      </p:sp>
      <p:sp>
        <p:nvSpPr>
          <p:cNvPr id="17" name="TextBox 16"/>
          <p:cNvSpPr txBox="1"/>
          <p:nvPr/>
        </p:nvSpPr>
        <p:spPr>
          <a:xfrm>
            <a:off x="4754880" y="2834640"/>
            <a:ext cx="6492240" cy="320040"/>
          </a:xfrm>
          <a:prstGeom prst="rect">
            <a:avLst/>
          </a:prstGeom>
          <a:noFill/>
        </p:spPr>
        <p:txBody>
          <a:bodyPr wrap="square" lIns="0" rIns="0" tIns="0" bIns="0">
            <a:spAutoFit/>
          </a:bodyPr>
          <a:lstStyle/>
          <a:p>
            <a:pPr>
              <a:spcAft>
                <a:spcPts val="800"/>
              </a:spcAft>
              <a:defRPr sz="1500" b="0">
                <a:solidFill>
                  <a:srgbClr val="626752"/>
                </a:solidFill>
                <a:latin typeface="Segoe UI"/>
              </a:defRPr>
            </a:pPr>
            <a:r>
              <a:t>Profiles, documents and organization structure.</a:t>
            </a:r>
          </a:p>
        </p:txBody>
      </p:sp>
      <p:sp>
        <p:nvSpPr>
          <p:cNvPr id="18" name="Rounded Rectangle 17"/>
          <p:cNvSpPr/>
          <p:nvPr/>
        </p:nvSpPr>
        <p:spPr>
          <a:xfrm>
            <a:off x="4498848" y="3429000"/>
            <a:ext cx="7132320" cy="98755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3566160"/>
            <a:ext cx="6492240" cy="320040"/>
          </a:xfrm>
          <a:prstGeom prst="rect">
            <a:avLst/>
          </a:prstGeom>
          <a:noFill/>
        </p:spPr>
        <p:txBody>
          <a:bodyPr wrap="square" lIns="0" rIns="0" tIns="0" bIns="0">
            <a:spAutoFit/>
          </a:bodyPr>
          <a:lstStyle/>
          <a:p>
            <a:pPr>
              <a:spcAft>
                <a:spcPts val="800"/>
              </a:spcAft>
              <a:defRPr sz="2000" b="1">
                <a:solidFill>
                  <a:srgbClr val="5C6936"/>
                </a:solidFill>
                <a:latin typeface="Segoe UI"/>
              </a:defRPr>
            </a:pPr>
            <a:r>
              <a:t>A visible next step</a:t>
            </a:r>
          </a:p>
        </p:txBody>
      </p:sp>
      <p:sp>
        <p:nvSpPr>
          <p:cNvPr id="20" name="TextBox 19"/>
          <p:cNvSpPr txBox="1"/>
          <p:nvPr/>
        </p:nvSpPr>
        <p:spPr>
          <a:xfrm>
            <a:off x="4754880" y="3977639"/>
            <a:ext cx="6492240" cy="320040"/>
          </a:xfrm>
          <a:prstGeom prst="rect">
            <a:avLst/>
          </a:prstGeom>
          <a:noFill/>
        </p:spPr>
        <p:txBody>
          <a:bodyPr wrap="square" lIns="0" rIns="0" tIns="0" bIns="0">
            <a:spAutoFit/>
          </a:bodyPr>
          <a:lstStyle/>
          <a:p>
            <a:pPr>
              <a:spcAft>
                <a:spcPts val="800"/>
              </a:spcAft>
              <a:defRPr sz="1500" b="0">
                <a:solidFill>
                  <a:srgbClr val="626752"/>
                </a:solidFill>
                <a:latin typeface="Segoe UI"/>
              </a:defRPr>
            </a:pPr>
            <a:r>
              <a:t>Requests, approvals and personal tasks.</a:t>
            </a:r>
          </a:p>
        </p:txBody>
      </p:sp>
      <p:sp>
        <p:nvSpPr>
          <p:cNvPr id="21" name="Rounded Rectangle 20"/>
          <p:cNvSpPr/>
          <p:nvPr/>
        </p:nvSpPr>
        <p:spPr>
          <a:xfrm>
            <a:off x="4498848" y="4572000"/>
            <a:ext cx="7132320" cy="98755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4709160"/>
            <a:ext cx="6492240" cy="320040"/>
          </a:xfrm>
          <a:prstGeom prst="rect">
            <a:avLst/>
          </a:prstGeom>
          <a:noFill/>
        </p:spPr>
        <p:txBody>
          <a:bodyPr wrap="square" lIns="0" rIns="0" tIns="0" bIns="0">
            <a:spAutoFit/>
          </a:bodyPr>
          <a:lstStyle/>
          <a:p>
            <a:pPr>
              <a:spcAft>
                <a:spcPts val="800"/>
              </a:spcAft>
              <a:defRPr sz="2000" b="1">
                <a:solidFill>
                  <a:srgbClr val="5C6936"/>
                </a:solidFill>
                <a:latin typeface="Segoe UI"/>
              </a:defRPr>
            </a:pPr>
            <a:r>
              <a:t>A more human routine</a:t>
            </a:r>
          </a:p>
        </p:txBody>
      </p:sp>
      <p:sp>
        <p:nvSpPr>
          <p:cNvPr id="23" name="TextBox 22"/>
          <p:cNvSpPr txBox="1"/>
          <p:nvPr/>
        </p:nvSpPr>
        <p:spPr>
          <a:xfrm>
            <a:off x="4754880" y="5120640"/>
            <a:ext cx="6492240" cy="320040"/>
          </a:xfrm>
          <a:prstGeom prst="rect">
            <a:avLst/>
          </a:prstGeom>
          <a:noFill/>
        </p:spPr>
        <p:txBody>
          <a:bodyPr wrap="square" lIns="0" rIns="0" tIns="0" bIns="0">
            <a:spAutoFit/>
          </a:bodyPr>
          <a:lstStyle/>
          <a:p>
            <a:pPr>
              <a:spcAft>
                <a:spcPts val="800"/>
              </a:spcAft>
              <a:defRPr sz="1500" b="0">
                <a:solidFill>
                  <a:srgbClr val="626752"/>
                </a:solidFill>
                <a:latin typeface="Segoe UI"/>
              </a:defRPr>
            </a:pPr>
            <a:r>
              <a:t>Self-service, recognition and readable insights.</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THE EXPERIENCE</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Calm on the surface. Useful in the details.</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A real dashboard from the project’s demonstration environment.</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04</a:t>
            </a:r>
          </a:p>
        </p:txBody>
      </p:sp>
      <p:sp>
        <p:nvSpPr>
          <p:cNvPr id="11" name="Rounded Rectangle 10"/>
          <p:cNvSpPr/>
          <p:nvPr/>
        </p:nvSpPr>
        <p:spPr>
          <a:xfrm>
            <a:off x="548640" y="2103120"/>
            <a:ext cx="7406640" cy="3977639"/>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i-dashboard-light.png"/>
          <p:cNvPicPr>
            <a:picLocks noChangeAspect="1"/>
          </p:cNvPicPr>
          <p:nvPr/>
        </p:nvPicPr>
        <p:blipFill>
          <a:blip r:embed="rId5"/>
          <a:stretch>
            <a:fillRect/>
          </a:stretch>
        </p:blipFill>
        <p:spPr>
          <a:xfrm>
            <a:off x="1604249" y="2148840"/>
            <a:ext cx="5304565" cy="3867912"/>
          </a:xfrm>
          <a:prstGeom prst="rect">
            <a:avLst/>
          </a:prstGeom>
        </p:spPr>
      </p:pic>
      <p:sp>
        <p:nvSpPr>
          <p:cNvPr id="13" name="TextBox 12"/>
          <p:cNvSpPr txBox="1"/>
          <p:nvPr/>
        </p:nvSpPr>
        <p:spPr>
          <a:xfrm>
            <a:off x="8247888" y="2286000"/>
            <a:ext cx="3246120" cy="594360"/>
          </a:xfrm>
          <a:prstGeom prst="rect">
            <a:avLst/>
          </a:prstGeom>
          <a:noFill/>
        </p:spPr>
        <p:txBody>
          <a:bodyPr wrap="square" lIns="0" rIns="0" tIns="0" bIns="0">
            <a:spAutoFit/>
          </a:bodyPr>
          <a:lstStyle/>
          <a:p>
            <a:pPr>
              <a:spcAft>
                <a:spcPts val="800"/>
              </a:spcAft>
              <a:defRPr sz="2500" b="1">
                <a:solidFill>
                  <a:srgbClr val="5C6936"/>
                </a:solidFill>
                <a:latin typeface="Segoe UI"/>
              </a:defRPr>
            </a:pPr>
            <a:r>
              <a:t>White + olive</a:t>
            </a:r>
          </a:p>
        </p:txBody>
      </p:sp>
      <p:sp>
        <p:nvSpPr>
          <p:cNvPr id="14" name="TextBox 13"/>
          <p:cNvSpPr txBox="1"/>
          <p:nvPr/>
        </p:nvSpPr>
        <p:spPr>
          <a:xfrm>
            <a:off x="8247888" y="2962656"/>
            <a:ext cx="3246120" cy="2011680"/>
          </a:xfrm>
          <a:prstGeom prst="rect">
            <a:avLst/>
          </a:prstGeom>
          <a:noFill/>
        </p:spPr>
        <p:txBody>
          <a:bodyPr wrap="square" lIns="0" rIns="0" tIns="0" bIns="0">
            <a:spAutoFit/>
          </a:bodyPr>
          <a:lstStyle/>
          <a:p>
            <a:pPr>
              <a:spcAft>
                <a:spcPts val="800"/>
              </a:spcAft>
              <a:defRPr sz="1700" b="0">
                <a:solidFill>
                  <a:srgbClr val="2D3424"/>
                </a:solidFill>
                <a:latin typeface="Segoe UI"/>
              </a:defRPr>
            </a:pPr>
            <a:r>
              <a:t>A warm daily greeting</a:t>
            </a:r>
          </a:p>
          <a:p>
            <a:pPr>
              <a:spcAft>
                <a:spcPts val="800"/>
              </a:spcAft>
              <a:defRPr sz="1700" b="0">
                <a:solidFill>
                  <a:srgbClr val="2D3424"/>
                </a:solidFill>
                <a:latin typeface="Segoe UI"/>
              </a:defRPr>
            </a:pPr>
            <a:r>
              <a:t>Readable cards and actions</a:t>
            </a:r>
          </a:p>
          <a:p>
            <a:pPr>
              <a:spcAft>
                <a:spcPts val="800"/>
              </a:spcAft>
              <a:defRPr sz="1700" b="0">
                <a:solidFill>
                  <a:srgbClr val="2D3424"/>
                </a:solidFill>
                <a:latin typeface="Segoe UI"/>
              </a:defRPr>
            </a:pPr>
            <a:r>
              <a:t>Charts with a data view</a:t>
            </a:r>
          </a:p>
          <a:p>
            <a:pPr>
              <a:spcAft>
                <a:spcPts val="800"/>
              </a:spcAft>
              <a:defRPr sz="1700" b="0">
                <a:solidFill>
                  <a:srgbClr val="2D3424"/>
                </a:solidFill>
                <a:latin typeface="Segoe UI"/>
              </a:defRPr>
            </a:pPr>
            <a:r>
              <a:t>Keyboard page search</a:t>
            </a:r>
          </a:p>
          <a:p>
            <a:pPr>
              <a:spcAft>
                <a:spcPts val="800"/>
              </a:spcAft>
              <a:defRPr sz="1700" b="0">
                <a:solidFill>
                  <a:srgbClr val="2D3424"/>
                </a:solidFill>
                <a:latin typeface="Segoe UI"/>
              </a:defRPr>
            </a:pPr>
            <a:r>
              <a:t>Responsive navigation</a:t>
            </a:r>
          </a:p>
        </p:txBody>
      </p:sp>
      <p:sp>
        <p:nvSpPr>
          <p:cNvPr id="15" name="Rounded Rectangle 14"/>
          <p:cNvSpPr/>
          <p:nvPr/>
        </p:nvSpPr>
        <p:spPr>
          <a:xfrm>
            <a:off x="8247888" y="5038344"/>
            <a:ext cx="393192" cy="292608"/>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796528" y="5038344"/>
            <a:ext cx="393192" cy="292608"/>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45167" y="5038344"/>
            <a:ext cx="393192" cy="292608"/>
          </a:xfrm>
          <a:prstGeom prst="roundRect">
            <a:avLst>
              <a:gd name="adj" fmla="val 13000"/>
            </a:avLst>
          </a:prstGeom>
          <a:solidFill>
            <a:srgbClr val="5C6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893808" y="5038344"/>
            <a:ext cx="393192" cy="292608"/>
          </a:xfrm>
          <a:prstGeom prst="roundRect">
            <a:avLst>
              <a:gd name="adj" fmla="val 13000"/>
            </a:avLst>
          </a:prstGeom>
          <a:solidFill>
            <a:srgbClr val="293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a:hlinkClick action="ppaction://hlinksldjump" r:id="rId6"/>
          </p:cNvPr>
          <p:cNvSpPr/>
          <p:nvPr/>
        </p:nvSpPr>
        <p:spPr>
          <a:xfrm>
            <a:off x="8247888" y="5541264"/>
            <a:ext cx="3182112" cy="402336"/>
          </a:xfrm>
          <a:prstGeom prst="roundRect">
            <a:avLst>
              <a:gd name="adj" fmla="val 13000"/>
            </a:avLst>
          </a:prstGeom>
          <a:solidFill>
            <a:srgbClr val="5C6936"/>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Switch to the dark-side view  →</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THE EMPLOYEE JOURNEY</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From “you’re hired” to “thank you”.</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Connected modules cover the employee lifecycle and the work around it.</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05</a:t>
            </a:r>
          </a:p>
        </p:txBody>
      </p:sp>
      <p:sp>
        <p:nvSpPr>
          <p:cNvPr id="11" name="Rounded Rectangle 10"/>
          <p:cNvSpPr/>
          <p:nvPr/>
        </p:nvSpPr>
        <p:spPr>
          <a:xfrm>
            <a:off x="548640" y="2194560"/>
            <a:ext cx="3557016" cy="1856231"/>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359152"/>
            <a:ext cx="3154680"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01</a:t>
            </a:r>
          </a:p>
        </p:txBody>
      </p:sp>
      <p:sp>
        <p:nvSpPr>
          <p:cNvPr id="13" name="TextBox 12"/>
          <p:cNvSpPr txBox="1"/>
          <p:nvPr/>
        </p:nvSpPr>
        <p:spPr>
          <a:xfrm>
            <a:off x="749808" y="2779776"/>
            <a:ext cx="3154680"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Attract &amp; welcome</a:t>
            </a:r>
          </a:p>
        </p:txBody>
      </p:sp>
      <p:sp>
        <p:nvSpPr>
          <p:cNvPr id="14" name="TextBox 13"/>
          <p:cNvSpPr txBox="1"/>
          <p:nvPr/>
        </p:nvSpPr>
        <p:spPr>
          <a:xfrm>
            <a:off x="749808" y="3337560"/>
            <a:ext cx="3154680" cy="621791"/>
          </a:xfrm>
          <a:prstGeom prst="rect">
            <a:avLst/>
          </a:prstGeom>
          <a:noFill/>
        </p:spPr>
        <p:txBody>
          <a:bodyPr wrap="square" lIns="0" rIns="0" tIns="0" bIns="0">
            <a:spAutoFit/>
          </a:bodyPr>
          <a:lstStyle/>
          <a:p>
            <a:pPr>
              <a:spcAft>
                <a:spcPts val="800"/>
              </a:spcAft>
              <a:defRPr sz="1500" b="0">
                <a:solidFill>
                  <a:srgbClr val="626752"/>
                </a:solidFill>
                <a:latin typeface="Segoe UI"/>
              </a:defRPr>
            </a:pPr>
            <a:r>
              <a:t>Careers · candidates · interviews</a:t>
            </a:r>
          </a:p>
          <a:p>
            <a:pPr>
              <a:spcAft>
                <a:spcPts val="800"/>
              </a:spcAft>
              <a:defRPr sz="1500" b="0">
                <a:solidFill>
                  <a:srgbClr val="626752"/>
                </a:solidFill>
                <a:latin typeface="Segoe UI"/>
              </a:defRPr>
            </a:pPr>
            <a:r>
              <a:t>Offers · onboarding plans</a:t>
            </a:r>
          </a:p>
        </p:txBody>
      </p:sp>
      <p:sp>
        <p:nvSpPr>
          <p:cNvPr id="15" name="Rounded Rectangle 14"/>
          <p:cNvSpPr/>
          <p:nvPr/>
        </p:nvSpPr>
        <p:spPr>
          <a:xfrm>
            <a:off x="4325112" y="2194560"/>
            <a:ext cx="3557016" cy="1856231"/>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79" y="2359152"/>
            <a:ext cx="3154680"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02</a:t>
            </a:r>
          </a:p>
        </p:txBody>
      </p:sp>
      <p:sp>
        <p:nvSpPr>
          <p:cNvPr id="17" name="TextBox 16"/>
          <p:cNvSpPr txBox="1"/>
          <p:nvPr/>
        </p:nvSpPr>
        <p:spPr>
          <a:xfrm>
            <a:off x="4526279" y="2779776"/>
            <a:ext cx="3154680"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Know your people</a:t>
            </a:r>
          </a:p>
        </p:txBody>
      </p:sp>
      <p:sp>
        <p:nvSpPr>
          <p:cNvPr id="18" name="TextBox 17"/>
          <p:cNvSpPr txBox="1"/>
          <p:nvPr/>
        </p:nvSpPr>
        <p:spPr>
          <a:xfrm>
            <a:off x="4526279" y="3337560"/>
            <a:ext cx="3154680" cy="621791"/>
          </a:xfrm>
          <a:prstGeom prst="rect">
            <a:avLst/>
          </a:prstGeom>
          <a:noFill/>
        </p:spPr>
        <p:txBody>
          <a:bodyPr wrap="square" lIns="0" rIns="0" tIns="0" bIns="0">
            <a:spAutoFit/>
          </a:bodyPr>
          <a:lstStyle/>
          <a:p>
            <a:pPr>
              <a:spcAft>
                <a:spcPts val="800"/>
              </a:spcAft>
              <a:defRPr sz="1500" b="0">
                <a:solidFill>
                  <a:srgbClr val="626752"/>
                </a:solidFill>
                <a:latin typeface="Segoe UI"/>
              </a:defRPr>
            </a:pPr>
            <a:r>
              <a:t>Profiles · org chart · documents</a:t>
            </a:r>
          </a:p>
          <a:p>
            <a:pPr>
              <a:spcAft>
                <a:spcPts val="800"/>
              </a:spcAft>
              <a:defRPr sz="1500" b="0">
                <a:solidFill>
                  <a:srgbClr val="626752"/>
                </a:solidFill>
                <a:latin typeface="Segoe UI"/>
              </a:defRPr>
            </a:pPr>
            <a:r>
              <a:t>Organization masters · assets</a:t>
            </a:r>
          </a:p>
        </p:txBody>
      </p:sp>
      <p:sp>
        <p:nvSpPr>
          <p:cNvPr id="19" name="Rounded Rectangle 18"/>
          <p:cNvSpPr/>
          <p:nvPr/>
        </p:nvSpPr>
        <p:spPr>
          <a:xfrm>
            <a:off x="8101583" y="2194560"/>
            <a:ext cx="3557016" cy="1856231"/>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2359152"/>
            <a:ext cx="3154680"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03</a:t>
            </a:r>
          </a:p>
        </p:txBody>
      </p:sp>
      <p:sp>
        <p:nvSpPr>
          <p:cNvPr id="21" name="TextBox 20"/>
          <p:cNvSpPr txBox="1"/>
          <p:nvPr/>
        </p:nvSpPr>
        <p:spPr>
          <a:xfrm>
            <a:off x="8302752" y="2779776"/>
            <a:ext cx="3154680"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Manage the day</a:t>
            </a:r>
          </a:p>
        </p:txBody>
      </p:sp>
      <p:sp>
        <p:nvSpPr>
          <p:cNvPr id="22" name="TextBox 21"/>
          <p:cNvSpPr txBox="1"/>
          <p:nvPr/>
        </p:nvSpPr>
        <p:spPr>
          <a:xfrm>
            <a:off x="8302752" y="3337560"/>
            <a:ext cx="3154680" cy="621791"/>
          </a:xfrm>
          <a:prstGeom prst="rect">
            <a:avLst/>
          </a:prstGeom>
          <a:noFill/>
        </p:spPr>
        <p:txBody>
          <a:bodyPr wrap="square" lIns="0" rIns="0" tIns="0" bIns="0">
            <a:spAutoFit/>
          </a:bodyPr>
          <a:lstStyle/>
          <a:p>
            <a:pPr>
              <a:spcAft>
                <a:spcPts val="800"/>
              </a:spcAft>
              <a:defRPr sz="1500" b="0">
                <a:solidFill>
                  <a:srgbClr val="626752"/>
                </a:solidFill>
                <a:latin typeface="Segoe UI"/>
              </a:defRPr>
            </a:pPr>
            <a:r>
              <a:t>Attendance · regularization</a:t>
            </a:r>
          </a:p>
          <a:p>
            <a:pPr>
              <a:spcAft>
                <a:spcPts val="800"/>
              </a:spcAft>
              <a:defRPr sz="1500" b="0">
                <a:solidFill>
                  <a:srgbClr val="626752"/>
                </a:solidFill>
                <a:latin typeface="Segoe UI"/>
              </a:defRPr>
            </a:pPr>
            <a:r>
              <a:t>Leave balances · approvals</a:t>
            </a:r>
          </a:p>
        </p:txBody>
      </p:sp>
      <p:sp>
        <p:nvSpPr>
          <p:cNvPr id="23" name="Rounded Rectangle 22"/>
          <p:cNvSpPr/>
          <p:nvPr/>
        </p:nvSpPr>
        <p:spPr>
          <a:xfrm>
            <a:off x="548640" y="4169664"/>
            <a:ext cx="3557016" cy="1856231"/>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334256"/>
            <a:ext cx="3154680"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04</a:t>
            </a:r>
          </a:p>
        </p:txBody>
      </p:sp>
      <p:sp>
        <p:nvSpPr>
          <p:cNvPr id="25" name="TextBox 24"/>
          <p:cNvSpPr txBox="1"/>
          <p:nvPr/>
        </p:nvSpPr>
        <p:spPr>
          <a:xfrm>
            <a:off x="749808" y="4754880"/>
            <a:ext cx="3154680"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Pay with structure</a:t>
            </a:r>
          </a:p>
        </p:txBody>
      </p:sp>
      <p:sp>
        <p:nvSpPr>
          <p:cNvPr id="26" name="TextBox 25"/>
          <p:cNvSpPr txBox="1"/>
          <p:nvPr/>
        </p:nvSpPr>
        <p:spPr>
          <a:xfrm>
            <a:off x="749808" y="5312664"/>
            <a:ext cx="3154680" cy="621791"/>
          </a:xfrm>
          <a:prstGeom prst="rect">
            <a:avLst/>
          </a:prstGeom>
          <a:noFill/>
        </p:spPr>
        <p:txBody>
          <a:bodyPr wrap="square" lIns="0" rIns="0" tIns="0" bIns="0">
            <a:spAutoFit/>
          </a:bodyPr>
          <a:lstStyle/>
          <a:p>
            <a:pPr>
              <a:spcAft>
                <a:spcPts val="800"/>
              </a:spcAft>
              <a:defRPr sz="1500" b="0">
                <a:solidFill>
                  <a:srgbClr val="626752"/>
                </a:solidFill>
                <a:latin typeface="Segoe UI"/>
              </a:defRPr>
            </a:pPr>
            <a:r>
              <a:t>Salary components · payroll runs</a:t>
            </a:r>
          </a:p>
          <a:p>
            <a:pPr>
              <a:spcAft>
                <a:spcPts val="800"/>
              </a:spcAft>
              <a:defRPr sz="1500" b="0">
                <a:solidFill>
                  <a:srgbClr val="626752"/>
                </a:solidFill>
                <a:latin typeface="Segoe UI"/>
              </a:defRPr>
            </a:pPr>
            <a:r>
              <a:t>Adjustments · payslips · exports</a:t>
            </a:r>
          </a:p>
        </p:txBody>
      </p:sp>
      <p:sp>
        <p:nvSpPr>
          <p:cNvPr id="27" name="Rounded Rectangle 26"/>
          <p:cNvSpPr/>
          <p:nvPr/>
        </p:nvSpPr>
        <p:spPr>
          <a:xfrm>
            <a:off x="4325112" y="4169664"/>
            <a:ext cx="3557016" cy="1856231"/>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79" y="4334256"/>
            <a:ext cx="3154680"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05</a:t>
            </a:r>
          </a:p>
        </p:txBody>
      </p:sp>
      <p:sp>
        <p:nvSpPr>
          <p:cNvPr id="29" name="TextBox 28"/>
          <p:cNvSpPr txBox="1"/>
          <p:nvPr/>
        </p:nvSpPr>
        <p:spPr>
          <a:xfrm>
            <a:off x="4526279" y="4754880"/>
            <a:ext cx="3154680"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Grow &amp; recognize</a:t>
            </a:r>
          </a:p>
        </p:txBody>
      </p:sp>
      <p:sp>
        <p:nvSpPr>
          <p:cNvPr id="30" name="TextBox 29"/>
          <p:cNvSpPr txBox="1"/>
          <p:nvPr/>
        </p:nvSpPr>
        <p:spPr>
          <a:xfrm>
            <a:off x="4526279" y="5312664"/>
            <a:ext cx="3154680" cy="621791"/>
          </a:xfrm>
          <a:prstGeom prst="rect">
            <a:avLst/>
          </a:prstGeom>
          <a:noFill/>
        </p:spPr>
        <p:txBody>
          <a:bodyPr wrap="square" lIns="0" rIns="0" tIns="0" bIns="0">
            <a:spAutoFit/>
          </a:bodyPr>
          <a:lstStyle/>
          <a:p>
            <a:pPr>
              <a:spcAft>
                <a:spcPts val="800"/>
              </a:spcAft>
              <a:defRPr sz="1500" b="0">
                <a:solidFill>
                  <a:srgbClr val="626752"/>
                </a:solidFill>
                <a:latin typeface="Segoe UI"/>
              </a:defRPr>
            </a:pPr>
            <a:r>
              <a:t>Review cycles · goals · progress</a:t>
            </a:r>
          </a:p>
          <a:p>
            <a:pPr>
              <a:spcAft>
                <a:spcPts val="800"/>
              </a:spcAft>
              <a:defRPr sz="1500" b="0">
                <a:solidFill>
                  <a:srgbClr val="626752"/>
                </a:solidFill>
                <a:latin typeface="Segoe UI"/>
              </a:defRPr>
            </a:pPr>
            <a:r>
              <a:t>Self / manager reviews · praise</a:t>
            </a:r>
          </a:p>
        </p:txBody>
      </p:sp>
      <p:sp>
        <p:nvSpPr>
          <p:cNvPr id="31" name="Rounded Rectangle 30"/>
          <p:cNvSpPr/>
          <p:nvPr/>
        </p:nvSpPr>
        <p:spPr>
          <a:xfrm>
            <a:off x="8101583" y="4169664"/>
            <a:ext cx="3557016" cy="1856231"/>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02752" y="4334256"/>
            <a:ext cx="3154680"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06</a:t>
            </a:r>
          </a:p>
        </p:txBody>
      </p:sp>
      <p:sp>
        <p:nvSpPr>
          <p:cNvPr id="33" name="TextBox 32"/>
          <p:cNvSpPr txBox="1"/>
          <p:nvPr/>
        </p:nvSpPr>
        <p:spPr>
          <a:xfrm>
            <a:off x="8302752" y="4754880"/>
            <a:ext cx="3154680"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Support &amp; understand</a:t>
            </a:r>
          </a:p>
        </p:txBody>
      </p:sp>
      <p:sp>
        <p:nvSpPr>
          <p:cNvPr id="34" name="TextBox 33"/>
          <p:cNvSpPr txBox="1"/>
          <p:nvPr/>
        </p:nvSpPr>
        <p:spPr>
          <a:xfrm>
            <a:off x="8302752" y="5312664"/>
            <a:ext cx="3154680" cy="621791"/>
          </a:xfrm>
          <a:prstGeom prst="rect">
            <a:avLst/>
          </a:prstGeom>
          <a:noFill/>
        </p:spPr>
        <p:txBody>
          <a:bodyPr wrap="square" lIns="0" rIns="0" tIns="0" bIns="0">
            <a:spAutoFit/>
          </a:bodyPr>
          <a:lstStyle/>
          <a:p>
            <a:pPr>
              <a:spcAft>
                <a:spcPts val="800"/>
              </a:spcAft>
              <a:defRPr sz="1500" b="0">
                <a:solidFill>
                  <a:srgbClr val="626752"/>
                </a:solidFill>
                <a:latin typeface="Segoe UI"/>
              </a:defRPr>
            </a:pPr>
            <a:r>
              <a:t>Helpdesk · policies · acknowledgements</a:t>
            </a:r>
          </a:p>
          <a:p>
            <a:pPr>
              <a:spcAft>
                <a:spcPts val="800"/>
              </a:spcAft>
              <a:defRPr sz="1500" b="0">
                <a:solidFill>
                  <a:srgbClr val="626752"/>
                </a:solidFill>
                <a:latin typeface="Segoe UI"/>
              </a:defRPr>
            </a:pPr>
            <a:r>
              <a:t>Analytics · personal summary</a:t>
            </a:r>
          </a:p>
        </p:txBody>
      </p:sp>
      <p:sp>
        <p:nvSpPr>
          <p:cNvPr id="35" name="Rounded Rectangle 34">
            <a:hlinkClick action="ppaction://hlinksldjump" r:id="rId5"/>
          </p:cNvPr>
          <p:cNvSpPr/>
          <p:nvPr/>
        </p:nvSpPr>
        <p:spPr>
          <a:xfrm>
            <a:off x="8686800" y="6053328"/>
            <a:ext cx="288036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Open the technical catalogue  →</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SMALL MOMENTS, CLEAR ACTIONS</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Make routine work feel considered.</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A request has a next step. A contribution gets a moment of appreciation.</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06</a:t>
            </a:r>
          </a:p>
        </p:txBody>
      </p:sp>
      <p:sp>
        <p:nvSpPr>
          <p:cNvPr id="11" name="Rounded Rectangle 10"/>
          <p:cNvSpPr/>
          <p:nvPr/>
        </p:nvSpPr>
        <p:spPr>
          <a:xfrm>
            <a:off x="594360" y="2331720"/>
            <a:ext cx="2176272" cy="1143000"/>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505456"/>
            <a:ext cx="1874519" cy="329184"/>
          </a:xfrm>
          <a:prstGeom prst="rect">
            <a:avLst/>
          </a:prstGeom>
          <a:noFill/>
        </p:spPr>
        <p:txBody>
          <a:bodyPr wrap="square" lIns="0" rIns="0" tIns="0" bIns="0">
            <a:spAutoFit/>
          </a:bodyPr>
          <a:lstStyle/>
          <a:p>
            <a:pPr>
              <a:spcAft>
                <a:spcPts val="800"/>
              </a:spcAft>
              <a:defRPr sz="2200" b="1">
                <a:solidFill>
                  <a:srgbClr val="5C6936"/>
                </a:solidFill>
                <a:latin typeface="Segoe UI"/>
              </a:defRPr>
            </a:pPr>
            <a:r>
              <a:t>Request</a:t>
            </a:r>
          </a:p>
        </p:txBody>
      </p:sp>
      <p:sp>
        <p:nvSpPr>
          <p:cNvPr id="13" name="TextBox 12"/>
          <p:cNvSpPr txBox="1"/>
          <p:nvPr/>
        </p:nvSpPr>
        <p:spPr>
          <a:xfrm>
            <a:off x="758952" y="2971800"/>
            <a:ext cx="1874519" cy="320040"/>
          </a:xfrm>
          <a:prstGeom prst="rect">
            <a:avLst/>
          </a:prstGeom>
          <a:noFill/>
        </p:spPr>
        <p:txBody>
          <a:bodyPr wrap="square" lIns="0" rIns="0" tIns="0" bIns="0">
            <a:spAutoFit/>
          </a:bodyPr>
          <a:lstStyle/>
          <a:p>
            <a:pPr>
              <a:spcAft>
                <a:spcPts val="800"/>
              </a:spcAft>
              <a:defRPr sz="1300" b="0">
                <a:solidFill>
                  <a:srgbClr val="2D3424"/>
                </a:solidFill>
                <a:latin typeface="Segoe UI"/>
              </a:defRPr>
            </a:pPr>
            <a:r>
              <a:t>Employee applies</a:t>
            </a:r>
          </a:p>
        </p:txBody>
      </p:sp>
      <p:sp>
        <p:nvSpPr>
          <p:cNvPr id="14" name="TextBox 13"/>
          <p:cNvSpPr txBox="1"/>
          <p:nvPr/>
        </p:nvSpPr>
        <p:spPr>
          <a:xfrm>
            <a:off x="2788920" y="2724912"/>
            <a:ext cx="201168" cy="274320"/>
          </a:xfrm>
          <a:prstGeom prst="rect">
            <a:avLst/>
          </a:prstGeom>
          <a:noFill/>
        </p:spPr>
        <p:txBody>
          <a:bodyPr wrap="square" lIns="0" rIns="0" tIns="0" bIns="0">
            <a:spAutoFit/>
          </a:bodyPr>
          <a:lstStyle/>
          <a:p>
            <a:pPr>
              <a:spcAft>
                <a:spcPts val="800"/>
              </a:spcAft>
              <a:defRPr sz="2000" b="1">
                <a:solidFill>
                  <a:srgbClr val="5C6936"/>
                </a:solidFill>
                <a:latin typeface="Segoe UI"/>
              </a:defRPr>
            </a:pPr>
            <a:r>
              <a:t>›</a:t>
            </a:r>
          </a:p>
        </p:txBody>
      </p:sp>
      <p:sp>
        <p:nvSpPr>
          <p:cNvPr id="15" name="Rounded Rectangle 14"/>
          <p:cNvSpPr/>
          <p:nvPr/>
        </p:nvSpPr>
        <p:spPr>
          <a:xfrm>
            <a:off x="2990088" y="2331720"/>
            <a:ext cx="2176272" cy="1143000"/>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54680" y="2505456"/>
            <a:ext cx="1874519" cy="329184"/>
          </a:xfrm>
          <a:prstGeom prst="rect">
            <a:avLst/>
          </a:prstGeom>
          <a:noFill/>
        </p:spPr>
        <p:txBody>
          <a:bodyPr wrap="square" lIns="0" rIns="0" tIns="0" bIns="0">
            <a:spAutoFit/>
          </a:bodyPr>
          <a:lstStyle/>
          <a:p>
            <a:pPr>
              <a:spcAft>
                <a:spcPts val="800"/>
              </a:spcAft>
              <a:defRPr sz="2200" b="1">
                <a:solidFill>
                  <a:srgbClr val="5C6936"/>
                </a:solidFill>
                <a:latin typeface="Segoe UI"/>
              </a:defRPr>
            </a:pPr>
            <a:r>
              <a:t>Review</a:t>
            </a:r>
          </a:p>
        </p:txBody>
      </p:sp>
      <p:sp>
        <p:nvSpPr>
          <p:cNvPr id="17" name="TextBox 16"/>
          <p:cNvSpPr txBox="1"/>
          <p:nvPr/>
        </p:nvSpPr>
        <p:spPr>
          <a:xfrm>
            <a:off x="3154680" y="2971800"/>
            <a:ext cx="1874519" cy="320040"/>
          </a:xfrm>
          <a:prstGeom prst="rect">
            <a:avLst/>
          </a:prstGeom>
          <a:noFill/>
        </p:spPr>
        <p:txBody>
          <a:bodyPr wrap="square" lIns="0" rIns="0" tIns="0" bIns="0">
            <a:spAutoFit/>
          </a:bodyPr>
          <a:lstStyle/>
          <a:p>
            <a:pPr>
              <a:spcAft>
                <a:spcPts val="800"/>
              </a:spcAft>
              <a:defRPr sz="1300" b="0">
                <a:solidFill>
                  <a:srgbClr val="2D3424"/>
                </a:solidFill>
                <a:latin typeface="Segoe UI"/>
              </a:defRPr>
            </a:pPr>
            <a:r>
              <a:t>Assigned approver acts</a:t>
            </a:r>
          </a:p>
        </p:txBody>
      </p:sp>
      <p:sp>
        <p:nvSpPr>
          <p:cNvPr id="18" name="TextBox 17"/>
          <p:cNvSpPr txBox="1"/>
          <p:nvPr/>
        </p:nvSpPr>
        <p:spPr>
          <a:xfrm>
            <a:off x="5184648" y="2724912"/>
            <a:ext cx="201168" cy="274320"/>
          </a:xfrm>
          <a:prstGeom prst="rect">
            <a:avLst/>
          </a:prstGeom>
          <a:noFill/>
        </p:spPr>
        <p:txBody>
          <a:bodyPr wrap="square" lIns="0" rIns="0" tIns="0" bIns="0">
            <a:spAutoFit/>
          </a:bodyPr>
          <a:lstStyle/>
          <a:p>
            <a:pPr>
              <a:spcAft>
                <a:spcPts val="800"/>
              </a:spcAft>
              <a:defRPr sz="2000" b="1">
                <a:solidFill>
                  <a:srgbClr val="5C6936"/>
                </a:solidFill>
                <a:latin typeface="Segoe UI"/>
              </a:defRPr>
            </a:pPr>
            <a:r>
              <a:t>›</a:t>
            </a:r>
          </a:p>
        </p:txBody>
      </p:sp>
      <p:sp>
        <p:nvSpPr>
          <p:cNvPr id="19" name="Rounded Rectangle 18"/>
          <p:cNvSpPr/>
          <p:nvPr/>
        </p:nvSpPr>
        <p:spPr>
          <a:xfrm>
            <a:off x="5385816" y="2331720"/>
            <a:ext cx="2176272" cy="1143000"/>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50408" y="2505456"/>
            <a:ext cx="1874519" cy="329184"/>
          </a:xfrm>
          <a:prstGeom prst="rect">
            <a:avLst/>
          </a:prstGeom>
          <a:noFill/>
        </p:spPr>
        <p:txBody>
          <a:bodyPr wrap="square" lIns="0" rIns="0" tIns="0" bIns="0">
            <a:spAutoFit/>
          </a:bodyPr>
          <a:lstStyle/>
          <a:p>
            <a:pPr>
              <a:spcAft>
                <a:spcPts val="800"/>
              </a:spcAft>
              <a:defRPr sz="2200" b="1">
                <a:solidFill>
                  <a:srgbClr val="5C6936"/>
                </a:solidFill>
                <a:latin typeface="Segoe UI"/>
              </a:defRPr>
            </a:pPr>
            <a:r>
              <a:t>Outcome</a:t>
            </a:r>
          </a:p>
        </p:txBody>
      </p:sp>
      <p:sp>
        <p:nvSpPr>
          <p:cNvPr id="21" name="TextBox 20"/>
          <p:cNvSpPr txBox="1"/>
          <p:nvPr/>
        </p:nvSpPr>
        <p:spPr>
          <a:xfrm>
            <a:off x="5550408" y="2971800"/>
            <a:ext cx="1874519" cy="320040"/>
          </a:xfrm>
          <a:prstGeom prst="rect">
            <a:avLst/>
          </a:prstGeom>
          <a:noFill/>
        </p:spPr>
        <p:txBody>
          <a:bodyPr wrap="square" lIns="0" rIns="0" tIns="0" bIns="0">
            <a:spAutoFit/>
          </a:bodyPr>
          <a:lstStyle/>
          <a:p>
            <a:pPr>
              <a:spcAft>
                <a:spcPts val="800"/>
              </a:spcAft>
              <a:defRPr sz="1300" b="0">
                <a:solidFill>
                  <a:srgbClr val="2D3424"/>
                </a:solidFill>
                <a:latin typeface="Segoe UI"/>
              </a:defRPr>
            </a:pPr>
            <a:r>
              <a:t>Status becomes visible</a:t>
            </a:r>
          </a:p>
        </p:txBody>
      </p:sp>
      <p:sp>
        <p:nvSpPr>
          <p:cNvPr id="22" name="TextBox 21"/>
          <p:cNvSpPr txBox="1"/>
          <p:nvPr/>
        </p:nvSpPr>
        <p:spPr>
          <a:xfrm>
            <a:off x="640080" y="3840480"/>
            <a:ext cx="6126480" cy="457200"/>
          </a:xfrm>
          <a:prstGeom prst="rect">
            <a:avLst/>
          </a:prstGeom>
          <a:noFill/>
        </p:spPr>
        <p:txBody>
          <a:bodyPr wrap="square" lIns="0" rIns="0" tIns="0" bIns="0">
            <a:spAutoFit/>
          </a:bodyPr>
          <a:lstStyle/>
          <a:p>
            <a:pPr>
              <a:spcAft>
                <a:spcPts val="800"/>
              </a:spcAft>
              <a:defRPr sz="2400" b="1">
                <a:solidFill>
                  <a:srgbClr val="2D3424"/>
                </a:solidFill>
                <a:latin typeface="Segoe UI"/>
              </a:defRPr>
            </a:pPr>
            <a:r>
              <a:t>Interaction with a purpose</a:t>
            </a:r>
          </a:p>
        </p:txBody>
      </p:sp>
      <p:sp>
        <p:nvSpPr>
          <p:cNvPr id="23" name="TextBox 22"/>
          <p:cNvSpPr txBox="1"/>
          <p:nvPr/>
        </p:nvSpPr>
        <p:spPr>
          <a:xfrm>
            <a:off x="640080" y="4517136"/>
            <a:ext cx="5943600" cy="1143000"/>
          </a:xfrm>
          <a:prstGeom prst="rect">
            <a:avLst/>
          </a:prstGeom>
          <a:noFill/>
        </p:spPr>
        <p:txBody>
          <a:bodyPr wrap="square" lIns="0" rIns="0" tIns="0" bIns="0">
            <a:spAutoFit/>
          </a:bodyPr>
          <a:lstStyle/>
          <a:p>
            <a:pPr>
              <a:spcAft>
                <a:spcPts val="800"/>
              </a:spcAft>
              <a:defRPr sz="1900" b="0">
                <a:solidFill>
                  <a:srgbClr val="2D3424"/>
                </a:solidFill>
                <a:latin typeface="Segoe UI"/>
              </a:defRPr>
            </a:pPr>
            <a:r>
              <a:t>Select a day to inspect attendance.</a:t>
            </a:r>
          </a:p>
          <a:p>
            <a:pPr>
              <a:spcAft>
                <a:spcPts val="800"/>
              </a:spcAft>
              <a:defRPr sz="1900" b="0">
                <a:solidFill>
                  <a:srgbClr val="2D3424"/>
                </a:solidFill>
                <a:latin typeface="Segoe UI"/>
              </a:defRPr>
            </a:pPr>
            <a:r>
              <a:t>Compare chart periods and read exact values.</a:t>
            </a:r>
          </a:p>
          <a:p>
            <a:pPr>
              <a:spcAft>
                <a:spcPts val="800"/>
              </a:spcAft>
              <a:defRPr sz="1900" b="0">
                <a:solidFill>
                  <a:srgbClr val="2D3424"/>
                </a:solidFill>
                <a:latin typeface="Segoe UI"/>
              </a:defRPr>
            </a:pPr>
            <a:r>
              <a:t>Celebrate someone through the praise wall.</a:t>
            </a:r>
          </a:p>
        </p:txBody>
      </p:sp>
      <p:sp>
        <p:nvSpPr>
          <p:cNvPr id="24" name="Rounded Rectangle 23"/>
          <p:cNvSpPr/>
          <p:nvPr/>
        </p:nvSpPr>
        <p:spPr>
          <a:xfrm>
            <a:off x="7918704" y="2194560"/>
            <a:ext cx="3685032" cy="3858768"/>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ui-appreciation-dialog.png"/>
          <p:cNvPicPr>
            <a:picLocks noChangeAspect="1"/>
          </p:cNvPicPr>
          <p:nvPr/>
        </p:nvPicPr>
        <p:blipFill>
          <a:blip r:embed="rId5"/>
          <a:stretch>
            <a:fillRect/>
          </a:stretch>
        </p:blipFill>
        <p:spPr>
          <a:xfrm>
            <a:off x="8074152" y="2613659"/>
            <a:ext cx="3364992" cy="2453640"/>
          </a:xfrm>
          <a:prstGeom prst="rect">
            <a:avLst/>
          </a:prstGeom>
        </p:spPr>
      </p:pic>
      <p:sp>
        <p:nvSpPr>
          <p:cNvPr id="26" name="TextBox 25"/>
          <p:cNvSpPr txBox="1"/>
          <p:nvPr/>
        </p:nvSpPr>
        <p:spPr>
          <a:xfrm>
            <a:off x="8183879" y="5486400"/>
            <a:ext cx="3200400" cy="365760"/>
          </a:xfrm>
          <a:prstGeom prst="rect">
            <a:avLst/>
          </a:prstGeom>
          <a:noFill/>
        </p:spPr>
        <p:txBody>
          <a:bodyPr wrap="square" lIns="0" rIns="0" tIns="0" bIns="0">
            <a:spAutoFit/>
          </a:bodyPr>
          <a:lstStyle/>
          <a:p>
            <a:pPr>
              <a:spcAft>
                <a:spcPts val="800"/>
              </a:spcAft>
              <a:defRPr sz="1400" b="1">
                <a:solidFill>
                  <a:srgbClr val="5C6936"/>
                </a:solidFill>
                <a:latin typeface="Segoe UI"/>
              </a:defRPr>
            </a:pPr>
            <a:r>
              <a:t>A real appreciation form</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ENGINEERING</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One interface. Clear layers underneath.</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A modular application with a REST boundary and server-enforced access.</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07</a:t>
            </a:r>
          </a:p>
        </p:txBody>
      </p:sp>
      <p:sp>
        <p:nvSpPr>
          <p:cNvPr id="11" name="Rounded Rectangle 10"/>
          <p:cNvSpPr/>
          <p:nvPr/>
        </p:nvSpPr>
        <p:spPr>
          <a:xfrm>
            <a:off x="594360" y="2377440"/>
            <a:ext cx="3447288" cy="246888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542032"/>
            <a:ext cx="3044952"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PRESENTATION</a:t>
            </a:r>
          </a:p>
        </p:txBody>
      </p:sp>
      <p:sp>
        <p:nvSpPr>
          <p:cNvPr id="13" name="TextBox 12"/>
          <p:cNvSpPr txBox="1"/>
          <p:nvPr/>
        </p:nvSpPr>
        <p:spPr>
          <a:xfrm>
            <a:off x="795528" y="2962656"/>
            <a:ext cx="3044952"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Angular 18</a:t>
            </a:r>
          </a:p>
        </p:txBody>
      </p:sp>
      <p:sp>
        <p:nvSpPr>
          <p:cNvPr id="14" name="TextBox 13"/>
          <p:cNvSpPr txBox="1"/>
          <p:nvPr/>
        </p:nvSpPr>
        <p:spPr>
          <a:xfrm>
            <a:off x="795528" y="3520440"/>
            <a:ext cx="3044952" cy="1234440"/>
          </a:xfrm>
          <a:prstGeom prst="rect">
            <a:avLst/>
          </a:prstGeom>
          <a:noFill/>
        </p:spPr>
        <p:txBody>
          <a:bodyPr wrap="square" lIns="0" rIns="0" tIns="0" bIns="0">
            <a:spAutoFit/>
          </a:bodyPr>
          <a:lstStyle/>
          <a:p>
            <a:pPr>
              <a:spcAft>
                <a:spcPts val="800"/>
              </a:spcAft>
              <a:defRPr sz="1500" b="0">
                <a:solidFill>
                  <a:srgbClr val="626752"/>
                </a:solidFill>
                <a:latin typeface="Segoe UI"/>
              </a:defRPr>
            </a:pPr>
            <a:r>
              <a:t>Standalone components</a:t>
            </a:r>
          </a:p>
          <a:p>
            <a:pPr>
              <a:spcAft>
                <a:spcPts val="800"/>
              </a:spcAft>
              <a:defRPr sz="1500" b="0">
                <a:solidFill>
                  <a:srgbClr val="626752"/>
                </a:solidFill>
                <a:latin typeface="Segoe UI"/>
              </a:defRPr>
            </a:pPr>
            <a:r>
              <a:t>Material + SCSS</a:t>
            </a:r>
          </a:p>
          <a:p>
            <a:pPr>
              <a:spcAft>
                <a:spcPts val="800"/>
              </a:spcAft>
              <a:defRPr sz="1500" b="0">
                <a:solidFill>
                  <a:srgbClr val="626752"/>
                </a:solidFill>
                <a:latin typeface="Segoe UI"/>
              </a:defRPr>
            </a:pPr>
            <a:r>
              <a:t>Lazy routes · guards · signals</a:t>
            </a:r>
          </a:p>
        </p:txBody>
      </p:sp>
      <p:sp>
        <p:nvSpPr>
          <p:cNvPr id="15" name="Rounded Rectangle 14"/>
          <p:cNvSpPr/>
          <p:nvPr/>
        </p:nvSpPr>
        <p:spPr>
          <a:xfrm>
            <a:off x="4370832" y="2377440"/>
            <a:ext cx="3447288" cy="246888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542032"/>
            <a:ext cx="3044952"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APPLICATION</a:t>
            </a:r>
          </a:p>
        </p:txBody>
      </p:sp>
      <p:sp>
        <p:nvSpPr>
          <p:cNvPr id="17" name="TextBox 16"/>
          <p:cNvSpPr txBox="1"/>
          <p:nvPr/>
        </p:nvSpPr>
        <p:spPr>
          <a:xfrm>
            <a:off x="4572000" y="2962656"/>
            <a:ext cx="3044952"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Spring Boot 3.3</a:t>
            </a:r>
          </a:p>
        </p:txBody>
      </p:sp>
      <p:sp>
        <p:nvSpPr>
          <p:cNvPr id="18" name="TextBox 17"/>
          <p:cNvSpPr txBox="1"/>
          <p:nvPr/>
        </p:nvSpPr>
        <p:spPr>
          <a:xfrm>
            <a:off x="4572000" y="3520440"/>
            <a:ext cx="3044952" cy="1234440"/>
          </a:xfrm>
          <a:prstGeom prst="rect">
            <a:avLst/>
          </a:prstGeom>
          <a:noFill/>
        </p:spPr>
        <p:txBody>
          <a:bodyPr wrap="square" lIns="0" rIns="0" tIns="0" bIns="0">
            <a:spAutoFit/>
          </a:bodyPr>
          <a:lstStyle/>
          <a:p>
            <a:pPr>
              <a:spcAft>
                <a:spcPts val="800"/>
              </a:spcAft>
              <a:defRPr sz="1500" b="0">
                <a:solidFill>
                  <a:srgbClr val="626752"/>
                </a:solidFill>
                <a:latin typeface="Segoe UI"/>
              </a:defRPr>
            </a:pPr>
            <a:r>
              <a:t>Java 21 target</a:t>
            </a:r>
          </a:p>
          <a:p>
            <a:pPr>
              <a:spcAft>
                <a:spcPts val="800"/>
              </a:spcAft>
              <a:defRPr sz="1500" b="0">
                <a:solidFill>
                  <a:srgbClr val="626752"/>
                </a:solidFill>
                <a:latin typeface="Segoe UI"/>
              </a:defRPr>
            </a:pPr>
            <a:r>
              <a:t>Controller → service → repository</a:t>
            </a:r>
          </a:p>
          <a:p>
            <a:pPr>
              <a:spcAft>
                <a:spcPts val="800"/>
              </a:spcAft>
              <a:defRPr sz="1500" b="0">
                <a:solidFill>
                  <a:srgbClr val="626752"/>
                </a:solidFill>
                <a:latin typeface="Segoe UI"/>
              </a:defRPr>
            </a:pPr>
            <a:r>
              <a:t>Security · validation · JPA</a:t>
            </a:r>
          </a:p>
        </p:txBody>
      </p:sp>
      <p:sp>
        <p:nvSpPr>
          <p:cNvPr id="19" name="Rounded Rectangle 18"/>
          <p:cNvSpPr/>
          <p:nvPr/>
        </p:nvSpPr>
        <p:spPr>
          <a:xfrm>
            <a:off x="8138160" y="2377440"/>
            <a:ext cx="3447288" cy="246888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8" y="2542032"/>
            <a:ext cx="3044952"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PERSISTENCE</a:t>
            </a:r>
          </a:p>
        </p:txBody>
      </p:sp>
      <p:sp>
        <p:nvSpPr>
          <p:cNvPr id="21" name="TextBox 20"/>
          <p:cNvSpPr txBox="1"/>
          <p:nvPr/>
        </p:nvSpPr>
        <p:spPr>
          <a:xfrm>
            <a:off x="8339328" y="2962656"/>
            <a:ext cx="3044952"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Oracle / H2 demo</a:t>
            </a:r>
          </a:p>
        </p:txBody>
      </p:sp>
      <p:sp>
        <p:nvSpPr>
          <p:cNvPr id="22" name="TextBox 21"/>
          <p:cNvSpPr txBox="1"/>
          <p:nvPr/>
        </p:nvSpPr>
        <p:spPr>
          <a:xfrm>
            <a:off x="8339328" y="3520440"/>
            <a:ext cx="3044952" cy="1234440"/>
          </a:xfrm>
          <a:prstGeom prst="rect">
            <a:avLst/>
          </a:prstGeom>
          <a:noFill/>
        </p:spPr>
        <p:txBody>
          <a:bodyPr wrap="square" lIns="0" rIns="0" tIns="0" bIns="0">
            <a:spAutoFit/>
          </a:bodyPr>
          <a:lstStyle/>
          <a:p>
            <a:pPr>
              <a:spcAft>
                <a:spcPts val="800"/>
              </a:spcAft>
              <a:defRPr sz="1500" b="0">
                <a:solidFill>
                  <a:srgbClr val="626752"/>
                </a:solidFill>
                <a:latin typeface="Segoe UI"/>
              </a:defRPr>
            </a:pPr>
            <a:r>
              <a:t>Oracle target deployment</a:t>
            </a:r>
          </a:p>
          <a:p>
            <a:pPr>
              <a:spcAft>
                <a:spcPts val="800"/>
              </a:spcAft>
              <a:defRPr sz="1500" b="0">
                <a:solidFill>
                  <a:srgbClr val="626752"/>
                </a:solidFill>
                <a:latin typeface="Segoe UI"/>
              </a:defRPr>
            </a:pPr>
            <a:r>
              <a:t>H2 development profile</a:t>
            </a:r>
          </a:p>
          <a:p>
            <a:pPr>
              <a:spcAft>
                <a:spcPts val="800"/>
              </a:spcAft>
              <a:defRPr sz="1500" b="0">
                <a:solidFill>
                  <a:srgbClr val="626752"/>
                </a:solidFill>
                <a:latin typeface="Segoe UI"/>
              </a:defRPr>
            </a:pPr>
            <a:r>
              <a:t>Flyway schema migrations</a:t>
            </a:r>
          </a:p>
        </p:txBody>
      </p:sp>
      <p:sp>
        <p:nvSpPr>
          <p:cNvPr id="23" name="TextBox 22"/>
          <p:cNvSpPr txBox="1"/>
          <p:nvPr/>
        </p:nvSpPr>
        <p:spPr>
          <a:xfrm>
            <a:off x="4041648" y="3337560"/>
            <a:ext cx="320040" cy="365760"/>
          </a:xfrm>
          <a:prstGeom prst="rect">
            <a:avLst/>
          </a:prstGeom>
          <a:noFill/>
        </p:spPr>
        <p:txBody>
          <a:bodyPr wrap="square" lIns="0" rIns="0" tIns="0" bIns="0">
            <a:spAutoFit/>
          </a:bodyPr>
          <a:lstStyle/>
          <a:p>
            <a:pPr>
              <a:spcAft>
                <a:spcPts val="800"/>
              </a:spcAft>
              <a:defRPr sz="2400" b="1">
                <a:solidFill>
                  <a:srgbClr val="5C6936"/>
                </a:solidFill>
                <a:latin typeface="Segoe UI"/>
              </a:defRPr>
            </a:pPr>
            <a:r>
              <a:t>→</a:t>
            </a:r>
          </a:p>
        </p:txBody>
      </p:sp>
      <p:sp>
        <p:nvSpPr>
          <p:cNvPr id="24" name="TextBox 23"/>
          <p:cNvSpPr txBox="1"/>
          <p:nvPr/>
        </p:nvSpPr>
        <p:spPr>
          <a:xfrm>
            <a:off x="7808975" y="3337560"/>
            <a:ext cx="320040" cy="365760"/>
          </a:xfrm>
          <a:prstGeom prst="rect">
            <a:avLst/>
          </a:prstGeom>
          <a:noFill/>
        </p:spPr>
        <p:txBody>
          <a:bodyPr wrap="square" lIns="0" rIns="0" tIns="0" bIns="0">
            <a:spAutoFit/>
          </a:bodyPr>
          <a:lstStyle/>
          <a:p>
            <a:pPr>
              <a:spcAft>
                <a:spcPts val="800"/>
              </a:spcAft>
              <a:defRPr sz="2400" b="1">
                <a:solidFill>
                  <a:srgbClr val="5C6936"/>
                </a:solidFill>
                <a:latin typeface="Segoe UI"/>
              </a:defRPr>
            </a:pPr>
            <a:r>
              <a:t>→</a:t>
            </a:r>
          </a:p>
        </p:txBody>
      </p:sp>
      <p:sp>
        <p:nvSpPr>
          <p:cNvPr id="25" name="Rounded Rectangle 24"/>
          <p:cNvSpPr/>
          <p:nvPr/>
        </p:nvSpPr>
        <p:spPr>
          <a:xfrm>
            <a:off x="594360" y="5148072"/>
            <a:ext cx="10991088" cy="685800"/>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5349240"/>
            <a:ext cx="10515600" cy="320040"/>
          </a:xfrm>
          <a:prstGeom prst="rect">
            <a:avLst/>
          </a:prstGeom>
          <a:noFill/>
        </p:spPr>
        <p:txBody>
          <a:bodyPr wrap="square" lIns="0" rIns="0" tIns="0" bIns="0">
            <a:spAutoFit/>
          </a:bodyPr>
          <a:lstStyle/>
          <a:p>
            <a:pPr>
              <a:spcAft>
                <a:spcPts val="800"/>
              </a:spcAft>
              <a:defRPr sz="1600" b="1">
                <a:solidFill>
                  <a:srgbClr val="5C6936"/>
                </a:solidFill>
                <a:latin typeface="Segoe UI"/>
              </a:defRPr>
            </a:pPr>
            <a:r>
              <a:t>REST /api/v1   •   DTOs + MapStruct   •   File storage   •   Mail notifications   •   OpenAPI</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TRUST AND ACCESS</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The right information, for the right person.</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Permissions and record-level rules protect more than the navigation menu.</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08</a:t>
            </a:r>
          </a:p>
        </p:txBody>
      </p:sp>
      <p:sp>
        <p:nvSpPr>
          <p:cNvPr id="11" name="Rounded Rectangle 10"/>
          <p:cNvSpPr/>
          <p:nvPr/>
        </p:nvSpPr>
        <p:spPr>
          <a:xfrm>
            <a:off x="594360" y="2267712"/>
            <a:ext cx="3456432" cy="3401568"/>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432304"/>
            <a:ext cx="305409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01 / IDENTITY</a:t>
            </a:r>
          </a:p>
        </p:txBody>
      </p:sp>
      <p:sp>
        <p:nvSpPr>
          <p:cNvPr id="13" name="TextBox 12"/>
          <p:cNvSpPr txBox="1"/>
          <p:nvPr/>
        </p:nvSpPr>
        <p:spPr>
          <a:xfrm>
            <a:off x="795528" y="2852928"/>
            <a:ext cx="305409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Authenticate</a:t>
            </a:r>
          </a:p>
        </p:txBody>
      </p:sp>
      <p:sp>
        <p:nvSpPr>
          <p:cNvPr id="14" name="TextBox 13"/>
          <p:cNvSpPr txBox="1"/>
          <p:nvPr/>
        </p:nvSpPr>
        <p:spPr>
          <a:xfrm>
            <a:off x="795528" y="3410712"/>
            <a:ext cx="3054096" cy="2167128"/>
          </a:xfrm>
          <a:prstGeom prst="rect">
            <a:avLst/>
          </a:prstGeom>
          <a:noFill/>
        </p:spPr>
        <p:txBody>
          <a:bodyPr wrap="square" lIns="0" rIns="0" tIns="0" bIns="0">
            <a:spAutoFit/>
          </a:bodyPr>
          <a:lstStyle/>
          <a:p>
            <a:pPr>
              <a:spcAft>
                <a:spcPts val="800"/>
              </a:spcAft>
              <a:defRPr sz="1500" b="0">
                <a:solidFill>
                  <a:srgbClr val="626752"/>
                </a:solidFill>
                <a:latin typeface="Segoe UI"/>
              </a:defRPr>
            </a:pPr>
            <a:r>
              <a:t>JWT access + refresh flow</a:t>
            </a:r>
          </a:p>
          <a:p>
            <a:pPr>
              <a:spcAft>
                <a:spcPts val="800"/>
              </a:spcAft>
              <a:defRPr sz="1500" b="0">
                <a:solidFill>
                  <a:srgbClr val="626752"/>
                </a:solidFill>
                <a:latin typeface="Segoe UI"/>
              </a:defRPr>
            </a:pPr>
            <a:r>
              <a:t>BCrypt password hashing</a:t>
            </a:r>
          </a:p>
          <a:p>
            <a:pPr>
              <a:spcAft>
                <a:spcPts val="800"/>
              </a:spcAft>
              <a:defRPr sz="1500" b="0">
                <a:solidFill>
                  <a:srgbClr val="626752"/>
                </a:solidFill>
                <a:latin typeface="Segoe UI"/>
              </a:defRPr>
            </a:pPr>
            <a:r>
              <a:t>Refresh-token rotation</a:t>
            </a:r>
          </a:p>
          <a:p>
            <a:pPr>
              <a:spcAft>
                <a:spcPts val="800"/>
              </a:spcAft>
              <a:defRPr sz="1500" b="0">
                <a:solidFill>
                  <a:srgbClr val="626752"/>
                </a:solidFill>
                <a:latin typeface="Segoe UI"/>
              </a:defRPr>
            </a:pPr>
            <a:r>
              <a:t>Failed-login lockout</a:t>
            </a:r>
          </a:p>
        </p:txBody>
      </p:sp>
      <p:sp>
        <p:nvSpPr>
          <p:cNvPr id="15" name="Rounded Rectangle 14"/>
          <p:cNvSpPr/>
          <p:nvPr/>
        </p:nvSpPr>
        <p:spPr>
          <a:xfrm>
            <a:off x="4370832" y="2267712"/>
            <a:ext cx="3456432" cy="3401568"/>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432304"/>
            <a:ext cx="305409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02 / AUTHORIZATION</a:t>
            </a:r>
          </a:p>
        </p:txBody>
      </p:sp>
      <p:sp>
        <p:nvSpPr>
          <p:cNvPr id="17" name="TextBox 16"/>
          <p:cNvSpPr txBox="1"/>
          <p:nvPr/>
        </p:nvSpPr>
        <p:spPr>
          <a:xfrm>
            <a:off x="4572000" y="2852928"/>
            <a:ext cx="305409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Check the scope</a:t>
            </a:r>
          </a:p>
        </p:txBody>
      </p:sp>
      <p:sp>
        <p:nvSpPr>
          <p:cNvPr id="18" name="TextBox 17"/>
          <p:cNvSpPr txBox="1"/>
          <p:nvPr/>
        </p:nvSpPr>
        <p:spPr>
          <a:xfrm>
            <a:off x="4572000" y="3410712"/>
            <a:ext cx="3054096" cy="2167128"/>
          </a:xfrm>
          <a:prstGeom prst="rect">
            <a:avLst/>
          </a:prstGeom>
          <a:noFill/>
        </p:spPr>
        <p:txBody>
          <a:bodyPr wrap="square" lIns="0" rIns="0" tIns="0" bIns="0">
            <a:spAutoFit/>
          </a:bodyPr>
          <a:lstStyle/>
          <a:p>
            <a:pPr>
              <a:spcAft>
                <a:spcPts val="800"/>
              </a:spcAft>
              <a:defRPr sz="1500" b="0">
                <a:solidFill>
                  <a:srgbClr val="626752"/>
                </a:solidFill>
                <a:latin typeface="Segoe UI"/>
              </a:defRPr>
            </a:pPr>
            <a:r>
              <a:t>Role and permission checks</a:t>
            </a:r>
          </a:p>
          <a:p>
            <a:pPr>
              <a:spcAft>
                <a:spcPts val="800"/>
              </a:spcAft>
              <a:defRPr sz="1500" b="0">
                <a:solidFill>
                  <a:srgbClr val="626752"/>
                </a:solidFill>
                <a:latin typeface="Segoe UI"/>
              </a:defRPr>
            </a:pPr>
            <a:r>
              <a:t>Self / team / HR boundaries</a:t>
            </a:r>
          </a:p>
          <a:p>
            <a:pPr>
              <a:spcAft>
                <a:spcPts val="800"/>
              </a:spcAft>
              <a:defRPr sz="1500" b="0">
                <a:solidFill>
                  <a:srgbClr val="626752"/>
                </a:solidFill>
                <a:latin typeface="Segoe UI"/>
              </a:defRPr>
            </a:pPr>
            <a:r>
              <a:t>Backend authorization</a:t>
            </a:r>
          </a:p>
          <a:p>
            <a:pPr>
              <a:spcAft>
                <a:spcPts val="800"/>
              </a:spcAft>
              <a:defRPr sz="1500" b="0">
                <a:solidFill>
                  <a:srgbClr val="626752"/>
                </a:solidFill>
                <a:latin typeface="Segoe UI"/>
              </a:defRPr>
            </a:pPr>
            <a:r>
              <a:t>Audit history</a:t>
            </a:r>
          </a:p>
        </p:txBody>
      </p:sp>
      <p:sp>
        <p:nvSpPr>
          <p:cNvPr id="19" name="Rounded Rectangle 18"/>
          <p:cNvSpPr/>
          <p:nvPr/>
        </p:nvSpPr>
        <p:spPr>
          <a:xfrm>
            <a:off x="8138160" y="2267712"/>
            <a:ext cx="3456432" cy="3401568"/>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8" y="2432304"/>
            <a:ext cx="305409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03 / SENSITIVE DATA</a:t>
            </a:r>
          </a:p>
        </p:txBody>
      </p:sp>
      <p:sp>
        <p:nvSpPr>
          <p:cNvPr id="21" name="TextBox 20"/>
          <p:cNvSpPr txBox="1"/>
          <p:nvPr/>
        </p:nvSpPr>
        <p:spPr>
          <a:xfrm>
            <a:off x="8339328" y="2852928"/>
            <a:ext cx="305409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Reveal with care</a:t>
            </a:r>
          </a:p>
        </p:txBody>
      </p:sp>
      <p:sp>
        <p:nvSpPr>
          <p:cNvPr id="22" name="TextBox 21"/>
          <p:cNvSpPr txBox="1"/>
          <p:nvPr/>
        </p:nvSpPr>
        <p:spPr>
          <a:xfrm>
            <a:off x="8339328" y="3410712"/>
            <a:ext cx="3054096" cy="2167128"/>
          </a:xfrm>
          <a:prstGeom prst="rect">
            <a:avLst/>
          </a:prstGeom>
          <a:noFill/>
        </p:spPr>
        <p:txBody>
          <a:bodyPr wrap="square" lIns="0" rIns="0" tIns="0" bIns="0">
            <a:spAutoFit/>
          </a:bodyPr>
          <a:lstStyle/>
          <a:p>
            <a:pPr>
              <a:spcAft>
                <a:spcPts val="800"/>
              </a:spcAft>
              <a:defRPr sz="1500" b="0">
                <a:solidFill>
                  <a:srgbClr val="626752"/>
                </a:solidFill>
                <a:latin typeface="Segoe UI"/>
              </a:defRPr>
            </a:pPr>
            <a:r>
              <a:t>Selected fields encrypted</a:t>
            </a:r>
          </a:p>
          <a:p>
            <a:pPr>
              <a:spcAft>
                <a:spcPts val="800"/>
              </a:spcAft>
              <a:defRPr sz="1500" b="0">
                <a:solidFill>
                  <a:srgbClr val="626752"/>
                </a:solidFill>
                <a:latin typeface="Segoe UI"/>
              </a:defRPr>
            </a:pPr>
            <a:r>
              <a:t>Masked statutory / bank data</a:t>
            </a:r>
          </a:p>
          <a:p>
            <a:pPr>
              <a:spcAft>
                <a:spcPts val="800"/>
              </a:spcAft>
              <a:defRPr sz="1500" b="0">
                <a:solidFill>
                  <a:srgbClr val="626752"/>
                </a:solidFill>
                <a:latin typeface="Segoe UI"/>
              </a:defRPr>
            </a:pPr>
            <a:r>
              <a:t>Controlled reveal actions</a:t>
            </a:r>
          </a:p>
          <a:p>
            <a:pPr>
              <a:spcAft>
                <a:spcPts val="800"/>
              </a:spcAft>
              <a:defRPr sz="1500" b="0">
                <a:solidFill>
                  <a:srgbClr val="626752"/>
                </a:solidFill>
                <a:latin typeface="Segoe UI"/>
              </a:defRPr>
            </a:pPr>
            <a:r>
              <a:t>Validated file handling</a:t>
            </a:r>
          </a:p>
        </p:txBody>
      </p:sp>
      <p:sp>
        <p:nvSpPr>
          <p:cNvPr id="23" name="TextBox 22"/>
          <p:cNvSpPr txBox="1"/>
          <p:nvPr/>
        </p:nvSpPr>
        <p:spPr>
          <a:xfrm>
            <a:off x="640080" y="5897880"/>
            <a:ext cx="10972800" cy="274320"/>
          </a:xfrm>
          <a:prstGeom prst="rect">
            <a:avLst/>
          </a:prstGeom>
          <a:noFill/>
        </p:spPr>
        <p:txBody>
          <a:bodyPr wrap="square" lIns="0" rIns="0" tIns="0" bIns="0">
            <a:spAutoFit/>
          </a:bodyPr>
          <a:lstStyle/>
          <a:p>
            <a:pPr>
              <a:spcAft>
                <a:spcPts val="800"/>
              </a:spcAft>
              <a:defRPr sz="1300" b="1">
                <a:solidFill>
                  <a:srgbClr val="5C6936"/>
                </a:solidFill>
                <a:latin typeface="Segoe UI"/>
              </a:defRPr>
            </a:pPr>
            <a:r>
              <a:t>Employee  ·  Manager  ·  Recruiter  ·  Payroll Admin  ·  HR Manager  ·  HR Admin  ·  Super Admin</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VALIDATION</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Beautiful is better when it behaves.</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Recorded frontend checks from this workspace—not a production certification.</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09</a:t>
            </a:r>
          </a:p>
        </p:txBody>
      </p:sp>
      <p:sp>
        <p:nvSpPr>
          <p:cNvPr id="11" name="Rounded Rectangle 10"/>
          <p:cNvSpPr/>
          <p:nvPr/>
        </p:nvSpPr>
        <p:spPr>
          <a:xfrm>
            <a:off x="594360" y="2331720"/>
            <a:ext cx="3456432" cy="231343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532888"/>
            <a:ext cx="2834640" cy="868680"/>
          </a:xfrm>
          <a:prstGeom prst="rect">
            <a:avLst/>
          </a:prstGeom>
          <a:noFill/>
        </p:spPr>
        <p:txBody>
          <a:bodyPr wrap="square" lIns="0" rIns="0" tIns="0" bIns="0">
            <a:spAutoFit/>
          </a:bodyPr>
          <a:lstStyle/>
          <a:p>
            <a:pPr>
              <a:spcAft>
                <a:spcPts val="800"/>
              </a:spcAft>
              <a:defRPr sz="5200" b="1">
                <a:solidFill>
                  <a:srgbClr val="5C6936"/>
                </a:solidFill>
                <a:latin typeface="Segoe UI"/>
              </a:defRPr>
            </a:pPr>
            <a:r>
              <a:t>36</a:t>
            </a:r>
          </a:p>
        </p:txBody>
      </p:sp>
      <p:sp>
        <p:nvSpPr>
          <p:cNvPr id="13" name="TextBox 12"/>
          <p:cNvSpPr txBox="1"/>
          <p:nvPr/>
        </p:nvSpPr>
        <p:spPr>
          <a:xfrm>
            <a:off x="822960" y="3575304"/>
            <a:ext cx="2926080" cy="365760"/>
          </a:xfrm>
          <a:prstGeom prst="rect">
            <a:avLst/>
          </a:prstGeom>
          <a:noFill/>
        </p:spPr>
        <p:txBody>
          <a:bodyPr wrap="square" lIns="0" rIns="0" tIns="0" bIns="0">
            <a:spAutoFit/>
          </a:bodyPr>
          <a:lstStyle/>
          <a:p>
            <a:pPr>
              <a:spcAft>
                <a:spcPts val="800"/>
              </a:spcAft>
              <a:defRPr sz="2000" b="1">
                <a:solidFill>
                  <a:srgbClr val="2D3424"/>
                </a:solidFill>
                <a:latin typeface="Segoe UI"/>
              </a:defRPr>
            </a:pPr>
            <a:r>
              <a:t>page / theme scans</a:t>
            </a:r>
          </a:p>
        </p:txBody>
      </p:sp>
      <p:sp>
        <p:nvSpPr>
          <p:cNvPr id="14" name="TextBox 13"/>
          <p:cNvSpPr txBox="1"/>
          <p:nvPr/>
        </p:nvSpPr>
        <p:spPr>
          <a:xfrm>
            <a:off x="822960" y="4105656"/>
            <a:ext cx="2953512" cy="365760"/>
          </a:xfrm>
          <a:prstGeom prst="rect">
            <a:avLst/>
          </a:prstGeom>
          <a:noFill/>
        </p:spPr>
        <p:txBody>
          <a:bodyPr wrap="square" lIns="0" rIns="0" tIns="0" bIns="0">
            <a:spAutoFit/>
          </a:bodyPr>
          <a:lstStyle/>
          <a:p>
            <a:pPr>
              <a:spcAft>
                <a:spcPts val="800"/>
              </a:spcAft>
              <a:defRPr sz="1200" b="0">
                <a:solidFill>
                  <a:srgbClr val="626752"/>
                </a:solidFill>
                <a:latin typeface="Segoe UI"/>
              </a:defRPr>
            </a:pPr>
            <a:r>
              <a:t>18 routes across light and dark</a:t>
            </a:r>
          </a:p>
        </p:txBody>
      </p:sp>
      <p:sp>
        <p:nvSpPr>
          <p:cNvPr id="15" name="Rounded Rectangle 14"/>
          <p:cNvSpPr/>
          <p:nvPr/>
        </p:nvSpPr>
        <p:spPr>
          <a:xfrm>
            <a:off x="4370832" y="2331720"/>
            <a:ext cx="3456432" cy="231343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9432" y="2532888"/>
            <a:ext cx="2834640" cy="868680"/>
          </a:xfrm>
          <a:prstGeom prst="rect">
            <a:avLst/>
          </a:prstGeom>
          <a:noFill/>
        </p:spPr>
        <p:txBody>
          <a:bodyPr wrap="square" lIns="0" rIns="0" tIns="0" bIns="0">
            <a:spAutoFit/>
          </a:bodyPr>
          <a:lstStyle/>
          <a:p>
            <a:pPr>
              <a:spcAft>
                <a:spcPts val="800"/>
              </a:spcAft>
              <a:defRPr sz="5200" b="1">
                <a:solidFill>
                  <a:srgbClr val="5C6936"/>
                </a:solidFill>
                <a:latin typeface="Segoe UI"/>
              </a:defRPr>
            </a:pPr>
            <a:r>
              <a:t>19</a:t>
            </a:r>
          </a:p>
        </p:txBody>
      </p:sp>
      <p:sp>
        <p:nvSpPr>
          <p:cNvPr id="17" name="TextBox 16"/>
          <p:cNvSpPr txBox="1"/>
          <p:nvPr/>
        </p:nvSpPr>
        <p:spPr>
          <a:xfrm>
            <a:off x="4599432" y="3575304"/>
            <a:ext cx="2926080" cy="365760"/>
          </a:xfrm>
          <a:prstGeom prst="rect">
            <a:avLst/>
          </a:prstGeom>
          <a:noFill/>
        </p:spPr>
        <p:txBody>
          <a:bodyPr wrap="square" lIns="0" rIns="0" tIns="0" bIns="0">
            <a:spAutoFit/>
          </a:bodyPr>
          <a:lstStyle/>
          <a:p>
            <a:pPr>
              <a:spcAft>
                <a:spcPts val="800"/>
              </a:spcAft>
              <a:defRPr sz="2000" b="1">
                <a:solidFill>
                  <a:srgbClr val="2D3424"/>
                </a:solidFill>
                <a:latin typeface="Segoe UI"/>
              </a:defRPr>
            </a:pPr>
            <a:r>
              <a:t>interaction checks</a:t>
            </a:r>
          </a:p>
        </p:txBody>
      </p:sp>
      <p:sp>
        <p:nvSpPr>
          <p:cNvPr id="18" name="TextBox 17"/>
          <p:cNvSpPr txBox="1"/>
          <p:nvPr/>
        </p:nvSpPr>
        <p:spPr>
          <a:xfrm>
            <a:off x="4599432" y="4105656"/>
            <a:ext cx="2953512" cy="365760"/>
          </a:xfrm>
          <a:prstGeom prst="rect">
            <a:avLst/>
          </a:prstGeom>
          <a:noFill/>
        </p:spPr>
        <p:txBody>
          <a:bodyPr wrap="square" lIns="0" rIns="0" tIns="0" bIns="0">
            <a:spAutoFit/>
          </a:bodyPr>
          <a:lstStyle/>
          <a:p>
            <a:pPr>
              <a:spcAft>
                <a:spcPts val="800"/>
              </a:spcAft>
              <a:defRPr sz="1200" b="0">
                <a:solidFill>
                  <a:srgbClr val="626752"/>
                </a:solidFill>
                <a:latin typeface="Segoe UI"/>
              </a:defRPr>
            </a:pPr>
            <a:r>
              <a:t>Keyboard, charts, dialogs and more</a:t>
            </a:r>
          </a:p>
        </p:txBody>
      </p:sp>
      <p:sp>
        <p:nvSpPr>
          <p:cNvPr id="19" name="Rounded Rectangle 18"/>
          <p:cNvSpPr/>
          <p:nvPr/>
        </p:nvSpPr>
        <p:spPr>
          <a:xfrm>
            <a:off x="8138160" y="2331720"/>
            <a:ext cx="3456432" cy="231343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2532888"/>
            <a:ext cx="2834640" cy="868680"/>
          </a:xfrm>
          <a:prstGeom prst="rect">
            <a:avLst/>
          </a:prstGeom>
          <a:noFill/>
        </p:spPr>
        <p:txBody>
          <a:bodyPr wrap="square" lIns="0" rIns="0" tIns="0" bIns="0">
            <a:spAutoFit/>
          </a:bodyPr>
          <a:lstStyle/>
          <a:p>
            <a:pPr>
              <a:spcAft>
                <a:spcPts val="800"/>
              </a:spcAft>
              <a:defRPr sz="5200" b="1">
                <a:solidFill>
                  <a:srgbClr val="5C6936"/>
                </a:solidFill>
                <a:latin typeface="Segoe UI"/>
              </a:defRPr>
            </a:pPr>
            <a:r>
              <a:t>18</a:t>
            </a:r>
          </a:p>
        </p:txBody>
      </p:sp>
      <p:sp>
        <p:nvSpPr>
          <p:cNvPr id="21" name="TextBox 20"/>
          <p:cNvSpPr txBox="1"/>
          <p:nvPr/>
        </p:nvSpPr>
        <p:spPr>
          <a:xfrm>
            <a:off x="8366760" y="3575304"/>
            <a:ext cx="2926080" cy="365760"/>
          </a:xfrm>
          <a:prstGeom prst="rect">
            <a:avLst/>
          </a:prstGeom>
          <a:noFill/>
        </p:spPr>
        <p:txBody>
          <a:bodyPr wrap="square" lIns="0" rIns="0" tIns="0" bIns="0">
            <a:spAutoFit/>
          </a:bodyPr>
          <a:lstStyle/>
          <a:p>
            <a:pPr>
              <a:spcAft>
                <a:spcPts val="800"/>
              </a:spcAft>
              <a:defRPr sz="2000" b="1">
                <a:solidFill>
                  <a:srgbClr val="2D3424"/>
                </a:solidFill>
                <a:latin typeface="Segoe UI"/>
              </a:defRPr>
            </a:pPr>
            <a:r>
              <a:t>mobile routes</a:t>
            </a:r>
          </a:p>
        </p:txBody>
      </p:sp>
      <p:sp>
        <p:nvSpPr>
          <p:cNvPr id="22" name="TextBox 21"/>
          <p:cNvSpPr txBox="1"/>
          <p:nvPr/>
        </p:nvSpPr>
        <p:spPr>
          <a:xfrm>
            <a:off x="8366760" y="4105656"/>
            <a:ext cx="2953512" cy="365760"/>
          </a:xfrm>
          <a:prstGeom prst="rect">
            <a:avLst/>
          </a:prstGeom>
          <a:noFill/>
        </p:spPr>
        <p:txBody>
          <a:bodyPr wrap="square" lIns="0" rIns="0" tIns="0" bIns="0">
            <a:spAutoFit/>
          </a:bodyPr>
          <a:lstStyle/>
          <a:p>
            <a:pPr>
              <a:spcAft>
                <a:spcPts val="800"/>
              </a:spcAft>
              <a:defRPr sz="1200" b="0">
                <a:solidFill>
                  <a:srgbClr val="626752"/>
                </a:solidFill>
                <a:latin typeface="Segoe UI"/>
              </a:defRPr>
            </a:pPr>
            <a:r>
              <a:t>390 px viewport layout checks</a:t>
            </a:r>
          </a:p>
        </p:txBody>
      </p:sp>
      <p:sp>
        <p:nvSpPr>
          <p:cNvPr id="23" name="Rounded Rectangle 22"/>
          <p:cNvSpPr/>
          <p:nvPr/>
        </p:nvSpPr>
        <p:spPr>
          <a:xfrm>
            <a:off x="594360" y="4983480"/>
            <a:ext cx="7059168" cy="886968"/>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166360"/>
            <a:ext cx="6583680" cy="594360"/>
          </a:xfrm>
          <a:prstGeom prst="rect">
            <a:avLst/>
          </a:prstGeom>
          <a:noFill/>
        </p:spPr>
        <p:txBody>
          <a:bodyPr wrap="square" lIns="0" rIns="0" tIns="0" bIns="0">
            <a:spAutoFit/>
          </a:bodyPr>
          <a:lstStyle/>
          <a:p>
            <a:pPr>
              <a:spcAft>
                <a:spcPts val="800"/>
              </a:spcAft>
              <a:defRPr sz="1600" b="1">
                <a:solidFill>
                  <a:srgbClr val="5C6936"/>
                </a:solidFill>
                <a:latin typeface="Segoe UI"/>
              </a:defRPr>
            </a:pPr>
            <a:r>
              <a:t>Production frontend build passed.</a:t>
            </a:r>
          </a:p>
          <a:p>
            <a:pPr>
              <a:spcAft>
                <a:spcPts val="800"/>
              </a:spcAft>
              <a:defRPr sz="1600" b="1">
                <a:solidFill>
                  <a:srgbClr val="5C6936"/>
                </a:solidFill>
                <a:latin typeface="Segoe UI"/>
              </a:defRPr>
            </a:pPr>
            <a:r>
              <a:t>Automated accessibility scans reported zero violations.</a:t>
            </a:r>
          </a:p>
        </p:txBody>
      </p:sp>
      <p:sp>
        <p:nvSpPr>
          <p:cNvPr id="25" name="TextBox 24"/>
          <p:cNvSpPr txBox="1"/>
          <p:nvPr/>
        </p:nvSpPr>
        <p:spPr>
          <a:xfrm>
            <a:off x="8183879" y="5047488"/>
            <a:ext cx="3337560" cy="822960"/>
          </a:xfrm>
          <a:prstGeom prst="rect">
            <a:avLst/>
          </a:prstGeom>
          <a:noFill/>
        </p:spPr>
        <p:txBody>
          <a:bodyPr wrap="square" lIns="0" rIns="0" tIns="0" bIns="0">
            <a:spAutoFit/>
          </a:bodyPr>
          <a:lstStyle/>
          <a:p>
            <a:pPr>
              <a:spcAft>
                <a:spcPts val="800"/>
              </a:spcAft>
              <a:defRPr sz="1500" b="0">
                <a:solidFill>
                  <a:srgbClr val="626752"/>
                </a:solidFill>
                <a:latin typeface="Segoe UI"/>
              </a:defRPr>
            </a:pPr>
            <a:r>
              <a:t>Still to validate: production Oracle, end-to-end business flows, load and recovery.</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93121"/>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CCD79E"/>
                </a:solidFill>
                <a:latin typeface="Segoe UI"/>
              </a:defRPr>
            </a:pPr>
            <a:r>
              <a:t>HRGenius  /  YOUR TURN</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FFFFFF"/>
                </a:solidFill>
                <a:latin typeface="Segoe UI"/>
              </a:defRPr>
            </a:pPr>
            <a:r>
              <a:t>Pick a 30-second moment.</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CCD79E"/>
                </a:solidFill>
                <a:latin typeface="Segoe UI"/>
              </a:defRPr>
            </a:pPr>
            <a:r>
              <a:t>Choose an offline tour, or open the running project for a live demonstration.</a:t>
            </a:r>
          </a:p>
        </p:txBody>
      </p:sp>
      <p:sp>
        <p:nvSpPr>
          <p:cNvPr id="5" name="Rectangle 4"/>
          <p:cNvSpPr/>
          <p:nvPr/>
        </p:nvSpPr>
        <p:spPr>
          <a:xfrm>
            <a:off x="502920" y="6364224"/>
            <a:ext cx="11155680" cy="10972"/>
          </a:xfrm>
          <a:prstGeom prst="rect">
            <a:avLst/>
          </a:prstGeom>
          <a:solidFill>
            <a:srgbClr val="5C6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CCD79E"/>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CCD79E"/>
                </a:solidFill>
                <a:latin typeface="Segoe UI"/>
              </a:defRPr>
            </a:pPr>
            <a:r>
              <a:t>10</a:t>
            </a:r>
          </a:p>
        </p:txBody>
      </p:sp>
      <p:sp>
        <p:nvSpPr>
          <p:cNvPr id="11" name="Rounded Rectangle 10">
            <a:hlinkClick action="ppaction://hlinksldjump" r:id="rId5"/>
          </p:cNvPr>
          <p:cNvSpPr/>
          <p:nvPr/>
        </p:nvSpPr>
        <p:spPr>
          <a:xfrm>
            <a:off x="594360" y="2286000"/>
            <a:ext cx="3456432" cy="2697480"/>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450592"/>
            <a:ext cx="305409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01 / EXPLORE</a:t>
            </a:r>
          </a:p>
        </p:txBody>
      </p:sp>
      <p:sp>
        <p:nvSpPr>
          <p:cNvPr id="13" name="TextBox 12">
            <a:hlinkClick action="ppaction://hlinksldjump" r:id="rId5"/>
          </p:cNvPr>
          <p:cNvSpPr txBox="1"/>
          <p:nvPr/>
        </p:nvSpPr>
        <p:spPr>
          <a:xfrm>
            <a:off x="795528" y="2871216"/>
            <a:ext cx="305409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Find the signal</a:t>
            </a:r>
          </a:p>
        </p:txBody>
      </p:sp>
      <p:sp>
        <p:nvSpPr>
          <p:cNvPr id="14" name="TextBox 13">
            <a:hlinkClick action="ppaction://hlinksldjump" r:id="rId5"/>
          </p:cNvPr>
          <p:cNvSpPr txBox="1"/>
          <p:nvPr/>
        </p:nvSpPr>
        <p:spPr>
          <a:xfrm>
            <a:off x="795528" y="3429000"/>
            <a:ext cx="3054096" cy="1463040"/>
          </a:xfrm>
          <a:prstGeom prst="rect">
            <a:avLst/>
          </a:prstGeom>
          <a:noFill/>
        </p:spPr>
        <p:txBody>
          <a:bodyPr wrap="square" lIns="0" rIns="0" tIns="0" bIns="0">
            <a:spAutoFit/>
          </a:bodyPr>
          <a:lstStyle/>
          <a:p>
            <a:pPr>
              <a:spcAft>
                <a:spcPts val="800"/>
              </a:spcAft>
              <a:defRPr sz="1500" b="0">
                <a:solidFill>
                  <a:srgbClr val="626752"/>
                </a:solidFill>
                <a:latin typeface="Segoe UI"/>
              </a:defRPr>
            </a:pPr>
            <a:r>
              <a:t>Change a chart period.</a:t>
            </a:r>
          </a:p>
          <a:p>
            <a:pPr>
              <a:spcAft>
                <a:spcPts val="800"/>
              </a:spcAft>
              <a:defRPr sz="1500" b="0">
                <a:solidFill>
                  <a:srgbClr val="626752"/>
                </a:solidFill>
                <a:latin typeface="Segoe UI"/>
              </a:defRPr>
            </a:pPr>
            <a:r>
              <a:t>Read the exact values.</a:t>
            </a:r>
          </a:p>
        </p:txBody>
      </p:sp>
      <p:sp>
        <p:nvSpPr>
          <p:cNvPr id="15" name="Rounded Rectangle 14">
            <a:hlinkClick action="ppaction://hlinksldjump" r:id="rId5"/>
          </p:cNvPr>
          <p:cNvSpPr/>
          <p:nvPr/>
        </p:nvSpPr>
        <p:spPr>
          <a:xfrm>
            <a:off x="594360" y="5184648"/>
            <a:ext cx="1655064" cy="402336"/>
          </a:xfrm>
          <a:prstGeom prst="roundRect">
            <a:avLst>
              <a:gd name="adj" fmla="val 13000"/>
            </a:avLst>
          </a:prstGeom>
          <a:solidFill>
            <a:srgbClr val="CCD79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Slide tour  →</a:t>
            </a:r>
          </a:p>
        </p:txBody>
      </p:sp>
      <p:sp>
        <p:nvSpPr>
          <p:cNvPr id="16" name="Rounded Rectangle 15">
            <a:hlinkClick r:id="rId6"/>
          </p:cNvPr>
          <p:cNvSpPr/>
          <p:nvPr/>
        </p:nvSpPr>
        <p:spPr>
          <a:xfrm>
            <a:off x="2404872" y="5184648"/>
            <a:ext cx="1645920" cy="40233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Open app  ↗</a:t>
            </a:r>
          </a:p>
        </p:txBody>
      </p:sp>
      <p:sp>
        <p:nvSpPr>
          <p:cNvPr id="17" name="Rounded Rectangle 16">
            <a:hlinkClick action="ppaction://hlinksldjump" r:id="rId7"/>
          </p:cNvPr>
          <p:cNvSpPr/>
          <p:nvPr/>
        </p:nvSpPr>
        <p:spPr>
          <a:xfrm>
            <a:off x="4370832" y="2286000"/>
            <a:ext cx="3456432" cy="2697480"/>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450592"/>
            <a:ext cx="305409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02 / APPRECIATE</a:t>
            </a:r>
          </a:p>
        </p:txBody>
      </p:sp>
      <p:sp>
        <p:nvSpPr>
          <p:cNvPr id="19" name="TextBox 18">
            <a:hlinkClick action="ppaction://hlinksldjump" r:id="rId7"/>
          </p:cNvPr>
          <p:cNvSpPr txBox="1"/>
          <p:nvPr/>
        </p:nvSpPr>
        <p:spPr>
          <a:xfrm>
            <a:off x="4572000" y="2871216"/>
            <a:ext cx="305409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Make someone’s day</a:t>
            </a:r>
          </a:p>
        </p:txBody>
      </p:sp>
      <p:sp>
        <p:nvSpPr>
          <p:cNvPr id="20" name="TextBox 19">
            <a:hlinkClick action="ppaction://hlinksldjump" r:id="rId7"/>
          </p:cNvPr>
          <p:cNvSpPr txBox="1"/>
          <p:nvPr/>
        </p:nvSpPr>
        <p:spPr>
          <a:xfrm>
            <a:off x="4572000" y="3429000"/>
            <a:ext cx="3054096" cy="1463040"/>
          </a:xfrm>
          <a:prstGeom prst="rect">
            <a:avLst/>
          </a:prstGeom>
          <a:noFill/>
        </p:spPr>
        <p:txBody>
          <a:bodyPr wrap="square" lIns="0" rIns="0" tIns="0" bIns="0">
            <a:spAutoFit/>
          </a:bodyPr>
          <a:lstStyle/>
          <a:p>
            <a:pPr>
              <a:spcAft>
                <a:spcPts val="800"/>
              </a:spcAft>
              <a:defRPr sz="1500" b="0">
                <a:solidFill>
                  <a:srgbClr val="626752"/>
                </a:solidFill>
                <a:latin typeface="Segoe UI"/>
              </a:defRPr>
            </a:pPr>
            <a:r>
              <a:t>Open the praise wall.</a:t>
            </a:r>
          </a:p>
          <a:p>
            <a:pPr>
              <a:spcAft>
                <a:spcPts val="800"/>
              </a:spcAft>
              <a:defRPr sz="1500" b="0">
                <a:solidFill>
                  <a:srgbClr val="626752"/>
                </a:solidFill>
                <a:latin typeface="Segoe UI"/>
              </a:defRPr>
            </a:pPr>
            <a:r>
              <a:t>Show the shoutout form.</a:t>
            </a:r>
          </a:p>
        </p:txBody>
      </p:sp>
      <p:sp>
        <p:nvSpPr>
          <p:cNvPr id="21" name="Rounded Rectangle 20">
            <a:hlinkClick action="ppaction://hlinksldjump" r:id="rId7"/>
          </p:cNvPr>
          <p:cNvSpPr/>
          <p:nvPr/>
        </p:nvSpPr>
        <p:spPr>
          <a:xfrm>
            <a:off x="4370832" y="5184648"/>
            <a:ext cx="1655064" cy="402336"/>
          </a:xfrm>
          <a:prstGeom prst="roundRect">
            <a:avLst>
              <a:gd name="adj" fmla="val 13000"/>
            </a:avLst>
          </a:prstGeom>
          <a:solidFill>
            <a:srgbClr val="CCD79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Slide tour  →</a:t>
            </a:r>
          </a:p>
        </p:txBody>
      </p:sp>
      <p:sp>
        <p:nvSpPr>
          <p:cNvPr id="22" name="Rounded Rectangle 21">
            <a:hlinkClick r:id="rId8"/>
          </p:cNvPr>
          <p:cNvSpPr/>
          <p:nvPr/>
        </p:nvSpPr>
        <p:spPr>
          <a:xfrm>
            <a:off x="6181344" y="5184648"/>
            <a:ext cx="1645920" cy="40233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Open app  ↗</a:t>
            </a:r>
          </a:p>
        </p:txBody>
      </p:sp>
      <p:sp>
        <p:nvSpPr>
          <p:cNvPr id="23" name="Rounded Rectangle 22">
            <a:hlinkClick action="ppaction://hlinksldjump" r:id="rId4"/>
          </p:cNvPr>
          <p:cNvSpPr/>
          <p:nvPr/>
        </p:nvSpPr>
        <p:spPr>
          <a:xfrm>
            <a:off x="8138160" y="2286000"/>
            <a:ext cx="3456432" cy="2697480"/>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9328" y="2450592"/>
            <a:ext cx="305409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03 / PERSONALIZE</a:t>
            </a:r>
          </a:p>
        </p:txBody>
      </p:sp>
      <p:sp>
        <p:nvSpPr>
          <p:cNvPr id="25" name="TextBox 24">
            <a:hlinkClick action="ppaction://hlinksldjump" r:id="rId4"/>
          </p:cNvPr>
          <p:cNvSpPr txBox="1"/>
          <p:nvPr/>
        </p:nvSpPr>
        <p:spPr>
          <a:xfrm>
            <a:off x="8339328" y="2871216"/>
            <a:ext cx="305409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Set the mood</a:t>
            </a:r>
          </a:p>
        </p:txBody>
      </p:sp>
      <p:sp>
        <p:nvSpPr>
          <p:cNvPr id="26" name="TextBox 25">
            <a:hlinkClick action="ppaction://hlinksldjump" r:id="rId4"/>
          </p:cNvPr>
          <p:cNvSpPr txBox="1"/>
          <p:nvPr/>
        </p:nvSpPr>
        <p:spPr>
          <a:xfrm>
            <a:off x="8339328" y="3429000"/>
            <a:ext cx="3054096" cy="1463040"/>
          </a:xfrm>
          <a:prstGeom prst="rect">
            <a:avLst/>
          </a:prstGeom>
          <a:noFill/>
        </p:spPr>
        <p:txBody>
          <a:bodyPr wrap="square" lIns="0" rIns="0" tIns="0" bIns="0">
            <a:spAutoFit/>
          </a:bodyPr>
          <a:lstStyle/>
          <a:p>
            <a:pPr>
              <a:spcAft>
                <a:spcPts val="800"/>
              </a:spcAft>
              <a:defRPr sz="1500" b="0">
                <a:solidFill>
                  <a:srgbClr val="626752"/>
                </a:solidFill>
                <a:latin typeface="Segoe UI"/>
              </a:defRPr>
            </a:pPr>
            <a:r>
              <a:t>Compare olive + white</a:t>
            </a:r>
          </a:p>
          <a:p>
            <a:pPr>
              <a:spcAft>
                <a:spcPts val="800"/>
              </a:spcAft>
              <a:defRPr sz="1500" b="0">
                <a:solidFill>
                  <a:srgbClr val="626752"/>
                </a:solidFill>
                <a:latin typeface="Segoe UI"/>
              </a:defRPr>
            </a:pPr>
            <a:r>
              <a:t>with the dark theme.</a:t>
            </a:r>
          </a:p>
        </p:txBody>
      </p:sp>
      <p:sp>
        <p:nvSpPr>
          <p:cNvPr id="27" name="Rounded Rectangle 26">
            <a:hlinkClick action="ppaction://hlinksldjump" r:id="rId4"/>
          </p:cNvPr>
          <p:cNvSpPr/>
          <p:nvPr/>
        </p:nvSpPr>
        <p:spPr>
          <a:xfrm>
            <a:off x="8138160" y="5184648"/>
            <a:ext cx="1655064" cy="402336"/>
          </a:xfrm>
          <a:prstGeom prst="roundRect">
            <a:avLst>
              <a:gd name="adj" fmla="val 13000"/>
            </a:avLst>
          </a:prstGeom>
          <a:solidFill>
            <a:srgbClr val="CCD79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Slide tour  →</a:t>
            </a:r>
          </a:p>
        </p:txBody>
      </p:sp>
      <p:sp>
        <p:nvSpPr>
          <p:cNvPr id="28" name="Rounded Rectangle 27">
            <a:hlinkClick r:id="rId9"/>
          </p:cNvPr>
          <p:cNvSpPr/>
          <p:nvPr/>
        </p:nvSpPr>
        <p:spPr>
          <a:xfrm>
            <a:off x="9948672" y="5184648"/>
            <a:ext cx="1645920" cy="40233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Open app  ↗</a:t>
            </a:r>
          </a:p>
        </p:txBody>
      </p:sp>
      <p:sp>
        <p:nvSpPr>
          <p:cNvPr id="29" name="TextBox 28"/>
          <p:cNvSpPr txBox="1"/>
          <p:nvPr/>
        </p:nvSpPr>
        <p:spPr>
          <a:xfrm>
            <a:off x="640080" y="5833872"/>
            <a:ext cx="10972800" cy="320040"/>
          </a:xfrm>
          <a:prstGeom prst="rect">
            <a:avLst/>
          </a:prstGeom>
          <a:noFill/>
        </p:spPr>
        <p:txBody>
          <a:bodyPr wrap="square" lIns="0" rIns="0" tIns="0" bIns="0">
            <a:spAutoFit/>
          </a:bodyPr>
          <a:lstStyle/>
          <a:p>
            <a:pPr>
              <a:spcAft>
                <a:spcPts val="800"/>
              </a:spcAft>
              <a:defRPr sz="1200" b="0">
                <a:solidFill>
                  <a:srgbClr val="CCD79E"/>
                </a:solidFill>
                <a:latin typeface="Segoe UI"/>
              </a:defRPr>
            </a:pPr>
            <a:r>
              <a:t>Live links need the local app and an authorized account. Offline slide tours work without a server.</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93121"/>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CCD79E"/>
                </a:solidFill>
                <a:latin typeface="Segoe UI"/>
              </a:defRPr>
            </a:pPr>
            <a:r>
              <a:t>HRGenius  /  THEME COMPARISON</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FFFFFF"/>
                </a:solidFill>
                <a:latin typeface="Segoe UI"/>
              </a:defRPr>
            </a:pPr>
            <a:r>
              <a:t>Same workspace. A softer evening view.</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CCD79E"/>
                </a:solidFill>
                <a:latin typeface="Segoe UI"/>
              </a:defRPr>
            </a:pPr>
            <a:r>
              <a:t>Dark mode preserves hierarchy, contrast and a visible way back to light.</a:t>
            </a:r>
          </a:p>
        </p:txBody>
      </p:sp>
      <p:sp>
        <p:nvSpPr>
          <p:cNvPr id="5" name="Rectangle 4"/>
          <p:cNvSpPr/>
          <p:nvPr/>
        </p:nvSpPr>
        <p:spPr>
          <a:xfrm>
            <a:off x="502920" y="6364224"/>
            <a:ext cx="11155680" cy="10972"/>
          </a:xfrm>
          <a:prstGeom prst="rect">
            <a:avLst/>
          </a:prstGeom>
          <a:solidFill>
            <a:srgbClr val="5C6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CCD79E"/>
                </a:solidFill>
                <a:latin typeface="Segoe UI"/>
              </a:defRPr>
            </a:pPr>
            <a:r>
              <a:t>A LITTLE MORE HUMAN.   •   OPTIONAL DEEP DIVE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CCD79E"/>
                </a:solidFill>
                <a:latin typeface="Segoe UI"/>
              </a:defRPr>
            </a:pPr>
            <a:r>
              <a:t>11</a:t>
            </a:r>
          </a:p>
        </p:txBody>
      </p:sp>
      <p:pic>
        <p:nvPicPr>
          <p:cNvPr id="11" name="Picture 10" descr="ui-dashboard-dark.png"/>
          <p:cNvPicPr>
            <a:picLocks noChangeAspect="1"/>
          </p:cNvPicPr>
          <p:nvPr/>
        </p:nvPicPr>
        <p:blipFill>
          <a:blip r:embed="rId5"/>
          <a:stretch>
            <a:fillRect/>
          </a:stretch>
        </p:blipFill>
        <p:spPr>
          <a:xfrm>
            <a:off x="1624366" y="2148840"/>
            <a:ext cx="5392347" cy="3931920"/>
          </a:xfrm>
          <a:prstGeom prst="rect">
            <a:avLst/>
          </a:prstGeom>
        </p:spPr>
      </p:pic>
      <p:sp>
        <p:nvSpPr>
          <p:cNvPr id="12" name="TextBox 11"/>
          <p:cNvSpPr txBox="1"/>
          <p:nvPr/>
        </p:nvSpPr>
        <p:spPr>
          <a:xfrm>
            <a:off x="8247888" y="2404872"/>
            <a:ext cx="3291840" cy="457200"/>
          </a:xfrm>
          <a:prstGeom prst="rect">
            <a:avLst/>
          </a:prstGeom>
          <a:noFill/>
        </p:spPr>
        <p:txBody>
          <a:bodyPr wrap="square" lIns="0" rIns="0" tIns="0" bIns="0">
            <a:spAutoFit/>
          </a:bodyPr>
          <a:lstStyle/>
          <a:p>
            <a:pPr>
              <a:spcAft>
                <a:spcPts val="800"/>
              </a:spcAft>
              <a:defRPr sz="2300" b="1">
                <a:solidFill>
                  <a:srgbClr val="FFFFFF"/>
                </a:solidFill>
                <a:latin typeface="Segoe UI"/>
              </a:defRPr>
            </a:pPr>
            <a:r>
              <a:t>Intentional contrast</a:t>
            </a:r>
          </a:p>
        </p:txBody>
      </p:sp>
      <p:sp>
        <p:nvSpPr>
          <p:cNvPr id="13" name="TextBox 12"/>
          <p:cNvSpPr txBox="1"/>
          <p:nvPr/>
        </p:nvSpPr>
        <p:spPr>
          <a:xfrm>
            <a:off x="8247888" y="3145536"/>
            <a:ext cx="3154680" cy="1645920"/>
          </a:xfrm>
          <a:prstGeom prst="rect">
            <a:avLst/>
          </a:prstGeom>
          <a:noFill/>
        </p:spPr>
        <p:txBody>
          <a:bodyPr wrap="square" lIns="0" rIns="0" tIns="0" bIns="0">
            <a:spAutoFit/>
          </a:bodyPr>
          <a:lstStyle/>
          <a:p>
            <a:pPr>
              <a:spcAft>
                <a:spcPts val="800"/>
              </a:spcAft>
              <a:defRPr sz="1800" b="0">
                <a:solidFill>
                  <a:srgbClr val="CCD79E"/>
                </a:solidFill>
                <a:latin typeface="Segoe UI"/>
              </a:defRPr>
            </a:pPr>
            <a:r>
              <a:t>Deep olive surfaces</a:t>
            </a:r>
          </a:p>
          <a:p>
            <a:pPr>
              <a:spcAft>
                <a:spcPts val="800"/>
              </a:spcAft>
              <a:defRPr sz="1800" b="0">
                <a:solidFill>
                  <a:srgbClr val="CCD79E"/>
                </a:solidFill>
                <a:latin typeface="Segoe UI"/>
              </a:defRPr>
            </a:pPr>
            <a:r>
              <a:t>Pale olive primary actions</a:t>
            </a:r>
          </a:p>
          <a:p>
            <a:pPr>
              <a:spcAft>
                <a:spcPts val="800"/>
              </a:spcAft>
              <a:defRPr sz="1800" b="0">
                <a:solidFill>
                  <a:srgbClr val="CCD79E"/>
                </a:solidFill>
                <a:latin typeface="Segoe UI"/>
              </a:defRPr>
            </a:pPr>
            <a:r>
              <a:t>Readable labels and borders</a:t>
            </a:r>
          </a:p>
          <a:p>
            <a:pPr>
              <a:spcAft>
                <a:spcPts val="800"/>
              </a:spcAft>
              <a:defRPr sz="1800" b="0">
                <a:solidFill>
                  <a:srgbClr val="CCD79E"/>
                </a:solidFill>
                <a:latin typeface="Segoe UI"/>
              </a:defRPr>
            </a:pPr>
            <a:r>
              <a:t>A remembered preference</a:t>
            </a:r>
          </a:p>
        </p:txBody>
      </p:sp>
      <p:sp>
        <p:nvSpPr>
          <p:cNvPr id="14" name="Rounded Rectangle 13">
            <a:hlinkClick action="ppaction://hlinksldjump" r:id="rId6"/>
          </p:cNvPr>
          <p:cNvSpPr/>
          <p:nvPr/>
        </p:nvSpPr>
        <p:spPr>
          <a:xfrm>
            <a:off x="8247888" y="5266944"/>
            <a:ext cx="3200400" cy="402336"/>
          </a:xfrm>
          <a:prstGeom prst="roundRect">
            <a:avLst>
              <a:gd name="adj" fmla="val 13000"/>
            </a:avLst>
          </a:prstGeom>
          <a:solidFill>
            <a:srgbClr val="CCD79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Return to olive + white  →</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FUNCTIONAL + API REFERENCE</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The complete scope, grouped for review.</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All API roots below are prefixed with /api/v1. Full method contracts live in the controllers / OpenAPI.</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OPTIONAL DEEP DIVE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12</a:t>
            </a:r>
          </a:p>
        </p:txBody>
      </p:sp>
      <p:sp>
        <p:nvSpPr>
          <p:cNvPr id="11" name="Rounded Rectangle 10"/>
          <p:cNvSpPr/>
          <p:nvPr/>
        </p:nvSpPr>
        <p:spPr>
          <a:xfrm>
            <a:off x="594360" y="2148840"/>
            <a:ext cx="5431536" cy="181965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295144"/>
            <a:ext cx="5029200" cy="274320"/>
          </a:xfrm>
          <a:prstGeom prst="rect">
            <a:avLst/>
          </a:prstGeom>
          <a:noFill/>
        </p:spPr>
        <p:txBody>
          <a:bodyPr wrap="square" lIns="0" rIns="0" tIns="0" bIns="0">
            <a:spAutoFit/>
          </a:bodyPr>
          <a:lstStyle/>
          <a:p>
            <a:pPr>
              <a:spcAft>
                <a:spcPts val="800"/>
              </a:spcAft>
              <a:defRPr sz="1100" b="1">
                <a:solidFill>
                  <a:srgbClr val="5C6936"/>
                </a:solidFill>
                <a:latin typeface="Segoe UI"/>
              </a:defRPr>
            </a:pPr>
            <a:r>
              <a:t>PEOPLE &amp; ORGANIZATION</a:t>
            </a:r>
          </a:p>
        </p:txBody>
      </p:sp>
      <p:sp>
        <p:nvSpPr>
          <p:cNvPr id="13" name="TextBox 12"/>
          <p:cNvSpPr txBox="1"/>
          <p:nvPr/>
        </p:nvSpPr>
        <p:spPr>
          <a:xfrm>
            <a:off x="795528" y="2660904"/>
            <a:ext cx="5029200" cy="548640"/>
          </a:xfrm>
          <a:prstGeom prst="rect">
            <a:avLst/>
          </a:prstGeom>
          <a:noFill/>
        </p:spPr>
        <p:txBody>
          <a:bodyPr wrap="square" lIns="0" rIns="0" tIns="0" bIns="0">
            <a:spAutoFit/>
          </a:bodyPr>
          <a:lstStyle/>
          <a:p>
            <a:pPr>
              <a:spcAft>
                <a:spcPts val="800"/>
              </a:spcAft>
              <a:defRPr sz="1600" b="1">
                <a:solidFill>
                  <a:srgbClr val="2D3424"/>
                </a:solidFill>
                <a:latin typeface="Segoe UI"/>
              </a:defRPr>
            </a:pPr>
            <a:r>
              <a:t>/employees · /org · /org-chart</a:t>
            </a:r>
          </a:p>
          <a:p>
            <a:pPr>
              <a:spcAft>
                <a:spcPts val="800"/>
              </a:spcAft>
              <a:defRPr sz="1600" b="1">
                <a:solidFill>
                  <a:srgbClr val="2D3424"/>
                </a:solidFill>
                <a:latin typeface="Segoe UI"/>
              </a:defRPr>
            </a:pPr>
            <a:r>
              <a:t>/documents · /assets · /me</a:t>
            </a:r>
          </a:p>
        </p:txBody>
      </p:sp>
      <p:sp>
        <p:nvSpPr>
          <p:cNvPr id="14" name="TextBox 13"/>
          <p:cNvSpPr txBox="1"/>
          <p:nvPr/>
        </p:nvSpPr>
        <p:spPr>
          <a:xfrm>
            <a:off x="795528" y="3337560"/>
            <a:ext cx="5029200" cy="530352"/>
          </a:xfrm>
          <a:prstGeom prst="rect">
            <a:avLst/>
          </a:prstGeom>
          <a:noFill/>
        </p:spPr>
        <p:txBody>
          <a:bodyPr wrap="square" lIns="0" rIns="0" tIns="0" bIns="0">
            <a:spAutoFit/>
          </a:bodyPr>
          <a:lstStyle/>
          <a:p>
            <a:pPr>
              <a:spcAft>
                <a:spcPts val="800"/>
              </a:spcAft>
              <a:defRPr sz="1400" b="0">
                <a:solidFill>
                  <a:srgbClr val="626752"/>
                </a:solidFill>
                <a:latin typeface="Segoe UI"/>
              </a:defRPr>
            </a:pPr>
            <a:r>
              <a:t>Profiles, statutory data, files, reporting lines,</a:t>
            </a:r>
          </a:p>
          <a:p>
            <a:pPr>
              <a:spcAft>
                <a:spcPts val="800"/>
              </a:spcAft>
              <a:defRPr sz="1400" b="0">
                <a:solidFill>
                  <a:srgbClr val="626752"/>
                </a:solidFill>
                <a:latin typeface="Segoe UI"/>
              </a:defRPr>
            </a:pPr>
            <a:r>
              <a:t>masters, asset assignments and personal summary.</a:t>
            </a:r>
          </a:p>
        </p:txBody>
      </p:sp>
      <p:sp>
        <p:nvSpPr>
          <p:cNvPr id="15" name="Rounded Rectangle 14"/>
          <p:cNvSpPr/>
          <p:nvPr/>
        </p:nvSpPr>
        <p:spPr>
          <a:xfrm>
            <a:off x="6236208" y="2148840"/>
            <a:ext cx="5431536" cy="181965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2295144"/>
            <a:ext cx="5029200" cy="274320"/>
          </a:xfrm>
          <a:prstGeom prst="rect">
            <a:avLst/>
          </a:prstGeom>
          <a:noFill/>
        </p:spPr>
        <p:txBody>
          <a:bodyPr wrap="square" lIns="0" rIns="0" tIns="0" bIns="0">
            <a:spAutoFit/>
          </a:bodyPr>
          <a:lstStyle/>
          <a:p>
            <a:pPr>
              <a:spcAft>
                <a:spcPts val="800"/>
              </a:spcAft>
              <a:defRPr sz="1100" b="1">
                <a:solidFill>
                  <a:srgbClr val="5C6936"/>
                </a:solidFill>
                <a:latin typeface="Segoe UI"/>
              </a:defRPr>
            </a:pPr>
            <a:r>
              <a:t>TIME &amp; APPROVALS</a:t>
            </a:r>
          </a:p>
        </p:txBody>
      </p:sp>
      <p:sp>
        <p:nvSpPr>
          <p:cNvPr id="17" name="TextBox 16"/>
          <p:cNvSpPr txBox="1"/>
          <p:nvPr/>
        </p:nvSpPr>
        <p:spPr>
          <a:xfrm>
            <a:off x="6437376" y="2660904"/>
            <a:ext cx="5029200" cy="548640"/>
          </a:xfrm>
          <a:prstGeom prst="rect">
            <a:avLst/>
          </a:prstGeom>
          <a:noFill/>
        </p:spPr>
        <p:txBody>
          <a:bodyPr wrap="square" lIns="0" rIns="0" tIns="0" bIns="0">
            <a:spAutoFit/>
          </a:bodyPr>
          <a:lstStyle/>
          <a:p>
            <a:pPr>
              <a:spcAft>
                <a:spcPts val="800"/>
              </a:spcAft>
              <a:defRPr sz="1600" b="1">
                <a:solidFill>
                  <a:srgbClr val="2D3424"/>
                </a:solidFill>
                <a:latin typeface="Segoe UI"/>
              </a:defRPr>
            </a:pPr>
            <a:r>
              <a:t>/attendance · /holidays</a:t>
            </a:r>
          </a:p>
          <a:p>
            <a:pPr>
              <a:spcAft>
                <a:spcPts val="800"/>
              </a:spcAft>
              <a:defRPr sz="1600" b="1">
                <a:solidFill>
                  <a:srgbClr val="2D3424"/>
                </a:solidFill>
                <a:latin typeface="Segoe UI"/>
              </a:defRPr>
            </a:pPr>
            <a:r>
              <a:t>/leave · /approvals</a:t>
            </a:r>
          </a:p>
        </p:txBody>
      </p:sp>
      <p:sp>
        <p:nvSpPr>
          <p:cNvPr id="18" name="TextBox 17"/>
          <p:cNvSpPr txBox="1"/>
          <p:nvPr/>
        </p:nvSpPr>
        <p:spPr>
          <a:xfrm>
            <a:off x="6437376" y="3337560"/>
            <a:ext cx="5029200" cy="530352"/>
          </a:xfrm>
          <a:prstGeom prst="rect">
            <a:avLst/>
          </a:prstGeom>
          <a:noFill/>
        </p:spPr>
        <p:txBody>
          <a:bodyPr wrap="square" lIns="0" rIns="0" tIns="0" bIns="0">
            <a:spAutoFit/>
          </a:bodyPr>
          <a:lstStyle/>
          <a:p>
            <a:pPr>
              <a:spcAft>
                <a:spcPts val="800"/>
              </a:spcAft>
              <a:defRPr sz="1400" b="0">
                <a:solidFill>
                  <a:srgbClr val="626752"/>
                </a:solidFill>
                <a:latin typeface="Segoe UI"/>
              </a:defRPr>
            </a:pPr>
            <a:r>
              <a:t>Daily records, regularization, calendars, balances,</a:t>
            </a:r>
          </a:p>
          <a:p>
            <a:pPr>
              <a:spcAft>
                <a:spcPts val="800"/>
              </a:spcAft>
              <a:defRPr sz="1400" b="0">
                <a:solidFill>
                  <a:srgbClr val="626752"/>
                </a:solidFill>
                <a:latin typeface="Segoe UI"/>
              </a:defRPr>
            </a:pPr>
            <a:r>
              <a:t>requests, accrual and approval steps.</a:t>
            </a:r>
          </a:p>
        </p:txBody>
      </p:sp>
      <p:sp>
        <p:nvSpPr>
          <p:cNvPr id="19" name="Rounded Rectangle 18"/>
          <p:cNvSpPr/>
          <p:nvPr/>
        </p:nvSpPr>
        <p:spPr>
          <a:xfrm>
            <a:off x="594360" y="4142232"/>
            <a:ext cx="5431536" cy="181965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4288536"/>
            <a:ext cx="5029200" cy="274320"/>
          </a:xfrm>
          <a:prstGeom prst="rect">
            <a:avLst/>
          </a:prstGeom>
          <a:noFill/>
        </p:spPr>
        <p:txBody>
          <a:bodyPr wrap="square" lIns="0" rIns="0" tIns="0" bIns="0">
            <a:spAutoFit/>
          </a:bodyPr>
          <a:lstStyle/>
          <a:p>
            <a:pPr>
              <a:spcAft>
                <a:spcPts val="800"/>
              </a:spcAft>
              <a:defRPr sz="1100" b="1">
                <a:solidFill>
                  <a:srgbClr val="5C6936"/>
                </a:solidFill>
                <a:latin typeface="Segoe UI"/>
              </a:defRPr>
            </a:pPr>
            <a:r>
              <a:t>TALENT &amp; PAY</a:t>
            </a:r>
          </a:p>
        </p:txBody>
      </p:sp>
      <p:sp>
        <p:nvSpPr>
          <p:cNvPr id="21" name="TextBox 20"/>
          <p:cNvSpPr txBox="1"/>
          <p:nvPr/>
        </p:nvSpPr>
        <p:spPr>
          <a:xfrm>
            <a:off x="795528" y="4654296"/>
            <a:ext cx="5029200" cy="548640"/>
          </a:xfrm>
          <a:prstGeom prst="rect">
            <a:avLst/>
          </a:prstGeom>
          <a:noFill/>
        </p:spPr>
        <p:txBody>
          <a:bodyPr wrap="square" lIns="0" rIns="0" tIns="0" bIns="0">
            <a:spAutoFit/>
          </a:bodyPr>
          <a:lstStyle/>
          <a:p>
            <a:pPr>
              <a:spcAft>
                <a:spcPts val="800"/>
              </a:spcAft>
              <a:defRPr sz="1600" b="1">
                <a:solidFill>
                  <a:srgbClr val="2D3424"/>
                </a:solidFill>
                <a:latin typeface="Segoe UI"/>
              </a:defRPr>
            </a:pPr>
            <a:r>
              <a:t>/recruitment · /public/careers</a:t>
            </a:r>
          </a:p>
          <a:p>
            <a:pPr>
              <a:spcAft>
                <a:spcPts val="800"/>
              </a:spcAft>
              <a:defRPr sz="1600" b="1">
                <a:solidFill>
                  <a:srgbClr val="2D3424"/>
                </a:solidFill>
                <a:latin typeface="Segoe UI"/>
              </a:defRPr>
            </a:pPr>
            <a:r>
              <a:t>/onboarding · /payroll</a:t>
            </a:r>
          </a:p>
        </p:txBody>
      </p:sp>
      <p:sp>
        <p:nvSpPr>
          <p:cNvPr id="22" name="TextBox 21"/>
          <p:cNvSpPr txBox="1"/>
          <p:nvPr/>
        </p:nvSpPr>
        <p:spPr>
          <a:xfrm>
            <a:off x="795528" y="5330952"/>
            <a:ext cx="5029200" cy="530352"/>
          </a:xfrm>
          <a:prstGeom prst="rect">
            <a:avLst/>
          </a:prstGeom>
          <a:noFill/>
        </p:spPr>
        <p:txBody>
          <a:bodyPr wrap="square" lIns="0" rIns="0" tIns="0" bIns="0">
            <a:spAutoFit/>
          </a:bodyPr>
          <a:lstStyle/>
          <a:p>
            <a:pPr>
              <a:spcAft>
                <a:spcPts val="800"/>
              </a:spcAft>
              <a:defRPr sz="1400" b="0">
                <a:solidFill>
                  <a:srgbClr val="626752"/>
                </a:solidFill>
                <a:latin typeface="Segoe UI"/>
              </a:defRPr>
            </a:pPr>
            <a:r>
              <a:t>Applications, interviews, offers, starter tasks,</a:t>
            </a:r>
          </a:p>
          <a:p>
            <a:pPr>
              <a:spcAft>
                <a:spcPts val="800"/>
              </a:spcAft>
              <a:defRPr sz="1400" b="0">
                <a:solidFill>
                  <a:srgbClr val="626752"/>
                </a:solidFill>
                <a:latin typeface="Segoe UI"/>
              </a:defRPr>
            </a:pPr>
            <a:r>
              <a:t>components, runs, adjustments and payslips.</a:t>
            </a:r>
          </a:p>
        </p:txBody>
      </p:sp>
      <p:sp>
        <p:nvSpPr>
          <p:cNvPr id="23" name="Rounded Rectangle 22"/>
          <p:cNvSpPr/>
          <p:nvPr/>
        </p:nvSpPr>
        <p:spPr>
          <a:xfrm>
            <a:off x="6236208" y="4142232"/>
            <a:ext cx="5431536" cy="181965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288536"/>
            <a:ext cx="5029200" cy="274320"/>
          </a:xfrm>
          <a:prstGeom prst="rect">
            <a:avLst/>
          </a:prstGeom>
          <a:noFill/>
        </p:spPr>
        <p:txBody>
          <a:bodyPr wrap="square" lIns="0" rIns="0" tIns="0" bIns="0">
            <a:spAutoFit/>
          </a:bodyPr>
          <a:lstStyle/>
          <a:p>
            <a:pPr>
              <a:spcAft>
                <a:spcPts val="800"/>
              </a:spcAft>
              <a:defRPr sz="1100" b="1">
                <a:solidFill>
                  <a:srgbClr val="5C6936"/>
                </a:solidFill>
                <a:latin typeface="Segoe UI"/>
              </a:defRPr>
            </a:pPr>
            <a:r>
              <a:t>GROWTH, SUPPORT &amp; CONTROL</a:t>
            </a:r>
          </a:p>
        </p:txBody>
      </p:sp>
      <p:sp>
        <p:nvSpPr>
          <p:cNvPr id="25" name="TextBox 24"/>
          <p:cNvSpPr txBox="1"/>
          <p:nvPr/>
        </p:nvSpPr>
        <p:spPr>
          <a:xfrm>
            <a:off x="6437376" y="4654296"/>
            <a:ext cx="5029200" cy="548640"/>
          </a:xfrm>
          <a:prstGeom prst="rect">
            <a:avLst/>
          </a:prstGeom>
          <a:noFill/>
        </p:spPr>
        <p:txBody>
          <a:bodyPr wrap="square" lIns="0" rIns="0" tIns="0" bIns="0">
            <a:spAutoFit/>
          </a:bodyPr>
          <a:lstStyle/>
          <a:p>
            <a:pPr>
              <a:spcAft>
                <a:spcPts val="800"/>
              </a:spcAft>
              <a:defRPr sz="1600" b="1">
                <a:solidFill>
                  <a:srgbClr val="2D3424"/>
                </a:solidFill>
                <a:latin typeface="Segoe UI"/>
              </a:defRPr>
            </a:pPr>
            <a:r>
              <a:t>/performance · /helpdesk · /policies</a:t>
            </a:r>
          </a:p>
          <a:p>
            <a:pPr>
              <a:spcAft>
                <a:spcPts val="800"/>
              </a:spcAft>
              <a:defRPr sz="1600" b="1">
                <a:solidFill>
                  <a:srgbClr val="2D3424"/>
                </a:solidFill>
                <a:latin typeface="Segoe UI"/>
              </a:defRPr>
            </a:pPr>
            <a:r>
              <a:t>/analytics · /audit-logs · /auth</a:t>
            </a:r>
          </a:p>
        </p:txBody>
      </p:sp>
      <p:sp>
        <p:nvSpPr>
          <p:cNvPr id="26" name="TextBox 25"/>
          <p:cNvSpPr txBox="1"/>
          <p:nvPr/>
        </p:nvSpPr>
        <p:spPr>
          <a:xfrm>
            <a:off x="6437376" y="5330952"/>
            <a:ext cx="5029200" cy="530352"/>
          </a:xfrm>
          <a:prstGeom prst="rect">
            <a:avLst/>
          </a:prstGeom>
          <a:noFill/>
        </p:spPr>
        <p:txBody>
          <a:bodyPr wrap="square" lIns="0" rIns="0" tIns="0" bIns="0">
            <a:spAutoFit/>
          </a:bodyPr>
          <a:lstStyle/>
          <a:p>
            <a:pPr>
              <a:spcAft>
                <a:spcPts val="800"/>
              </a:spcAft>
              <a:defRPr sz="1400" b="0">
                <a:solidFill>
                  <a:srgbClr val="626752"/>
                </a:solidFill>
                <a:latin typeface="Segoe UI"/>
              </a:defRPr>
            </a:pPr>
            <a:r>
              <a:t>Reviews, goals, praise, tickets, acknowledgements,</a:t>
            </a:r>
          </a:p>
          <a:p>
            <a:pPr>
              <a:spcAft>
                <a:spcPts val="800"/>
              </a:spcAft>
              <a:defRPr sz="1400" b="0">
                <a:solidFill>
                  <a:srgbClr val="626752"/>
                </a:solidFill>
                <a:latin typeface="Segoe UI"/>
              </a:defRPr>
            </a:pPr>
            <a:r>
              <a:t>insight, audit history and authentication.</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DATA MODEL</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An employee-centered model with history.</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Selected logical relationships; the migrations contain the full physical schema.</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OPTIONAL DEEP DIVE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13</a:t>
            </a:r>
          </a:p>
        </p:txBody>
      </p:sp>
      <p:sp>
        <p:nvSpPr>
          <p:cNvPr id="11" name="Rounded Rectangle 10"/>
          <p:cNvSpPr/>
          <p:nvPr/>
        </p:nvSpPr>
        <p:spPr>
          <a:xfrm>
            <a:off x="4206240" y="3172968"/>
            <a:ext cx="3749039" cy="987552"/>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0831" y="3300984"/>
            <a:ext cx="3419856" cy="274320"/>
          </a:xfrm>
          <a:prstGeom prst="rect">
            <a:avLst/>
          </a:prstGeom>
          <a:noFill/>
        </p:spPr>
        <p:txBody>
          <a:bodyPr wrap="square" lIns="0" rIns="0" tIns="0" bIns="0">
            <a:spAutoFit/>
          </a:bodyPr>
          <a:lstStyle/>
          <a:p>
            <a:pPr>
              <a:spcAft>
                <a:spcPts val="800"/>
              </a:spcAft>
              <a:defRPr sz="1200" b="1">
                <a:solidFill>
                  <a:srgbClr val="5C6936"/>
                </a:solidFill>
                <a:latin typeface="Segoe UI"/>
              </a:defRPr>
            </a:pPr>
            <a:r>
              <a:t>EMPLOYEES</a:t>
            </a:r>
          </a:p>
        </p:txBody>
      </p:sp>
      <p:sp>
        <p:nvSpPr>
          <p:cNvPr id="13" name="TextBox 12"/>
          <p:cNvSpPr txBox="1"/>
          <p:nvPr/>
        </p:nvSpPr>
        <p:spPr>
          <a:xfrm>
            <a:off x="4370831" y="3666744"/>
            <a:ext cx="3419856" cy="594360"/>
          </a:xfrm>
          <a:prstGeom prst="rect">
            <a:avLst/>
          </a:prstGeom>
          <a:noFill/>
        </p:spPr>
        <p:txBody>
          <a:bodyPr wrap="square" lIns="0" rIns="0" tIns="0" bIns="0">
            <a:spAutoFit/>
          </a:bodyPr>
          <a:lstStyle/>
          <a:p>
            <a:pPr>
              <a:spcAft>
                <a:spcPts val="800"/>
              </a:spcAft>
              <a:defRPr sz="1300" b="0">
                <a:solidFill>
                  <a:srgbClr val="2D3424"/>
                </a:solidFill>
                <a:latin typeface="Segoe UI"/>
              </a:defRPr>
            </a:pPr>
            <a:r>
              <a:t>Identity · role in organization · manager</a:t>
            </a:r>
          </a:p>
        </p:txBody>
      </p:sp>
      <p:sp>
        <p:nvSpPr>
          <p:cNvPr id="14" name="Rounded Rectangle 13"/>
          <p:cNvSpPr/>
          <p:nvPr/>
        </p:nvSpPr>
        <p:spPr>
          <a:xfrm>
            <a:off x="594360" y="2267712"/>
            <a:ext cx="3200400" cy="105156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2395728"/>
            <a:ext cx="2871216" cy="274320"/>
          </a:xfrm>
          <a:prstGeom prst="rect">
            <a:avLst/>
          </a:prstGeom>
          <a:noFill/>
        </p:spPr>
        <p:txBody>
          <a:bodyPr wrap="square" lIns="0" rIns="0" tIns="0" bIns="0">
            <a:spAutoFit/>
          </a:bodyPr>
          <a:lstStyle/>
          <a:p>
            <a:pPr>
              <a:spcAft>
                <a:spcPts val="800"/>
              </a:spcAft>
              <a:defRPr sz="1200" b="1">
                <a:solidFill>
                  <a:srgbClr val="5C6936"/>
                </a:solidFill>
                <a:latin typeface="Segoe UI"/>
              </a:defRPr>
            </a:pPr>
            <a:r>
              <a:t>IDENTITY &amp; ACCESS</a:t>
            </a:r>
          </a:p>
        </p:txBody>
      </p:sp>
      <p:sp>
        <p:nvSpPr>
          <p:cNvPr id="16" name="TextBox 15"/>
          <p:cNvSpPr txBox="1"/>
          <p:nvPr/>
        </p:nvSpPr>
        <p:spPr>
          <a:xfrm>
            <a:off x="758952" y="2761488"/>
            <a:ext cx="2871216" cy="594360"/>
          </a:xfrm>
          <a:prstGeom prst="rect">
            <a:avLst/>
          </a:prstGeom>
          <a:noFill/>
        </p:spPr>
        <p:txBody>
          <a:bodyPr wrap="square" lIns="0" rIns="0" tIns="0" bIns="0">
            <a:spAutoFit/>
          </a:bodyPr>
          <a:lstStyle/>
          <a:p>
            <a:pPr>
              <a:spcAft>
                <a:spcPts val="800"/>
              </a:spcAft>
              <a:defRPr sz="1300" b="0">
                <a:solidFill>
                  <a:srgbClr val="2D3424"/>
                </a:solidFill>
                <a:latin typeface="Segoe UI"/>
              </a:defRPr>
            </a:pPr>
            <a:r>
              <a:t>Users ↔ roles ↔ permissions</a:t>
            </a:r>
          </a:p>
          <a:p>
            <a:pPr>
              <a:spcAft>
                <a:spcPts val="800"/>
              </a:spcAft>
              <a:defRPr sz="1300" b="0">
                <a:solidFill>
                  <a:srgbClr val="2D3424"/>
                </a:solidFill>
                <a:latin typeface="Segoe UI"/>
              </a:defRPr>
            </a:pPr>
            <a:r>
              <a:t>Refresh tokens · audit log</a:t>
            </a:r>
          </a:p>
        </p:txBody>
      </p:sp>
      <p:sp>
        <p:nvSpPr>
          <p:cNvPr id="17" name="Rounded Rectangle 16"/>
          <p:cNvSpPr/>
          <p:nvPr/>
        </p:nvSpPr>
        <p:spPr>
          <a:xfrm>
            <a:off x="8394192" y="2267712"/>
            <a:ext cx="3200400" cy="105156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2395728"/>
            <a:ext cx="2871216" cy="274320"/>
          </a:xfrm>
          <a:prstGeom prst="rect">
            <a:avLst/>
          </a:prstGeom>
          <a:noFill/>
        </p:spPr>
        <p:txBody>
          <a:bodyPr wrap="square" lIns="0" rIns="0" tIns="0" bIns="0">
            <a:spAutoFit/>
          </a:bodyPr>
          <a:lstStyle/>
          <a:p>
            <a:pPr>
              <a:spcAft>
                <a:spcPts val="800"/>
              </a:spcAft>
              <a:defRPr sz="1200" b="1">
                <a:solidFill>
                  <a:srgbClr val="5C6936"/>
                </a:solidFill>
                <a:latin typeface="Segoe UI"/>
              </a:defRPr>
            </a:pPr>
            <a:r>
              <a:t>ORGANIZATION</a:t>
            </a:r>
          </a:p>
        </p:txBody>
      </p:sp>
      <p:sp>
        <p:nvSpPr>
          <p:cNvPr id="19" name="TextBox 18"/>
          <p:cNvSpPr txBox="1"/>
          <p:nvPr/>
        </p:nvSpPr>
        <p:spPr>
          <a:xfrm>
            <a:off x="8558784" y="2761488"/>
            <a:ext cx="2871216" cy="594360"/>
          </a:xfrm>
          <a:prstGeom prst="rect">
            <a:avLst/>
          </a:prstGeom>
          <a:noFill/>
        </p:spPr>
        <p:txBody>
          <a:bodyPr wrap="square" lIns="0" rIns="0" tIns="0" bIns="0">
            <a:spAutoFit/>
          </a:bodyPr>
          <a:lstStyle/>
          <a:p>
            <a:pPr>
              <a:spcAft>
                <a:spcPts val="800"/>
              </a:spcAft>
              <a:defRPr sz="1300" b="0">
                <a:solidFill>
                  <a:srgbClr val="2D3424"/>
                </a:solidFill>
                <a:latin typeface="Segoe UI"/>
              </a:defRPr>
            </a:pPr>
            <a:r>
              <a:t>Department · designation · grade</a:t>
            </a:r>
          </a:p>
          <a:p>
            <a:pPr>
              <a:spcAft>
                <a:spcPts val="800"/>
              </a:spcAft>
              <a:defRPr sz="1300" b="0">
                <a:solidFill>
                  <a:srgbClr val="2D3424"/>
                </a:solidFill>
                <a:latin typeface="Segoe UI"/>
              </a:defRPr>
            </a:pPr>
            <a:r>
              <a:t>Location · unit · cost center</a:t>
            </a:r>
          </a:p>
        </p:txBody>
      </p:sp>
      <p:sp>
        <p:nvSpPr>
          <p:cNvPr id="20" name="Rounded Rectangle 19"/>
          <p:cNvSpPr/>
          <p:nvPr/>
        </p:nvSpPr>
        <p:spPr>
          <a:xfrm>
            <a:off x="594360" y="4489704"/>
            <a:ext cx="3200400" cy="118872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4617720"/>
            <a:ext cx="2871216" cy="274320"/>
          </a:xfrm>
          <a:prstGeom prst="rect">
            <a:avLst/>
          </a:prstGeom>
          <a:noFill/>
        </p:spPr>
        <p:txBody>
          <a:bodyPr wrap="square" lIns="0" rIns="0" tIns="0" bIns="0">
            <a:spAutoFit/>
          </a:bodyPr>
          <a:lstStyle/>
          <a:p>
            <a:pPr>
              <a:spcAft>
                <a:spcPts val="800"/>
              </a:spcAft>
              <a:defRPr sz="1200" b="1">
                <a:solidFill>
                  <a:srgbClr val="5C6936"/>
                </a:solidFill>
                <a:latin typeface="Segoe UI"/>
              </a:defRPr>
            </a:pPr>
            <a:r>
              <a:t>DAILY WORK</a:t>
            </a:r>
          </a:p>
        </p:txBody>
      </p:sp>
      <p:sp>
        <p:nvSpPr>
          <p:cNvPr id="22" name="TextBox 21"/>
          <p:cNvSpPr txBox="1"/>
          <p:nvPr/>
        </p:nvSpPr>
        <p:spPr>
          <a:xfrm>
            <a:off x="758952" y="4983480"/>
            <a:ext cx="2871216" cy="594360"/>
          </a:xfrm>
          <a:prstGeom prst="rect">
            <a:avLst/>
          </a:prstGeom>
          <a:noFill/>
        </p:spPr>
        <p:txBody>
          <a:bodyPr wrap="square" lIns="0" rIns="0" tIns="0" bIns="0">
            <a:spAutoFit/>
          </a:bodyPr>
          <a:lstStyle/>
          <a:p>
            <a:pPr>
              <a:spcAft>
                <a:spcPts val="800"/>
              </a:spcAft>
              <a:defRPr sz="1300" b="0">
                <a:solidFill>
                  <a:srgbClr val="2D3424"/>
                </a:solidFill>
                <a:latin typeface="Segoe UI"/>
              </a:defRPr>
            </a:pPr>
            <a:r>
              <a:t>Attendance · leave · approvals</a:t>
            </a:r>
          </a:p>
          <a:p>
            <a:pPr>
              <a:spcAft>
                <a:spcPts val="800"/>
              </a:spcAft>
              <a:defRPr sz="1300" b="0">
                <a:solidFill>
                  <a:srgbClr val="2D3424"/>
                </a:solidFill>
                <a:latin typeface="Segoe UI"/>
              </a:defRPr>
            </a:pPr>
            <a:r>
              <a:t>Documents · asset assignments</a:t>
            </a:r>
          </a:p>
        </p:txBody>
      </p:sp>
      <p:sp>
        <p:nvSpPr>
          <p:cNvPr id="23" name="Rounded Rectangle 22"/>
          <p:cNvSpPr/>
          <p:nvPr/>
        </p:nvSpPr>
        <p:spPr>
          <a:xfrm>
            <a:off x="8394192" y="4489704"/>
            <a:ext cx="3200400" cy="118872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58784" y="4617720"/>
            <a:ext cx="2871216" cy="274320"/>
          </a:xfrm>
          <a:prstGeom prst="rect">
            <a:avLst/>
          </a:prstGeom>
          <a:noFill/>
        </p:spPr>
        <p:txBody>
          <a:bodyPr wrap="square" lIns="0" rIns="0" tIns="0" bIns="0">
            <a:spAutoFit/>
          </a:bodyPr>
          <a:lstStyle/>
          <a:p>
            <a:pPr>
              <a:spcAft>
                <a:spcPts val="800"/>
              </a:spcAft>
              <a:defRPr sz="1200" b="1">
                <a:solidFill>
                  <a:srgbClr val="5C6936"/>
                </a:solidFill>
                <a:latin typeface="Segoe UI"/>
              </a:defRPr>
            </a:pPr>
            <a:r>
              <a:t>PAY &amp; GROWTH</a:t>
            </a:r>
          </a:p>
        </p:txBody>
      </p:sp>
      <p:sp>
        <p:nvSpPr>
          <p:cNvPr id="25" name="TextBox 24"/>
          <p:cNvSpPr txBox="1"/>
          <p:nvPr/>
        </p:nvSpPr>
        <p:spPr>
          <a:xfrm>
            <a:off x="8558784" y="4983480"/>
            <a:ext cx="2871216" cy="594360"/>
          </a:xfrm>
          <a:prstGeom prst="rect">
            <a:avLst/>
          </a:prstGeom>
          <a:noFill/>
        </p:spPr>
        <p:txBody>
          <a:bodyPr wrap="square" lIns="0" rIns="0" tIns="0" bIns="0">
            <a:spAutoFit/>
          </a:bodyPr>
          <a:lstStyle/>
          <a:p>
            <a:pPr>
              <a:spcAft>
                <a:spcPts val="800"/>
              </a:spcAft>
              <a:defRPr sz="1300" b="0">
                <a:solidFill>
                  <a:srgbClr val="2D3424"/>
                </a:solidFill>
                <a:latin typeface="Segoe UI"/>
              </a:defRPr>
            </a:pPr>
            <a:r>
              <a:t>Payslips → lines; payroll runs</a:t>
            </a:r>
          </a:p>
          <a:p>
            <a:pPr>
              <a:spcAft>
                <a:spcPts val="800"/>
              </a:spcAft>
              <a:defRPr sz="1300" b="0">
                <a:solidFill>
                  <a:srgbClr val="2D3424"/>
                </a:solidFill>
                <a:latin typeface="Segoe UI"/>
              </a:defRPr>
            </a:pPr>
            <a:r>
              <a:t>Reviews → goals; feedback</a:t>
            </a:r>
          </a:p>
        </p:txBody>
      </p:sp>
      <p:cxnSp>
        <p:nvCxnSpPr>
          <p:cNvPr id="26" name="Connector 25"/>
          <p:cNvCxnSpPr/>
          <p:nvPr/>
        </p:nvCxnSpPr>
        <p:spPr>
          <a:xfrm>
            <a:off x="3794760" y="2788920"/>
            <a:ext cx="411480" cy="731520"/>
          </a:xfrm>
          <a:prstGeom prst="line">
            <a:avLst/>
          </a:prstGeom>
          <a:ln w="25400">
            <a:solidFill>
              <a:srgbClr val="5C693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7955279" y="2788920"/>
            <a:ext cx="438913" cy="731520"/>
          </a:xfrm>
          <a:prstGeom prst="line">
            <a:avLst/>
          </a:prstGeom>
          <a:ln w="25400">
            <a:solidFill>
              <a:srgbClr val="5C693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794760" y="3776472"/>
            <a:ext cx="411480" cy="1225296"/>
          </a:xfrm>
          <a:prstGeom prst="line">
            <a:avLst/>
          </a:prstGeom>
          <a:ln w="25400">
            <a:solidFill>
              <a:srgbClr val="5C693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7955279" y="3776472"/>
            <a:ext cx="438913" cy="1225296"/>
          </a:xfrm>
          <a:prstGeom prst="line">
            <a:avLst/>
          </a:prstGeom>
          <a:ln w="25400">
            <a:solidFill>
              <a:srgbClr val="5C693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215384" y="2267712"/>
            <a:ext cx="3749039" cy="594360"/>
          </a:xfrm>
          <a:prstGeom prst="rect">
            <a:avLst/>
          </a:prstGeom>
          <a:noFill/>
        </p:spPr>
        <p:txBody>
          <a:bodyPr wrap="square" lIns="0" rIns="0" tIns="0" bIns="0">
            <a:spAutoFit/>
          </a:bodyPr>
          <a:lstStyle/>
          <a:p>
            <a:pPr>
              <a:spcAft>
                <a:spcPts val="800"/>
              </a:spcAft>
              <a:defRPr sz="1500" b="0">
                <a:solidFill>
                  <a:srgbClr val="626752"/>
                </a:solidFill>
                <a:latin typeface="Segoe UI"/>
              </a:defRPr>
            </a:pPr>
            <a:r>
              <a:t>Candidate → application → offer</a:t>
            </a:r>
          </a:p>
          <a:p>
            <a:pPr>
              <a:spcAft>
                <a:spcPts val="800"/>
              </a:spcAft>
              <a:defRPr sz="1500" b="0">
                <a:solidFill>
                  <a:srgbClr val="626752"/>
                </a:solidFill>
                <a:latin typeface="Segoe UI"/>
              </a:defRPr>
            </a:pPr>
            <a:r>
              <a:t>Onboarding plan → tasks</a:t>
            </a:r>
          </a:p>
        </p:txBody>
      </p:sp>
      <p:cxnSp>
        <p:nvCxnSpPr>
          <p:cNvPr id="31" name="Connector 30"/>
          <p:cNvCxnSpPr/>
          <p:nvPr/>
        </p:nvCxnSpPr>
        <p:spPr>
          <a:xfrm>
            <a:off x="6080760" y="2889504"/>
            <a:ext cx="0" cy="283464"/>
          </a:xfrm>
          <a:prstGeom prst="line">
            <a:avLst/>
          </a:prstGeom>
          <a:ln w="25400">
            <a:solidFill>
              <a:srgbClr val="5C693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251960" y="4754880"/>
            <a:ext cx="3657600" cy="777240"/>
          </a:xfrm>
          <a:prstGeom prst="rect">
            <a:avLst/>
          </a:prstGeom>
          <a:noFill/>
        </p:spPr>
        <p:txBody>
          <a:bodyPr wrap="square" lIns="0" rIns="0" tIns="0" bIns="0">
            <a:spAutoFit/>
          </a:bodyPr>
          <a:lstStyle/>
          <a:p>
            <a:pPr>
              <a:spcAft>
                <a:spcPts val="800"/>
              </a:spcAft>
              <a:defRPr sz="1400" b="0">
                <a:solidFill>
                  <a:srgbClr val="626752"/>
                </a:solidFill>
                <a:latin typeface="Segoe UI"/>
              </a:defRPr>
            </a:pPr>
            <a:r>
              <a:t>Also linked: helpdesk tickets,</a:t>
            </a:r>
          </a:p>
          <a:p>
            <a:pPr>
              <a:spcAft>
                <a:spcPts val="800"/>
              </a:spcAft>
              <a:defRPr sz="1400" b="0">
                <a:solidFill>
                  <a:srgbClr val="626752"/>
                </a:solidFill>
                <a:latin typeface="Segoe UI"/>
              </a:defRPr>
            </a:pPr>
            <a:r>
              <a:t>policy acknowledgements</a:t>
            </a:r>
          </a:p>
          <a:p>
            <a:pPr>
              <a:spcAft>
                <a:spcPts val="800"/>
              </a:spcAft>
              <a:defRPr sz="1400" b="0">
                <a:solidFill>
                  <a:srgbClr val="626752"/>
                </a:solidFill>
                <a:latin typeface="Segoe UI"/>
              </a:defRPr>
            </a:pPr>
            <a:r>
              <a:t>and employee timeline events.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p:spPr>
        <p:txBody>
          <a:bodyPr wrap="square" lIns="0" rIns="0" tIns="0" bIns="0">
            <a:spAutoFit/>
          </a:bodyPr>
          <a:lstStyle/>
          <a:p>
            <a:pPr>
              <a:spcAft>
                <a:spcPts val="800"/>
              </a:spcAft>
              <a:defRPr sz="1000" b="1">
                <a:solidFill>
                  <a:srgbClr val="5C6936"/>
                </a:solidFill>
                <a:latin typeface="Segoe UI"/>
              </a:defRPr>
            </a:pPr>
            <a:r>
              <a:t>HRGenius  /  DELIVERY + NEXT STEPS</a:t>
            </a:r>
          </a:p>
        </p:txBody>
      </p:sp>
      <p:sp>
        <p:nvSpPr>
          <p:cNvPr id="3" name="TextBox 2"/>
          <p:cNvSpPr txBox="1"/>
          <p:nvPr/>
        </p:nvSpPr>
        <p:spPr>
          <a:xfrm>
            <a:off x="502920" y="804672"/>
            <a:ext cx="11064240" cy="640080"/>
          </a:xfrm>
          <a:prstGeom prst="rect">
            <a:avLst/>
          </a:prstGeom>
          <a:noFill/>
        </p:spPr>
        <p:txBody>
          <a:bodyPr wrap="square" lIns="0" rIns="0" tIns="0" bIns="0">
            <a:spAutoFit/>
          </a:bodyPr>
          <a:lstStyle/>
          <a:p>
            <a:pPr>
              <a:spcAft>
                <a:spcPts val="800"/>
              </a:spcAft>
              <a:defRPr sz="3200" b="1">
                <a:solidFill>
                  <a:srgbClr val="2D3424"/>
                </a:solidFill>
                <a:latin typeface="Segoe UI"/>
              </a:defRPr>
            </a:pPr>
            <a:r>
              <a:t>Ready to demonstrate. Room to grow.</a:t>
            </a:r>
          </a:p>
        </p:txBody>
      </p:sp>
      <p:sp>
        <p:nvSpPr>
          <p:cNvPr id="4" name="TextBox 3"/>
          <p:cNvSpPr txBox="1"/>
          <p:nvPr/>
        </p:nvSpPr>
        <p:spPr>
          <a:xfrm>
            <a:off x="530352" y="1508760"/>
            <a:ext cx="10972800" cy="530352"/>
          </a:xfrm>
          <a:prstGeom prst="rect">
            <a:avLst/>
          </a:prstGeom>
          <a:noFill/>
        </p:spPr>
        <p:txBody>
          <a:bodyPr wrap="square" lIns="0" rIns="0" tIns="0" bIns="0">
            <a:spAutoFit/>
          </a:bodyPr>
          <a:lstStyle/>
          <a:p>
            <a:pPr>
              <a:spcAft>
                <a:spcPts val="800"/>
              </a:spcAft>
              <a:defRPr sz="1500" b="0">
                <a:solidFill>
                  <a:srgbClr val="626752"/>
                </a:solidFill>
                <a:latin typeface="Segoe UI"/>
              </a:defRPr>
            </a:pPr>
            <a:r>
              <a:t>Keep implementation, verification and future work distinct.</a:t>
            </a:r>
          </a:p>
        </p:txBody>
      </p:sp>
      <p:sp>
        <p:nvSpPr>
          <p:cNvPr id="5" name="Rectangle 4"/>
          <p:cNvSpPr/>
          <p:nvPr/>
        </p:nvSpPr>
        <p:spPr>
          <a:xfrm>
            <a:off x="502920" y="6364224"/>
            <a:ext cx="11155680" cy="10972"/>
          </a:xfrm>
          <a:prstGeom prst="rect">
            <a:avLst/>
          </a:prstGeom>
          <a:solidFill>
            <a:srgbClr val="E3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p:spPr>
        <p:txBody>
          <a:bodyPr wrap="square" lIns="0" rIns="0" tIns="0" bIns="0">
            <a:spAutoFit/>
          </a:bodyPr>
          <a:lstStyle/>
          <a:p>
            <a:pPr>
              <a:spcAft>
                <a:spcPts val="800"/>
              </a:spcAft>
              <a:defRPr sz="900" b="0">
                <a:solidFill>
                  <a:srgbClr val="626752"/>
                </a:solidFill>
                <a:latin typeface="Segoe UI"/>
              </a:defRPr>
            </a:pPr>
            <a:r>
              <a:t>A LITTLE MORE HUMAN.   •   OPTIONAL DEEP DIVE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p:spPr>
        <p:txBody>
          <a:bodyPr wrap="square" lIns="0" rIns="0" tIns="0" bIns="0">
            <a:spAutoFit/>
          </a:bodyPr>
          <a:lstStyle/>
          <a:p>
            <a:pPr>
              <a:spcAft>
                <a:spcPts val="800"/>
              </a:spcAft>
              <a:defRPr sz="1000" b="1">
                <a:solidFill>
                  <a:srgbClr val="626752"/>
                </a:solidFill>
                <a:latin typeface="Segoe UI"/>
              </a:defRPr>
            </a:pPr>
            <a:r>
              <a:t>14</a:t>
            </a:r>
          </a:p>
        </p:txBody>
      </p:sp>
      <p:sp>
        <p:nvSpPr>
          <p:cNvPr id="11" name="Rounded Rectangle 10"/>
          <p:cNvSpPr/>
          <p:nvPr/>
        </p:nvSpPr>
        <p:spPr>
          <a:xfrm>
            <a:off x="594360" y="2286000"/>
            <a:ext cx="3456432" cy="333756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450592"/>
            <a:ext cx="305409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RUN THE PROJECT</a:t>
            </a:r>
          </a:p>
        </p:txBody>
      </p:sp>
      <p:sp>
        <p:nvSpPr>
          <p:cNvPr id="13" name="TextBox 12"/>
          <p:cNvSpPr txBox="1"/>
          <p:nvPr/>
        </p:nvSpPr>
        <p:spPr>
          <a:xfrm>
            <a:off x="795528" y="2871216"/>
            <a:ext cx="305409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Development &amp; deploy</a:t>
            </a:r>
          </a:p>
        </p:txBody>
      </p:sp>
      <p:sp>
        <p:nvSpPr>
          <p:cNvPr id="14" name="TextBox 13"/>
          <p:cNvSpPr txBox="1"/>
          <p:nvPr/>
        </p:nvSpPr>
        <p:spPr>
          <a:xfrm>
            <a:off x="795528" y="3429000"/>
            <a:ext cx="3054096" cy="2103120"/>
          </a:xfrm>
          <a:prstGeom prst="rect">
            <a:avLst/>
          </a:prstGeom>
          <a:noFill/>
        </p:spPr>
        <p:txBody>
          <a:bodyPr wrap="square" lIns="0" rIns="0" tIns="0" bIns="0">
            <a:spAutoFit/>
          </a:bodyPr>
          <a:lstStyle/>
          <a:p>
            <a:pPr>
              <a:spcAft>
                <a:spcPts val="800"/>
              </a:spcAft>
              <a:defRPr sz="1500" b="0">
                <a:solidFill>
                  <a:srgbClr val="626752"/>
                </a:solidFill>
                <a:latin typeface="Segoe UI"/>
              </a:defRPr>
            </a:pPr>
            <a:r>
              <a:t>Angular frontend</a:t>
            </a:r>
          </a:p>
          <a:p>
            <a:pPr>
              <a:spcAft>
                <a:spcPts val="800"/>
              </a:spcAft>
              <a:defRPr sz="1500" b="0">
                <a:solidFill>
                  <a:srgbClr val="626752"/>
                </a:solidFill>
                <a:latin typeface="Segoe UI"/>
              </a:defRPr>
            </a:pPr>
            <a:r>
              <a:t>Spring Boot REST backend</a:t>
            </a:r>
          </a:p>
          <a:p>
            <a:pPr>
              <a:spcAft>
                <a:spcPts val="800"/>
              </a:spcAft>
              <a:defRPr sz="1500" b="0">
                <a:solidFill>
                  <a:srgbClr val="626752"/>
                </a:solidFill>
                <a:latin typeface="Segoe UI"/>
              </a:defRPr>
            </a:pPr>
            <a:r>
              <a:t>Oracle deployment / H2 demo</a:t>
            </a:r>
          </a:p>
          <a:p>
            <a:pPr>
              <a:spcAft>
                <a:spcPts val="800"/>
              </a:spcAft>
              <a:defRPr sz="1500" b="0">
                <a:solidFill>
                  <a:srgbClr val="626752"/>
                </a:solidFill>
                <a:latin typeface="Segoe UI"/>
              </a:defRPr>
            </a:pPr>
            <a:r>
              <a:t>Docker Compose configuration</a:t>
            </a:r>
          </a:p>
          <a:p>
            <a:pPr>
              <a:spcAft>
                <a:spcPts val="800"/>
              </a:spcAft>
              <a:defRPr sz="1500" b="0">
                <a:solidFill>
                  <a:srgbClr val="626752"/>
                </a:solidFill>
                <a:latin typeface="Segoe UI"/>
              </a:defRPr>
            </a:pPr>
            <a:r>
              <a:t>File storage + mail service</a:t>
            </a:r>
          </a:p>
        </p:txBody>
      </p:sp>
      <p:sp>
        <p:nvSpPr>
          <p:cNvPr id="15" name="Rounded Rectangle 14"/>
          <p:cNvSpPr/>
          <p:nvPr/>
        </p:nvSpPr>
        <p:spPr>
          <a:xfrm>
            <a:off x="4370832" y="2286000"/>
            <a:ext cx="3456432" cy="333756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450592"/>
            <a:ext cx="305409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CHECK THE PROJECT</a:t>
            </a:r>
          </a:p>
        </p:txBody>
      </p:sp>
      <p:sp>
        <p:nvSpPr>
          <p:cNvPr id="17" name="TextBox 16"/>
          <p:cNvSpPr txBox="1"/>
          <p:nvPr/>
        </p:nvSpPr>
        <p:spPr>
          <a:xfrm>
            <a:off x="4572000" y="2871216"/>
            <a:ext cx="305409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Quality evidence</a:t>
            </a:r>
          </a:p>
        </p:txBody>
      </p:sp>
      <p:sp>
        <p:nvSpPr>
          <p:cNvPr id="18" name="TextBox 17"/>
          <p:cNvSpPr txBox="1"/>
          <p:nvPr/>
        </p:nvSpPr>
        <p:spPr>
          <a:xfrm>
            <a:off x="4572000" y="3429000"/>
            <a:ext cx="3054096" cy="2103120"/>
          </a:xfrm>
          <a:prstGeom prst="rect">
            <a:avLst/>
          </a:prstGeom>
          <a:noFill/>
        </p:spPr>
        <p:txBody>
          <a:bodyPr wrap="square" lIns="0" rIns="0" tIns="0" bIns="0">
            <a:spAutoFit/>
          </a:bodyPr>
          <a:lstStyle/>
          <a:p>
            <a:pPr>
              <a:spcAft>
                <a:spcPts val="800"/>
              </a:spcAft>
              <a:defRPr sz="1500" b="0">
                <a:solidFill>
                  <a:srgbClr val="626752"/>
                </a:solidFill>
                <a:latin typeface="Segoe UI"/>
              </a:defRPr>
            </a:pPr>
            <a:r>
              <a:t>Frontend build + UI checks</a:t>
            </a:r>
          </a:p>
          <a:p>
            <a:pPr>
              <a:spcAft>
                <a:spcPts val="800"/>
              </a:spcAft>
              <a:defRPr sz="1500" b="0">
                <a:solidFill>
                  <a:srgbClr val="626752"/>
                </a:solidFill>
                <a:latin typeface="Segoe UI"/>
              </a:defRPr>
            </a:pPr>
            <a:r>
              <a:t>Backend test sources present</a:t>
            </a:r>
          </a:p>
          <a:p>
            <a:pPr>
              <a:spcAft>
                <a:spcPts val="800"/>
              </a:spcAft>
              <a:defRPr sz="1500" b="0">
                <a:solidFill>
                  <a:srgbClr val="626752"/>
                </a:solidFill>
                <a:latin typeface="Segoe UI"/>
              </a:defRPr>
            </a:pPr>
            <a:r>
              <a:t>Oracle acceptance still needed</a:t>
            </a:r>
          </a:p>
          <a:p>
            <a:pPr>
              <a:spcAft>
                <a:spcPts val="800"/>
              </a:spcAft>
              <a:defRPr sz="1500" b="0">
                <a:solidFill>
                  <a:srgbClr val="626752"/>
                </a:solidFill>
                <a:latin typeface="Segoe UI"/>
              </a:defRPr>
            </a:pPr>
            <a:r>
              <a:t>Business-flow regression</a:t>
            </a:r>
          </a:p>
          <a:p>
            <a:pPr>
              <a:spcAft>
                <a:spcPts val="800"/>
              </a:spcAft>
              <a:defRPr sz="1500" b="0">
                <a:solidFill>
                  <a:srgbClr val="626752"/>
                </a:solidFill>
                <a:latin typeface="Segoe UI"/>
              </a:defRPr>
            </a:pPr>
            <a:r>
              <a:t>Manual accessibility review</a:t>
            </a:r>
          </a:p>
        </p:txBody>
      </p:sp>
      <p:sp>
        <p:nvSpPr>
          <p:cNvPr id="19" name="Rounded Rectangle 18"/>
          <p:cNvSpPr/>
          <p:nvPr/>
        </p:nvSpPr>
        <p:spPr>
          <a:xfrm>
            <a:off x="8138160" y="2286000"/>
            <a:ext cx="3456432" cy="333756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8" y="2450592"/>
            <a:ext cx="3054096" cy="256032"/>
          </a:xfrm>
          <a:prstGeom prst="rect">
            <a:avLst/>
          </a:prstGeom>
          <a:noFill/>
        </p:spPr>
        <p:txBody>
          <a:bodyPr wrap="square" lIns="0" rIns="0" tIns="0" bIns="0">
            <a:spAutoFit/>
          </a:bodyPr>
          <a:lstStyle/>
          <a:p>
            <a:pPr>
              <a:spcAft>
                <a:spcPts val="800"/>
              </a:spcAft>
              <a:defRPr sz="1100" b="1">
                <a:solidFill>
                  <a:srgbClr val="5C6936"/>
                </a:solidFill>
                <a:latin typeface="Segoe UI"/>
              </a:defRPr>
            </a:pPr>
            <a:r>
              <a:t>EVOLVE THE PROJECT</a:t>
            </a:r>
          </a:p>
        </p:txBody>
      </p:sp>
      <p:sp>
        <p:nvSpPr>
          <p:cNvPr id="21" name="TextBox 20"/>
          <p:cNvSpPr txBox="1"/>
          <p:nvPr/>
        </p:nvSpPr>
        <p:spPr>
          <a:xfrm>
            <a:off x="8339328" y="2871216"/>
            <a:ext cx="3054096" cy="493776"/>
          </a:xfrm>
          <a:prstGeom prst="rect">
            <a:avLst/>
          </a:prstGeom>
          <a:noFill/>
        </p:spPr>
        <p:txBody>
          <a:bodyPr wrap="square" lIns="0" rIns="0" tIns="0" bIns="0">
            <a:spAutoFit/>
          </a:bodyPr>
          <a:lstStyle/>
          <a:p>
            <a:pPr>
              <a:spcAft>
                <a:spcPts val="800"/>
              </a:spcAft>
              <a:defRPr sz="2100" b="1">
                <a:solidFill>
                  <a:srgbClr val="2D3424"/>
                </a:solidFill>
                <a:latin typeface="Segoe UI"/>
              </a:defRPr>
            </a:pPr>
            <a:r>
              <a:t>Proposed next steps</a:t>
            </a:r>
          </a:p>
        </p:txBody>
      </p:sp>
      <p:sp>
        <p:nvSpPr>
          <p:cNvPr id="22" name="TextBox 21"/>
          <p:cNvSpPr txBox="1"/>
          <p:nvPr/>
        </p:nvSpPr>
        <p:spPr>
          <a:xfrm>
            <a:off x="8339328" y="3429000"/>
            <a:ext cx="3054096" cy="2103120"/>
          </a:xfrm>
          <a:prstGeom prst="rect">
            <a:avLst/>
          </a:prstGeom>
          <a:noFill/>
        </p:spPr>
        <p:txBody>
          <a:bodyPr wrap="square" lIns="0" rIns="0" tIns="0" bIns="0">
            <a:spAutoFit/>
          </a:bodyPr>
          <a:lstStyle/>
          <a:p>
            <a:pPr>
              <a:spcAft>
                <a:spcPts val="800"/>
              </a:spcAft>
              <a:defRPr sz="1500" b="0">
                <a:solidFill>
                  <a:srgbClr val="626752"/>
                </a:solidFill>
                <a:latin typeface="Segoe UI"/>
              </a:defRPr>
            </a:pPr>
            <a:r>
              <a:t>Deeper role-based dashboards</a:t>
            </a:r>
          </a:p>
          <a:p>
            <a:pPr>
              <a:spcAft>
                <a:spcPts val="800"/>
              </a:spcAft>
              <a:defRPr sz="1500" b="0">
                <a:solidFill>
                  <a:srgbClr val="626752"/>
                </a:solidFill>
                <a:latin typeface="Segoe UI"/>
              </a:defRPr>
            </a:pPr>
            <a:r>
              <a:t>Chart-to-record navigation</a:t>
            </a:r>
          </a:p>
          <a:p>
            <a:pPr>
              <a:spcAft>
                <a:spcPts val="800"/>
              </a:spcAft>
              <a:defRPr sz="1500" b="0">
                <a:solidFill>
                  <a:srgbClr val="626752"/>
                </a:solidFill>
                <a:latin typeface="Segoe UI"/>
              </a:defRPr>
            </a:pPr>
            <a:r>
              <a:t>SSO and stronger operations</a:t>
            </a:r>
          </a:p>
          <a:p>
            <a:pPr>
              <a:spcAft>
                <a:spcPts val="800"/>
              </a:spcAft>
              <a:defRPr sz="1500" b="0">
                <a:solidFill>
                  <a:srgbClr val="626752"/>
                </a:solidFill>
                <a:latin typeface="Segoe UI"/>
              </a:defRPr>
            </a:pPr>
            <a:r>
              <a:t>Monitoring + recovery drills</a:t>
            </a:r>
          </a:p>
          <a:p>
            <a:pPr>
              <a:spcAft>
                <a:spcPts val="800"/>
              </a:spcAft>
              <a:defRPr sz="1500" b="0">
                <a:solidFill>
                  <a:srgbClr val="626752"/>
                </a:solidFill>
                <a:latin typeface="Segoe UI"/>
              </a:defRPr>
            </a:pPr>
            <a:r>
              <a:t>Measured user feedback</a:t>
            </a:r>
          </a:p>
        </p:txBody>
      </p:sp>
      <p:sp>
        <p:nvSpPr>
          <p:cNvPr id="23" name="Rounded Rectangle 22">
            <a:hlinkClick action="ppaction://hlinksldjump" r:id="rId5"/>
          </p:cNvPr>
          <p:cNvSpPr/>
          <p:nvPr/>
        </p:nvSpPr>
        <p:spPr>
          <a:xfrm>
            <a:off x="594360" y="5852160"/>
            <a:ext cx="2743200" cy="402336"/>
          </a:xfrm>
          <a:prstGeom prst="roundRect">
            <a:avLst>
              <a:gd name="adj" fmla="val 13000"/>
            </a:avLst>
          </a:prstGeom>
          <a:solidFill>
            <a:srgbClr val="5C6936"/>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Back to the demo choices  →</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HRGenius — A Little More Human</dc:title>
  <dc:subject>Interactive project showcase with technical presenter notes</dc:subject>
  <dc:creator>HRGenius Project</dc:creator>
  <cp:keywords>HRGenius, HRMS, olive, white, interactive, project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