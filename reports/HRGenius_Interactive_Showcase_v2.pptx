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opening illustration is a native editable PowerPoint diagram: people at the center, linked to time, pay, growth and insight. It introduces the system’s structure rather than a decorative photograph.</a:t>
            </a:r>
          </a:p>
          <a:p/>
          <a:p>
            <a:r>
              <a:t>Opening / 20 seconds</a:t>
            </a:r>
          </a:p>
          <a:p/>
          <a:p>
            <a:r>
              <a:t>HRGenius is a human resource management system that connects employee information, daily self-service, operational workflows and workforce insight. Open with a relatable question: how many places would an employee normally visit to request leave, find a payslip and thank a teammate? This project puts those experiences into one permission-aware workspace. The presentation follows a roughly six-to-eight-minute core story; technical detail is available through four optional slides and these notes. All product screenshots come from the local HRGenius demonstration environment. Their names and figures are seeded demonstration data, not customer results. Use Slide Show mode (F5) and click Explore the story. The deck is editable and does not use macros.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navigate</a:t>
            </a:r>
          </a:p>
          <a:p/>
          <a:p>
            <a:r>
              <a:t>This is the main navigation hub. The six cards are actual internal PowerPoint hyperlinks. Menu returns here from every slide. The left and right arrows provide a conventional sequence. For a short product pitch use slides 1–6 and 10; for a technical project review continue through 7–9 and use appendices 12–14 for questions. Slide 4 links to a dark-mode comparison on slide 11. Slide 10 offers offline slide tours plus explicit external links to the running application. External links require the local application and a suitable signed-in account; the screenshots remain available offline. There is no embedded working HR application inside the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objectives and users</a:t>
            </a:r>
          </a:p>
          <a:p/>
          <a:p>
            <a:r>
              <a:t>The project addresses fragmentation in employee records and HR processes. Objectives are to provide a consistent employee source of information, support traceable request workflows, enable self-service, preserve role-appropriate access, and make operational data easier to understand. The intended users include employees, managers, recruiters, payroll administrators, HR managers, HR administrators and super administrators. Employees access their own information and applicable self-service features; operational specialists receive permissions for their responsibilities. Managers have team-oriented responsibilities where the backend permits them. Benefits on this slide are design goals and qualitative outcomes, not measured cost savings or adoption results. Do not claim percentage improvements in productivity or processing time without a separate study. The system includes public careers pages outside the authenticated application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now an editable schematic of interface anatomy, not a screenshot. It contains no live counts. The real light and dark dashboard screenshots are together on slide 11. Explain greeting/action hierarchy, workforce insight and appreciation, then open the real UI reference if helpful.</a:t>
            </a:r>
          </a:p>
          <a:p/>
          <a:p>
            <a:r>
              <a:t>Design system and dashboard tour</a:t>
            </a:r>
          </a:p>
          <a:p/>
          <a:p>
            <a:r>
              <a:t>The light theme uses white surfaces, a warm off-white background (#F7F7F2), olive actions (#5C6936), a deep olive sidebar (#293121) and dark readable text (#2D3424). The screenshot is a real captured dashboard; the counts and financial figure are demonstration records. The greeting changes with time of day. Permissions influence visible actions and access to analytics. The implemented workforce chart supports six- and twelve-month periods, keyboard/hover values and a data-table alternative. Department bars and policy acknowledgement progress summarize existing API data. The shared shell includes Ctrl/Cmd+K page search, arrow-key navigation, Enter to select, Escape to close, a mobile drawer, a skip link and a persistent theme preference. First visit defaults to the light theme. Dark mode remains an intentional user option. Do not claim that individual chart points already drill into filtered business lists: that enhancement was discussed but is not part of the verified implementation. Click the theme comparison button for the corresponding dark screenshot.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functional scope</a:t>
            </a:r>
          </a:p>
          <a:p/>
          <a:p>
            <a:r>
              <a:t>Recruitment includes requisitions, public careers, candidates, applications and pipeline events, interview scheduling/feedback, offers and onboarding. Onboarding provides templates, plans and tasks. Core HR includes employee records, contacts, statutory details, document metadata and file access, reporting relationships, timeline events, organization masters and asset allocation history. Time management includes attendance days, holidays, regularization, leave types, balances, requests, cancellations and accrual operations, integrated with approval requests and steps. Payroll includes salary components, payroll runs, adjustments, calculation, submission, paid state, payslips, PDF downloads and register/bank-file exports. Performance includes review cycles, goals, progress updates, employee self-review, manager review, acknowledgement and feedback/praise. Support includes helpdesk tickets/comments and policies/acknowledgements. Analytics and personal summaries assemble existing operational information. This scope was checked against current frontend routes, backend controllers and Flyway migrations; the older project report describes an earlier milestone and is not the sole source. Module presence does not itself prove every business scenario has been tested.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branching diagram summarizes a leave request: submit, validate and review, followed by an approval or another outcome. Exact policy and approval configuration determine behavior. The recognition strip demonstrates a second kind of interaction; its button opens the demo choices, not a submit action.</a:t>
            </a:r>
          </a:p>
          <a:p/>
          <a:p>
            <a:r>
              <a:t>Workflow and interaction details</a:t>
            </a:r>
          </a:p>
          <a:p/>
          <a:p>
            <a:r>
              <a:t>Use a leave request as the simple explanatory workflow: an employee submits a request, the authorized approval process handles it, and the visible outcome updates. This is a conceptual summary; the configured workflow and policy determine the actual approval stages and eligibility. Attendance adds calendar-day selection with check-in, check-out and worked-time detail; changing month clears the selected day. Leave balance graphics separate used, pending and available amounts. Payroll comparison uses existing recent-run data. The appreciation wall reads existing feedback and offers a Give shoutout action using the existing feedback form and service. The carousel and dialog were tested without posting a recognition message or making a business-data mutation. Other details include loading, empty and error states, retries, accessible chart values, responsive layouts, non-nested org-chart controls and reduced-motion behavior. These are frontend presentation improvements built around existing APIs. Avoid inventing birthdays, employee anniversaries or recognition messages when no corresponding data is available.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and technology rationale</a:t>
            </a:r>
          </a:p>
          <a:p/>
          <a:p>
            <a:r>
              <a:t>The frontend uses Angular 18 standalone components with lazy-loaded feature routes, Angular Material and SCSS. Route guards provide navigation behavior; the backend is responsible for authorization. The backend targets Java 21 and Spring Boot 3.3.4. Features are organized into packages with controllers, services, repositories and DTOs; JPA/Hibernate persists entities, MapStruct maps data and Bean Validation validates inputs. Spring Security and JWT protect REST endpoints under /api/v1. Oracle is the intended database for the packaged deployment. The running demonstration used an H2 profile with Oracle compatibility; it must not be described as proof of production Oracle behavior. Flyway manages versioned schema changes. Document metadata lives in the database while file bytes are handled by a storage service. The codebase also contains notification/mail handling, Caffeine caching and springdoc OpenAPI support. The architecture is a modular backend application, not a deployed microservice fleet. Keeping the existing REST and business-service boundary let the UI redesign change presentation without rewriting backend contracts.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boundaries and important limits</a:t>
            </a:r>
          </a:p>
          <a:p/>
          <a:p>
            <a:r>
              <a:t>The access model combines roles, permissions and record-level scope. An employee's self-service access differs from manager team access and authorized HR operations; specific permissions are checked by endpoint and service. JWT access tokens and rotating refresh tokens are used, with BCrypt password hashes and a failed-login lockout policy. Logout revokes refresh-token access; do not claim every issued access token is instantly invalidated. Selected statutory and bank fields use AES-GCM at rest with masked responses and controlled reveal paths; this does not mean every database column is encrypted. Sensitive actions and operational changes have audit support. Upload handling uses generated storage keys, allowed file types/signature validation and validated paths. It is not a malware-scanning service. HTTPS, managed secrets, deployment hardening, recovery procedures and security testing remain deployment responsibilities. The slide describes implemented controls, not a compliance certification or penetration-test result. Permission-filtered UI improves usability, but a hidden button is never the security boundary.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evidence and limits</a:t>
            </a:r>
          </a:p>
          <a:p/>
          <a:p>
            <a:r>
              <a:t>Evidence is stored in reports/ui-audit.json, ui-interactions.json, ui-mobile.json and ui-final.json. The audit records 18 routes in each of two themes, totaling 36 automated accessibility scans, with zero reported violations and no recorded page runtime errors. Nineteen interaction checks passed, including dashboard period selection, table rows, keyboard chart values, appreciation carousel and dialog cancellation, keyboard search, saved theme, attendance selection/reset, payroll tooltip, analytics period/table, org-chart keyboard behavior, mobile drawer behavior, analytics retry and employee permission restrictions. Eighteen mobile routes were checked at a 390-pixel viewport; native tab strips can scroll internally. Final checks covered first-visit light theme, light/dark dashboard scans and graceful fallback for failed organization lookups. The production Angular build passed within configured budgets. Backend test classes exist for auth, employee, leave/attendance, recruitment, payroll, performance, services, migrations and personal summary, but were not rerun for this presentation. Automated accessibility scans do not replace manual assistive-technology testing. No load benchmark, production Oracle acceptance, backup-restore exercise or business-result improvement is claimed.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script, conclusion and questions</a:t>
            </a:r>
          </a:p>
          <a:p/>
          <a:p>
            <a:r>
              <a:t>Invite the audience to choose one moment. Explore: open Analytics with an authorized account, change between six and twelve months, inspect a data point by keyboard or pointer and show the tabular alternative. Appreciate: open Performance or the dashboard praise wall, show the carousel and open Give shoutout, then cancel unless posting is explicitly intended. Personalize: use the dashboard theme control and show its persistence and readable actions. The presentation's Slide tour buttons are offline internal links. Open app buttons use localhost:4200 and require the frontend, its configured backend and an appropriate session; on another computer localhost means that computer. Access may be denied or a login page shown if the account lacks permission. Close the core presentation here: HRGenius combines employee operations with a calm, accessible and human-centered interface. Ask which daily HR interaction the audience would improve next. Optional material follows: dark-mode comparison, module/API catalogue, logical data model and deployment/future work. No real business data needs to be created during this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actual product screenshots are shown side by side: light and dark. Use Return to interface anatomy to revisit the editable explanation or Choose another interaction to return to the demo menu.</a:t>
            </a:r>
          </a:p>
          <a:p/>
          <a:p>
            <a:r>
              <a:t>Optional / dark theme</a:t>
            </a:r>
          </a:p>
          <a:p/>
          <a:p>
            <a:r>
              <a:t>This screenshot shows the implemented dark theme, not a different product. Its background is #191D14, surfaces #252B1E, primary action color #CCD79E and primary text #F0F2E8. The selected sidebar state remains light and visible. Controls have separate surface, border, foreground, hover and focus treatments rather than merely darkening an entire screenshot. The preference persists between reloads, while a new session with no saved preference starts light even when the operating system prefers dark. The app has a visible Light mode / Dark mode control. Automated checks include the principal routes in both themes; automated success does not prove every contrast state or every assistive-technology interaction has been manually reviewed. Click Return to olive + white to compare with slide 4, or Menu to choose another chapter.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feature and API catalogue</a:t>
            </a:r>
          </a:p>
          <a:p/>
          <a:p>
            <a:r>
              <a:t>Core HR roots: /employees for directory and employee lifecycle, nested /employees/{employeeId} for profile subresources, /org for organization masters, /org-chart for reporting structure, /documents for document operations, /assets for allocation management and /me for personal summary. Time roots: /attendance, /holidays, /leave and /approvals. Leave exposes types, balances, adjustments, requests, cancellation and accrual operations. Recruitment roots: /recruitment and /public/careers; onboarding root: /onboarding. Payroll: /payroll/runs supports listing/detail, create, calculate, submit, paid state and deletion as permitted; nested run endpoints expose payslips, register, bank file and adjustments. /payroll/components manages salary components; /payroll/me/payslips, /me/structure and /payslips/{id}/pdf support self-service and downloads. Performance: /performance/cycles includes launch, close, summary and review lists; reviews support goals, progress, self/manager assessment and acknowledgement; feedback has wall, received, given and team views. Support/control roots are /helpdesk, /policies, /analytics, /audit-logs and /auth. These are API groupings, not a claim that every action is public or available to every role. Check controller annotations and services for exact HTTP methods, parameters, validation and permissions. Source: backend/src/main/java/com/hrgenius/**/controller and frontend/src/app/app.routes.ts.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 relationships and persistence</a:t>
            </a:r>
          </a:p>
          <a:p/>
          <a:p>
            <a:r>
              <a:t>The diagram is intentionally a selected logical model, not an exhaustive ERD or a statement of every foreign-key cardinality. Flyway migrations define authentication tables (users, roles, permissions and join tables), refresh tokens and audit_log; organization masters; employees and their related statutory, emergency contact, document and timeline records; assets and assignment history; approval requests/steps; leave types, balances, requests and accrual log; holidays, attendance days and regularization requests. Recruitment tables include job_requisitions, candidates, job_applications, application_events, interviews, interview_feedback and offers. Onboarding includes templates/template tasks and plans/tasks. Payroll includes salary_components, payroll_runs, payslips, payslip_lines and payroll_adjustments. Performance includes review_cycles, performance_reviews, goals and feedback_notes. Support/compliance includes helpdesk_tickets, helpdesk_comments, policies and policy_acknowledgements. Employees have organization references and a manager self-reference. Users may link to an employee; do not imply that employee_id is necessarily a unique schema constraint without checking the migration. File metadata and storage bytes are separate. Versioned migrations document evolution of the database, but the H2 demo is not a substitute for Oracle integration and migration testing.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limitations, future scope and sources</a:t>
            </a:r>
          </a:p>
          <a:p/>
          <a:p>
            <a:r>
              <a:t>The repository provides an Angular frontend, a Spring Boot backend and a Docker Compose deployment configuration with Oracle, frontend serving, backend and mail development tooling. The current screenshots came from localhost:4200 with the development backend; environments may use different configured ports. H2 in-memory demonstration data can reset when the backend restarts. Production needs persistent database and upload storage, externalized secrets, HTTPS, backups and restore verification, monitoring and deployment-specific configuration. Existing backend tests cover several modules, but no backend test execution is represented as newly completed in this presentation. Next validation priorities are Oracle integration/migration acceptance, complete business-flow regression, manual accessibility testing, security review, realistic load tests and recovery exercises. Proposed product enhancements include richer role-specific dashboard composition and chart-to-record navigation; they were discussed but should not be presented as completed. SSO and operational hardening are future directions rather than current verified features. Primary sources: frontend/src/app/app.routes.ts; frontend/src/app/features and shared components; backend/pom.xml; backend/src/main/java/com/hrgenius; backend/src/main/resources/db/migration; reports/UI_DESIGN_NOTES.md; reports/ui-audit.json; reports/ui-interactions.json; reports/ui-mobile.json; reports/ui-final.json. The older Project Report and SRS are supporting documents; current source code takes precedence where scope differs. Slides and notes contain no real credentials, macros or unsupported business benefit statistics.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xml"/><Relationship Id="rId4" Type="http://schemas.openxmlformats.org/officeDocument/2006/relationships/image" Target="../media/image1.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7.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image" Target="../media/image2.png"/><Relationship Id="rId6" Type="http://schemas.openxmlformats.org/officeDocument/2006/relationships/slide" Target="slide1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1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5.xml"/><Relationship Id="rId4" Type="http://schemas.openxmlformats.org/officeDocument/2006/relationships/slide" Target="slide7.xml"/><Relationship Id="rId5" Type="http://schemas.openxmlformats.org/officeDocument/2006/relationships/image" Target="../media/image3.png"/><Relationship Id="rId6" Type="http://schemas.openxmlformats.org/officeDocument/2006/relationships/notesSlide" Target="../notesSlides/notesSlide6.xml"/><Relationship Id="rId7" Type="http://schemas.openxmlformats.org/officeDocument/2006/relationships/slide" Target="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8.xml"/><Relationship Id="rId4" Type="http://schemas.openxmlformats.org/officeDocument/2006/relationships/slide" Target="slide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9.xml"/><Relationship Id="rId4" Type="http://schemas.openxmlformats.org/officeDocument/2006/relationships/slide" Target="slide11.xml"/><Relationship Id="rId5" Type="http://schemas.openxmlformats.org/officeDocument/2006/relationships/slide" Target="slide4.xml"/><Relationship Id="rId6" Type="http://schemas.openxmlformats.org/officeDocument/2006/relationships/hyperlink" Target="http://localhost:4200/analytics" TargetMode="External"/><Relationship Id="rId7" Type="http://schemas.openxmlformats.org/officeDocument/2006/relationships/slide" Target="slide6.xml"/><Relationship Id="rId8" Type="http://schemas.openxmlformats.org/officeDocument/2006/relationships/hyperlink" Target="http://localhost:4200/performance" TargetMode="External"/><Relationship Id="rId9" Type="http://schemas.openxmlformats.org/officeDocument/2006/relationships/hyperlink" Target="http://localhost:4200/dashboard" TargetMode="Externa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image" Target="../media/image4.png"/><Relationship Id="rId6" Type="http://schemas.openxmlformats.org/officeDocument/2006/relationships/slide" Target="slide4.xml"/><Relationship Id="rId7" Type="http://schemas.openxmlformats.org/officeDocument/2006/relationships/notesSlide" Target="../notesSlides/notesSlide11.xml"/><Relationship Id="rId8"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1.xml"/><Relationship Id="rId4" Type="http://schemas.openxmlformats.org/officeDocument/2006/relationships/slide" Target="slide1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2.xml"/><Relationship Id="rId4" Type="http://schemas.openxmlformats.org/officeDocument/2006/relationships/slide" Target="slide1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0.xml"/><Relationship Id="rId6"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93121"/>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CCD79E"/>
                </a:solidFill>
                <a:latin typeface="Segoe UI"/>
              </a:defRPr>
            </a:pPr>
            <a:r>
              <a:t>HRGenius  /  PEOPLE • PROCESS • INSIGHT</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FFFFFF"/>
                </a:solidFill>
                <a:latin typeface="Segoe UI"/>
              </a:defRPr>
            </a:pPr>
          </a:p>
        </p:txBody>
      </p:sp>
      <p:sp>
        <p:nvSpPr>
          <p:cNvPr id="4" name="Rectangle 3"/>
          <p:cNvSpPr/>
          <p:nvPr/>
        </p:nvSpPr>
        <p:spPr>
          <a:xfrm>
            <a:off x="502920" y="6364224"/>
            <a:ext cx="11155680" cy="10972"/>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CCD79E"/>
                </a:solidFill>
                <a:latin typeface="Segoe UI"/>
              </a:defRPr>
            </a:pPr>
            <a:r>
              <a:t>A LITTLE MORE HUMAN.   •   PROJECT SHOWCASE</a:t>
            </a:r>
          </a:p>
        </p:txBody>
      </p:sp>
      <p:sp>
        <p:nvSpPr>
          <p:cNvPr id="6" name="Rounded Rectangle 5">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7" name="Rounded Rectangle 6">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8" name="Rounded Rectangle 7">
            <a:hlinkClick action="ppaction://hlinksldjump" r:id="rId2"/>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TextBox 8"/>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CCD79E"/>
                </a:solidFill>
                <a:latin typeface="Segoe UI"/>
              </a:defRPr>
            </a:pPr>
            <a:r>
              <a:t>01</a:t>
            </a:r>
          </a:p>
        </p:txBody>
      </p:sp>
      <p:sp>
        <p:nvSpPr>
          <p:cNvPr id="10" name="TextBox 9"/>
          <p:cNvSpPr txBox="1"/>
          <p:nvPr/>
        </p:nvSpPr>
        <p:spPr>
          <a:xfrm>
            <a:off x="640080" y="1143000"/>
            <a:ext cx="5486400" cy="731520"/>
          </a:xfrm>
          <a:prstGeom prst="rect">
            <a:avLst/>
          </a:prstGeom>
          <a:noFill/>
          <a:effectLst/>
        </p:spPr>
        <p:txBody>
          <a:bodyPr wrap="square" lIns="0" rIns="0" tIns="0" bIns="0">
            <a:spAutoFit/>
          </a:bodyPr>
          <a:lstStyle/>
          <a:p>
            <a:pPr>
              <a:spcAft>
                <a:spcPts val="800"/>
              </a:spcAft>
              <a:defRPr sz="4800" b="1">
                <a:solidFill>
                  <a:srgbClr val="FFFFFF"/>
                </a:solidFill>
                <a:latin typeface="Segoe UI"/>
              </a:defRPr>
            </a:pPr>
            <a:r>
              <a:t>HRGenius</a:t>
            </a:r>
          </a:p>
        </p:txBody>
      </p:sp>
      <p:sp>
        <p:nvSpPr>
          <p:cNvPr id="11" name="TextBox 10"/>
          <p:cNvSpPr txBox="1"/>
          <p:nvPr/>
        </p:nvSpPr>
        <p:spPr>
          <a:xfrm>
            <a:off x="667512" y="2240280"/>
            <a:ext cx="5212080" cy="1463040"/>
          </a:xfrm>
          <a:prstGeom prst="rect">
            <a:avLst/>
          </a:prstGeom>
          <a:noFill/>
          <a:effectLst/>
        </p:spPr>
        <p:txBody>
          <a:bodyPr wrap="square" lIns="0" rIns="0" tIns="0" bIns="0">
            <a:spAutoFit/>
          </a:bodyPr>
          <a:lstStyle/>
          <a:p>
            <a:pPr>
              <a:spcAft>
                <a:spcPts val="800"/>
              </a:spcAft>
              <a:defRPr sz="3400" b="0">
                <a:solidFill>
                  <a:srgbClr val="FFFFFF"/>
                </a:solidFill>
                <a:latin typeface="Georgia"/>
              </a:defRPr>
            </a:pPr>
            <a:r>
              <a:t>Every workday.</a:t>
            </a:r>
          </a:p>
          <a:p>
            <a:pPr>
              <a:spcAft>
                <a:spcPts val="800"/>
              </a:spcAft>
              <a:defRPr sz="3400" b="0">
                <a:solidFill>
                  <a:srgbClr val="FFFFFF"/>
                </a:solidFill>
                <a:latin typeface="Georgia"/>
              </a:defRPr>
            </a:pPr>
            <a:r>
              <a:t>A little more human.</a:t>
            </a:r>
          </a:p>
        </p:txBody>
      </p:sp>
      <p:sp>
        <p:nvSpPr>
          <p:cNvPr id="12" name="TextBox 11"/>
          <p:cNvSpPr txBox="1"/>
          <p:nvPr/>
        </p:nvSpPr>
        <p:spPr>
          <a:xfrm>
            <a:off x="685800" y="4041648"/>
            <a:ext cx="4937760" cy="731520"/>
          </a:xfrm>
          <a:prstGeom prst="rect">
            <a:avLst/>
          </a:prstGeom>
          <a:noFill/>
          <a:effectLst/>
        </p:spPr>
        <p:txBody>
          <a:bodyPr wrap="square" lIns="0" rIns="0" tIns="0" bIns="0">
            <a:spAutoFit/>
          </a:bodyPr>
          <a:lstStyle/>
          <a:p>
            <a:pPr>
              <a:spcAft>
                <a:spcPts val="800"/>
              </a:spcAft>
              <a:defRPr sz="1800" b="0">
                <a:solidFill>
                  <a:srgbClr val="CCD79E"/>
                </a:solidFill>
                <a:latin typeface="Segoe UI"/>
              </a:defRPr>
            </a:pPr>
            <a:r>
              <a:t>An employee-centered system that connects</a:t>
            </a:r>
          </a:p>
          <a:p>
            <a:pPr>
              <a:spcAft>
                <a:spcPts val="800"/>
              </a:spcAft>
              <a:defRPr sz="1800" b="0">
                <a:solidFill>
                  <a:srgbClr val="CCD79E"/>
                </a:solidFill>
                <a:latin typeface="Segoe UI"/>
              </a:defRPr>
            </a:pPr>
            <a:r>
              <a:t>people, decisions and everyday progress.</a:t>
            </a:r>
          </a:p>
        </p:txBody>
      </p:sp>
      <p:sp>
        <p:nvSpPr>
          <p:cNvPr id="13" name="Rounded Rectangle 12">
            <a:hlinkClick action="ppaction://hlinksldjump" r:id="rId2"/>
          </p:cNvPr>
          <p:cNvSpPr/>
          <p:nvPr/>
        </p:nvSpPr>
        <p:spPr>
          <a:xfrm>
            <a:off x="685800" y="5166360"/>
            <a:ext cx="2377440" cy="502920"/>
          </a:xfrm>
          <a:prstGeom prst="roundRect">
            <a:avLst>
              <a:gd name="adj" fmla="val 50000"/>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Start exploring   →</a:t>
            </a:r>
          </a:p>
        </p:txBody>
      </p:sp>
      <p:cxnSp>
        <p:nvCxnSpPr>
          <p:cNvPr id="14" name="Connector 13"/>
          <p:cNvCxnSpPr/>
          <p:nvPr/>
        </p:nvCxnSpPr>
        <p:spPr>
          <a:xfrm flipH="1" flipV="1">
            <a:off x="8613648" y="1527048"/>
            <a:ext cx="118872" cy="1856232"/>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732520" y="3063240"/>
            <a:ext cx="1847088" cy="32004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732520" y="3383280"/>
            <a:ext cx="1207008" cy="160020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7470648" y="3383280"/>
            <a:ext cx="1261872" cy="160020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6830568" y="3063240"/>
            <a:ext cx="1901952" cy="32004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7909560" y="2587752"/>
            <a:ext cx="1645920" cy="1645920"/>
          </a:xfrm>
          <a:prstGeom prst="ellipse">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606790" y="2862072"/>
            <a:ext cx="260603" cy="260603"/>
          </a:xfrm>
          <a:prstGeom prst="ellipse">
            <a:avLst/>
          </a:prstGeom>
          <a:solidFill>
            <a:srgbClr val="293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28812" y="3018434"/>
            <a:ext cx="199796" cy="199796"/>
          </a:xfrm>
          <a:prstGeom prst="ellipse">
            <a:avLst/>
          </a:prstGeom>
          <a:solidFill>
            <a:srgbClr val="293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945575" y="3018434"/>
            <a:ext cx="199796" cy="199796"/>
          </a:xfrm>
          <a:prstGeom prst="ellipse">
            <a:avLst/>
          </a:prstGeom>
          <a:solidFill>
            <a:srgbClr val="293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45982" y="3192170"/>
            <a:ext cx="382219" cy="416966"/>
          </a:xfrm>
          <a:prstGeom prst="rect">
            <a:avLst/>
          </a:prstGeom>
          <a:solidFill>
            <a:srgbClr val="293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02752" y="3279038"/>
            <a:ext cx="191109" cy="260603"/>
          </a:xfrm>
          <a:prstGeom prst="rect">
            <a:avLst/>
          </a:prstGeom>
          <a:solidFill>
            <a:srgbClr val="293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80322" y="3279038"/>
            <a:ext cx="191109" cy="260603"/>
          </a:xfrm>
          <a:prstGeom prst="rect">
            <a:avLst/>
          </a:prstGeom>
          <a:solidFill>
            <a:srgbClr val="293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183879" y="1115568"/>
            <a:ext cx="822960" cy="822960"/>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526780" y="1280160"/>
            <a:ext cx="137160" cy="137160"/>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380475" y="1362456"/>
            <a:ext cx="105156" cy="105156"/>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705087" y="1362456"/>
            <a:ext cx="105156" cy="105156"/>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494776" y="1453895"/>
            <a:ext cx="201168" cy="219456"/>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66759" y="1499616"/>
            <a:ext cx="100584" cy="13716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723376" y="1499616"/>
            <a:ext cx="100584" cy="13716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01000" y="2048256"/>
            <a:ext cx="1234440" cy="274320"/>
          </a:xfrm>
          <a:prstGeom prst="rect">
            <a:avLst/>
          </a:prstGeom>
          <a:noFill/>
          <a:effectLst/>
        </p:spPr>
        <p:txBody>
          <a:bodyPr wrap="square" lIns="0" rIns="0" tIns="0" bIns="0">
            <a:spAutoFit/>
          </a:bodyPr>
          <a:lstStyle/>
          <a:p>
            <a:pPr>
              <a:spcAft>
                <a:spcPts val="800"/>
              </a:spcAft>
              <a:defRPr sz="1400" b="1">
                <a:solidFill>
                  <a:srgbClr val="CCD79E"/>
                </a:solidFill>
                <a:latin typeface="Segoe UI"/>
              </a:defRPr>
            </a:pPr>
            <a:r>
              <a:t>People</a:t>
            </a:r>
          </a:p>
        </p:txBody>
      </p:sp>
      <p:sp>
        <p:nvSpPr>
          <p:cNvPr id="34" name="Oval 33"/>
          <p:cNvSpPr/>
          <p:nvPr/>
        </p:nvSpPr>
        <p:spPr>
          <a:xfrm>
            <a:off x="10149840" y="2651760"/>
            <a:ext cx="822960" cy="822960"/>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351007" y="2889504"/>
            <a:ext cx="402336"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10351007" y="2889504"/>
            <a:ext cx="0" cy="338328"/>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53344" y="2889504"/>
            <a:ext cx="0" cy="338328"/>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351007" y="3227832"/>
            <a:ext cx="402337"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451592" y="2816352"/>
            <a:ext cx="0" cy="13716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652759" y="2816352"/>
            <a:ext cx="0" cy="13716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0424159" y="3008376"/>
            <a:ext cx="45720"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424159" y="3122676"/>
            <a:ext cx="45720"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538459" y="3008376"/>
            <a:ext cx="45720"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538459" y="3122676"/>
            <a:ext cx="45720"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652759" y="3008376"/>
            <a:ext cx="45720"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652759" y="3122676"/>
            <a:ext cx="45720"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66960" y="3584448"/>
            <a:ext cx="1234440" cy="274320"/>
          </a:xfrm>
          <a:prstGeom prst="rect">
            <a:avLst/>
          </a:prstGeom>
          <a:noFill/>
          <a:effectLst/>
        </p:spPr>
        <p:txBody>
          <a:bodyPr wrap="square" lIns="0" rIns="0" tIns="0" bIns="0">
            <a:spAutoFit/>
          </a:bodyPr>
          <a:lstStyle/>
          <a:p>
            <a:pPr>
              <a:spcAft>
                <a:spcPts val="800"/>
              </a:spcAft>
              <a:defRPr sz="1400" b="1">
                <a:solidFill>
                  <a:srgbClr val="CCD79E"/>
                </a:solidFill>
                <a:latin typeface="Segoe UI"/>
              </a:defRPr>
            </a:pPr>
            <a:r>
              <a:t>Time</a:t>
            </a:r>
          </a:p>
        </p:txBody>
      </p:sp>
      <p:sp>
        <p:nvSpPr>
          <p:cNvPr id="48" name="Oval 47"/>
          <p:cNvSpPr/>
          <p:nvPr/>
        </p:nvSpPr>
        <p:spPr>
          <a:xfrm>
            <a:off x="9509760" y="4572000"/>
            <a:ext cx="822960" cy="822960"/>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729215" y="4992624"/>
            <a:ext cx="82296" cy="164592"/>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866376" y="4873752"/>
            <a:ext cx="82296" cy="283464"/>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003536" y="4764024"/>
            <a:ext cx="82296" cy="393192"/>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326880" y="5504688"/>
            <a:ext cx="1234440" cy="274320"/>
          </a:xfrm>
          <a:prstGeom prst="rect">
            <a:avLst/>
          </a:prstGeom>
          <a:noFill/>
          <a:effectLst/>
        </p:spPr>
        <p:txBody>
          <a:bodyPr wrap="square" lIns="0" rIns="0" tIns="0" bIns="0">
            <a:spAutoFit/>
          </a:bodyPr>
          <a:lstStyle/>
          <a:p>
            <a:pPr>
              <a:spcAft>
                <a:spcPts val="800"/>
              </a:spcAft>
              <a:defRPr sz="1400" b="1">
                <a:solidFill>
                  <a:srgbClr val="CCD79E"/>
                </a:solidFill>
                <a:latin typeface="Segoe UI"/>
              </a:defRPr>
            </a:pPr>
            <a:r>
              <a:t>Insight</a:t>
            </a:r>
          </a:p>
        </p:txBody>
      </p:sp>
      <p:sp>
        <p:nvSpPr>
          <p:cNvPr id="53" name="Oval 52"/>
          <p:cNvSpPr/>
          <p:nvPr/>
        </p:nvSpPr>
        <p:spPr>
          <a:xfrm>
            <a:off x="7040880" y="4572000"/>
            <a:ext cx="822960" cy="822960"/>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5-Point Star 53"/>
          <p:cNvSpPr/>
          <p:nvPr/>
        </p:nvSpPr>
        <p:spPr>
          <a:xfrm>
            <a:off x="7223760" y="4736592"/>
            <a:ext cx="457200" cy="457200"/>
          </a:xfrm>
          <a:prstGeom prst="star5">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858000" y="5504688"/>
            <a:ext cx="1234440" cy="274320"/>
          </a:xfrm>
          <a:prstGeom prst="rect">
            <a:avLst/>
          </a:prstGeom>
          <a:noFill/>
          <a:effectLst/>
        </p:spPr>
        <p:txBody>
          <a:bodyPr wrap="square" lIns="0" rIns="0" tIns="0" bIns="0">
            <a:spAutoFit/>
          </a:bodyPr>
          <a:lstStyle/>
          <a:p>
            <a:pPr>
              <a:spcAft>
                <a:spcPts val="800"/>
              </a:spcAft>
              <a:defRPr sz="1400" b="1">
                <a:solidFill>
                  <a:srgbClr val="CCD79E"/>
                </a:solidFill>
                <a:latin typeface="Segoe UI"/>
              </a:defRPr>
            </a:pPr>
            <a:r>
              <a:t>Growth</a:t>
            </a:r>
          </a:p>
        </p:txBody>
      </p:sp>
      <p:sp>
        <p:nvSpPr>
          <p:cNvPr id="56" name="Oval 55"/>
          <p:cNvSpPr/>
          <p:nvPr/>
        </p:nvSpPr>
        <p:spPr>
          <a:xfrm>
            <a:off x="6400800" y="2651760"/>
            <a:ext cx="822960" cy="822960"/>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592824" y="2825496"/>
            <a:ext cx="420624" cy="420624"/>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38544" y="2875788"/>
            <a:ext cx="333756" cy="292608"/>
          </a:xfrm>
          <a:prstGeom prst="rect">
            <a:avLst/>
          </a:prstGeom>
          <a:noFill/>
          <a:effectLst/>
        </p:spPr>
        <p:txBody>
          <a:bodyPr wrap="square" lIns="0" rIns="0" tIns="0" bIns="0">
            <a:spAutoFit/>
          </a:bodyPr>
          <a:lstStyle/>
          <a:p>
            <a:pPr algn="l">
              <a:spcAft>
                <a:spcPts val="800"/>
              </a:spcAft>
              <a:defRPr sz="1700" b="1">
                <a:solidFill>
                  <a:srgbClr val="FFFFFF"/>
                </a:solidFill>
                <a:latin typeface="Segoe UI"/>
              </a:defRPr>
            </a:pPr>
            <a:r>
              <a:t>$</a:t>
            </a:r>
          </a:p>
        </p:txBody>
      </p:sp>
      <p:sp>
        <p:nvSpPr>
          <p:cNvPr id="59" name="TextBox 58"/>
          <p:cNvSpPr txBox="1"/>
          <p:nvPr/>
        </p:nvSpPr>
        <p:spPr>
          <a:xfrm>
            <a:off x="6217920" y="3584448"/>
            <a:ext cx="1234440" cy="274320"/>
          </a:xfrm>
          <a:prstGeom prst="rect">
            <a:avLst/>
          </a:prstGeom>
          <a:noFill/>
          <a:effectLst/>
        </p:spPr>
        <p:txBody>
          <a:bodyPr wrap="square" lIns="0" rIns="0" tIns="0" bIns="0">
            <a:spAutoFit/>
          </a:bodyPr>
          <a:lstStyle/>
          <a:p>
            <a:pPr>
              <a:spcAft>
                <a:spcPts val="800"/>
              </a:spcAft>
              <a:defRPr sz="1400" b="1">
                <a:solidFill>
                  <a:srgbClr val="CCD79E"/>
                </a:solidFill>
                <a:latin typeface="Segoe UI"/>
              </a:defRPr>
            </a:pPr>
            <a:r>
              <a:t>Pay</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5C6936"/>
                </a:solidFill>
                <a:latin typeface="Segoe UI"/>
              </a:defRPr>
            </a:pPr>
            <a:r>
              <a:t>HRGenius  /  YOUR STORY MAP</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2D3424"/>
                </a:solidFill>
                <a:latin typeface="Segoe UI"/>
              </a:defRPr>
            </a:pPr>
            <a:r>
              <a:t>A clear path from problem to product.</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Choose a chapter. Every olive button is clickable in Slide Show mode.</a:t>
            </a:r>
          </a:p>
        </p:txBody>
      </p:sp>
      <p:sp>
        <p:nvSpPr>
          <p:cNvPr id="5" name="Rectangle 4"/>
          <p:cNvSpPr/>
          <p:nvPr/>
        </p:nvSpPr>
        <p:spPr>
          <a:xfrm>
            <a:off x="502920" y="6364224"/>
            <a:ext cx="11155680" cy="10972"/>
          </a:xfrm>
          <a:prstGeom prst="rect">
            <a:avLst/>
          </a:prstGeom>
          <a:solidFill>
            <a:srgbClr val="E3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626752"/>
                </a:solidFill>
                <a:latin typeface="Segoe UI"/>
              </a:defRPr>
            </a:pPr>
            <a:r>
              <a:t>02</a:t>
            </a:r>
          </a:p>
        </p:txBody>
      </p:sp>
      <p:sp>
        <p:nvSpPr>
          <p:cNvPr id="11" name="Rounded Rectangle 10"/>
          <p:cNvSpPr/>
          <p:nvPr/>
        </p:nvSpPr>
        <p:spPr>
          <a:xfrm>
            <a:off x="640080" y="2240280"/>
            <a:ext cx="3520440" cy="178308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98981" y="2441448"/>
            <a:ext cx="150876" cy="150876"/>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8047" y="2531973"/>
            <a:ext cx="115671" cy="115671"/>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95120" y="2531973"/>
            <a:ext cx="115671" cy="115671"/>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3777" y="2632557"/>
            <a:ext cx="221284" cy="241401"/>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59" y="2682849"/>
            <a:ext cx="110642" cy="150876"/>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15237" y="2682849"/>
            <a:ext cx="110642" cy="150876"/>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27048" y="2395728"/>
            <a:ext cx="2377440" cy="292608"/>
          </a:xfrm>
          <a:prstGeom prst="rect">
            <a:avLst/>
          </a:prstGeom>
          <a:noFill/>
          <a:effectLst/>
        </p:spPr>
        <p:txBody>
          <a:bodyPr wrap="square" lIns="0" rIns="0" tIns="0" bIns="0">
            <a:spAutoFit/>
          </a:bodyPr>
          <a:lstStyle/>
          <a:p>
            <a:pPr>
              <a:spcAft>
                <a:spcPts val="800"/>
              </a:spcAft>
              <a:defRPr sz="1600" b="1">
                <a:solidFill>
                  <a:srgbClr val="2D3424"/>
                </a:solidFill>
                <a:latin typeface="Segoe UI"/>
              </a:defRPr>
            </a:pPr>
            <a:r>
              <a:t>01 / Why it matters</a:t>
            </a:r>
          </a:p>
        </p:txBody>
      </p:sp>
      <p:sp>
        <p:nvSpPr>
          <p:cNvPr id="19" name="TextBox 18"/>
          <p:cNvSpPr txBox="1"/>
          <p:nvPr/>
        </p:nvSpPr>
        <p:spPr>
          <a:xfrm>
            <a:off x="1527048" y="2843784"/>
            <a:ext cx="2377440" cy="457200"/>
          </a:xfrm>
          <a:prstGeom prst="rect">
            <a:avLst/>
          </a:prstGeom>
          <a:noFill/>
          <a:effectLst/>
        </p:spPr>
        <p:txBody>
          <a:bodyPr wrap="square" lIns="0" rIns="0" tIns="0" bIns="0">
            <a:spAutoFit/>
          </a:bodyPr>
          <a:lstStyle/>
          <a:p>
            <a:pPr>
              <a:spcAft>
                <a:spcPts val="800"/>
              </a:spcAft>
              <a:defRPr sz="1300" b="0">
                <a:solidFill>
                  <a:srgbClr val="626752"/>
                </a:solidFill>
                <a:latin typeface="Segoe UI"/>
              </a:defRPr>
            </a:pPr>
            <a:r>
              <a:t>The problem + people</a:t>
            </a:r>
          </a:p>
        </p:txBody>
      </p:sp>
      <p:sp>
        <p:nvSpPr>
          <p:cNvPr id="20" name="Rounded Rectangle 19">
            <a:hlinkClick action="ppaction://hlinksldjump" r:id="rId4"/>
          </p:cNvPr>
          <p:cNvSpPr/>
          <p:nvPr/>
        </p:nvSpPr>
        <p:spPr>
          <a:xfrm>
            <a:off x="1527048" y="3346704"/>
            <a:ext cx="2286000" cy="502920"/>
          </a:xfrm>
          <a:prstGeom prst="roundRect">
            <a:avLst>
              <a:gd name="adj" fmla="val 50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Explore chapter   →</a:t>
            </a:r>
          </a:p>
        </p:txBody>
      </p:sp>
      <p:sp>
        <p:nvSpPr>
          <p:cNvPr id="21" name="Rounded Rectangle 20"/>
          <p:cNvSpPr/>
          <p:nvPr/>
        </p:nvSpPr>
        <p:spPr>
          <a:xfrm>
            <a:off x="4407408" y="2240280"/>
            <a:ext cx="3520440" cy="178308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4590288" y="2466594"/>
            <a:ext cx="477774"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068062" y="2466594"/>
            <a:ext cx="0" cy="326898"/>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4590288" y="2793492"/>
            <a:ext cx="477774"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590288" y="2466594"/>
            <a:ext cx="0" cy="326898"/>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826660" y="2793492"/>
            <a:ext cx="0" cy="100584"/>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00930" y="2894076"/>
            <a:ext cx="251460"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294376" y="2395728"/>
            <a:ext cx="2377440" cy="292608"/>
          </a:xfrm>
          <a:prstGeom prst="rect">
            <a:avLst/>
          </a:prstGeom>
          <a:noFill/>
          <a:effectLst/>
        </p:spPr>
        <p:txBody>
          <a:bodyPr wrap="square" lIns="0" rIns="0" tIns="0" bIns="0">
            <a:spAutoFit/>
          </a:bodyPr>
          <a:lstStyle/>
          <a:p>
            <a:pPr>
              <a:spcAft>
                <a:spcPts val="800"/>
              </a:spcAft>
              <a:defRPr sz="1600" b="1">
                <a:solidFill>
                  <a:srgbClr val="2D3424"/>
                </a:solidFill>
                <a:latin typeface="Segoe UI"/>
              </a:defRPr>
            </a:pPr>
            <a:r>
              <a:t>02 / See the experience</a:t>
            </a:r>
          </a:p>
        </p:txBody>
      </p:sp>
      <p:sp>
        <p:nvSpPr>
          <p:cNvPr id="29" name="TextBox 28"/>
          <p:cNvSpPr txBox="1"/>
          <p:nvPr/>
        </p:nvSpPr>
        <p:spPr>
          <a:xfrm>
            <a:off x="5294376" y="2843784"/>
            <a:ext cx="2377440" cy="457200"/>
          </a:xfrm>
          <a:prstGeom prst="rect">
            <a:avLst/>
          </a:prstGeom>
          <a:noFill/>
          <a:effectLst/>
        </p:spPr>
        <p:txBody>
          <a:bodyPr wrap="square" lIns="0" rIns="0" tIns="0" bIns="0">
            <a:spAutoFit/>
          </a:bodyPr>
          <a:lstStyle/>
          <a:p>
            <a:pPr>
              <a:spcAft>
                <a:spcPts val="800"/>
              </a:spcAft>
              <a:defRPr sz="1300" b="0">
                <a:solidFill>
                  <a:srgbClr val="626752"/>
                </a:solidFill>
                <a:latin typeface="Segoe UI"/>
              </a:defRPr>
            </a:pPr>
            <a:r>
              <a:t>Design + daily interactions</a:t>
            </a:r>
          </a:p>
        </p:txBody>
      </p:sp>
      <p:sp>
        <p:nvSpPr>
          <p:cNvPr id="30" name="Rounded Rectangle 29">
            <a:hlinkClick action="ppaction://hlinksldjump" r:id="rId5"/>
          </p:cNvPr>
          <p:cNvSpPr/>
          <p:nvPr/>
        </p:nvSpPr>
        <p:spPr>
          <a:xfrm>
            <a:off x="5294376" y="3346704"/>
            <a:ext cx="2286000" cy="502920"/>
          </a:xfrm>
          <a:prstGeom prst="roundRect">
            <a:avLst>
              <a:gd name="adj" fmla="val 50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Explore chapter   →</a:t>
            </a:r>
          </a:p>
        </p:txBody>
      </p:sp>
      <p:sp>
        <p:nvSpPr>
          <p:cNvPr id="31" name="Rounded Rectangle 30"/>
          <p:cNvSpPr/>
          <p:nvPr/>
        </p:nvSpPr>
        <p:spPr>
          <a:xfrm>
            <a:off x="8174736" y="2240280"/>
            <a:ext cx="3520440" cy="178308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523579" y="2441448"/>
            <a:ext cx="165963" cy="12573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357615" y="2768346"/>
            <a:ext cx="165963" cy="12573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84513" y="2768346"/>
            <a:ext cx="165963" cy="12573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8604046" y="2567178"/>
            <a:ext cx="0" cy="115671"/>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438083" y="2682849"/>
            <a:ext cx="331927"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438083" y="2682849"/>
            <a:ext cx="0" cy="85497"/>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770010" y="2682849"/>
            <a:ext cx="0" cy="85497"/>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061704" y="2395728"/>
            <a:ext cx="2377440" cy="292608"/>
          </a:xfrm>
          <a:prstGeom prst="rect">
            <a:avLst/>
          </a:prstGeom>
          <a:noFill/>
          <a:effectLst/>
        </p:spPr>
        <p:txBody>
          <a:bodyPr wrap="square" lIns="0" rIns="0" tIns="0" bIns="0">
            <a:spAutoFit/>
          </a:bodyPr>
          <a:lstStyle/>
          <a:p>
            <a:pPr>
              <a:spcAft>
                <a:spcPts val="800"/>
              </a:spcAft>
              <a:defRPr sz="1600" b="1">
                <a:solidFill>
                  <a:srgbClr val="2D3424"/>
                </a:solidFill>
                <a:latin typeface="Segoe UI"/>
              </a:defRPr>
            </a:pPr>
            <a:r>
              <a:t>03 / Follow the work</a:t>
            </a:r>
          </a:p>
        </p:txBody>
      </p:sp>
      <p:sp>
        <p:nvSpPr>
          <p:cNvPr id="40" name="TextBox 39"/>
          <p:cNvSpPr txBox="1"/>
          <p:nvPr/>
        </p:nvSpPr>
        <p:spPr>
          <a:xfrm>
            <a:off x="9061704" y="2843784"/>
            <a:ext cx="2377440" cy="457200"/>
          </a:xfrm>
          <a:prstGeom prst="rect">
            <a:avLst/>
          </a:prstGeom>
          <a:noFill/>
          <a:effectLst/>
        </p:spPr>
        <p:txBody>
          <a:bodyPr wrap="square" lIns="0" rIns="0" tIns="0" bIns="0">
            <a:spAutoFit/>
          </a:bodyPr>
          <a:lstStyle/>
          <a:p>
            <a:pPr>
              <a:spcAft>
                <a:spcPts val="800"/>
              </a:spcAft>
              <a:defRPr sz="1300" b="0">
                <a:solidFill>
                  <a:srgbClr val="626752"/>
                </a:solidFill>
                <a:latin typeface="Segoe UI"/>
              </a:defRPr>
            </a:pPr>
            <a:r>
              <a:t>Modules + a request journey</a:t>
            </a:r>
          </a:p>
        </p:txBody>
      </p:sp>
      <p:sp>
        <p:nvSpPr>
          <p:cNvPr id="41" name="Rounded Rectangle 40">
            <a:hlinkClick action="ppaction://hlinksldjump" r:id="rId6"/>
          </p:cNvPr>
          <p:cNvSpPr/>
          <p:nvPr/>
        </p:nvSpPr>
        <p:spPr>
          <a:xfrm>
            <a:off x="9061704" y="3346704"/>
            <a:ext cx="2286000" cy="502920"/>
          </a:xfrm>
          <a:prstGeom prst="roundRect">
            <a:avLst>
              <a:gd name="adj" fmla="val 50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Explore chapter   →</a:t>
            </a:r>
          </a:p>
        </p:txBody>
      </p:sp>
      <p:sp>
        <p:nvSpPr>
          <p:cNvPr id="42" name="Rounded Rectangle 41"/>
          <p:cNvSpPr/>
          <p:nvPr/>
        </p:nvSpPr>
        <p:spPr>
          <a:xfrm>
            <a:off x="640080" y="4206240"/>
            <a:ext cx="3520440" cy="178308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an 42"/>
          <p:cNvSpPr/>
          <p:nvPr/>
        </p:nvSpPr>
        <p:spPr>
          <a:xfrm>
            <a:off x="873252" y="4407407"/>
            <a:ext cx="402336" cy="502920"/>
          </a:xfrm>
          <a:prstGeom prst="ca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527048" y="4361688"/>
            <a:ext cx="2377440" cy="292608"/>
          </a:xfrm>
          <a:prstGeom prst="rect">
            <a:avLst/>
          </a:prstGeom>
          <a:noFill/>
          <a:effectLst/>
        </p:spPr>
        <p:txBody>
          <a:bodyPr wrap="square" lIns="0" rIns="0" tIns="0" bIns="0">
            <a:spAutoFit/>
          </a:bodyPr>
          <a:lstStyle/>
          <a:p>
            <a:pPr>
              <a:spcAft>
                <a:spcPts val="800"/>
              </a:spcAft>
              <a:defRPr sz="1600" b="1">
                <a:solidFill>
                  <a:srgbClr val="2D3424"/>
                </a:solidFill>
                <a:latin typeface="Segoe UI"/>
              </a:defRPr>
            </a:pPr>
            <a:r>
              <a:t>04 / Look underneath</a:t>
            </a:r>
          </a:p>
        </p:txBody>
      </p:sp>
      <p:sp>
        <p:nvSpPr>
          <p:cNvPr id="45" name="TextBox 44"/>
          <p:cNvSpPr txBox="1"/>
          <p:nvPr/>
        </p:nvSpPr>
        <p:spPr>
          <a:xfrm>
            <a:off x="1527048" y="4809744"/>
            <a:ext cx="2377440" cy="457200"/>
          </a:xfrm>
          <a:prstGeom prst="rect">
            <a:avLst/>
          </a:prstGeom>
          <a:noFill/>
          <a:effectLst/>
        </p:spPr>
        <p:txBody>
          <a:bodyPr wrap="square" lIns="0" rIns="0" tIns="0" bIns="0">
            <a:spAutoFit/>
          </a:bodyPr>
          <a:lstStyle/>
          <a:p>
            <a:pPr>
              <a:spcAft>
                <a:spcPts val="800"/>
              </a:spcAft>
              <a:defRPr sz="1300" b="0">
                <a:solidFill>
                  <a:srgbClr val="626752"/>
                </a:solidFill>
                <a:latin typeface="Segoe UI"/>
              </a:defRPr>
            </a:pPr>
            <a:r>
              <a:t>Architecture + trust</a:t>
            </a:r>
          </a:p>
        </p:txBody>
      </p:sp>
      <p:sp>
        <p:nvSpPr>
          <p:cNvPr id="46" name="Rounded Rectangle 45">
            <a:hlinkClick action="ppaction://hlinksldjump" r:id="rId7"/>
          </p:cNvPr>
          <p:cNvSpPr/>
          <p:nvPr/>
        </p:nvSpPr>
        <p:spPr>
          <a:xfrm>
            <a:off x="1527048" y="5312664"/>
            <a:ext cx="2286000" cy="502920"/>
          </a:xfrm>
          <a:prstGeom prst="roundRect">
            <a:avLst>
              <a:gd name="adj" fmla="val 50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Explore chapter   →</a:t>
            </a:r>
          </a:p>
        </p:txBody>
      </p:sp>
      <p:sp>
        <p:nvSpPr>
          <p:cNvPr id="47" name="Rounded Rectangle 46"/>
          <p:cNvSpPr/>
          <p:nvPr/>
        </p:nvSpPr>
        <p:spPr>
          <a:xfrm>
            <a:off x="4407408" y="4206240"/>
            <a:ext cx="3520440" cy="178308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640580" y="4653838"/>
            <a:ext cx="140817" cy="145847"/>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781397" y="4467758"/>
            <a:ext cx="261519" cy="331927"/>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294376" y="4361688"/>
            <a:ext cx="2377440" cy="292608"/>
          </a:xfrm>
          <a:prstGeom prst="rect">
            <a:avLst/>
          </a:prstGeom>
          <a:noFill/>
          <a:effectLst/>
        </p:spPr>
        <p:txBody>
          <a:bodyPr wrap="square" lIns="0" rIns="0" tIns="0" bIns="0">
            <a:spAutoFit/>
          </a:bodyPr>
          <a:lstStyle/>
          <a:p>
            <a:pPr>
              <a:spcAft>
                <a:spcPts val="800"/>
              </a:spcAft>
              <a:defRPr sz="1600" b="1">
                <a:solidFill>
                  <a:srgbClr val="2D3424"/>
                </a:solidFill>
                <a:latin typeface="Segoe UI"/>
              </a:defRPr>
            </a:pPr>
            <a:r>
              <a:t>05 / See the evidence</a:t>
            </a:r>
          </a:p>
        </p:txBody>
      </p:sp>
      <p:sp>
        <p:nvSpPr>
          <p:cNvPr id="51" name="TextBox 50"/>
          <p:cNvSpPr txBox="1"/>
          <p:nvPr/>
        </p:nvSpPr>
        <p:spPr>
          <a:xfrm>
            <a:off x="5294376" y="4809744"/>
            <a:ext cx="2377440" cy="457200"/>
          </a:xfrm>
          <a:prstGeom prst="rect">
            <a:avLst/>
          </a:prstGeom>
          <a:noFill/>
          <a:effectLst/>
        </p:spPr>
        <p:txBody>
          <a:bodyPr wrap="square" lIns="0" rIns="0" tIns="0" bIns="0">
            <a:spAutoFit/>
          </a:bodyPr>
          <a:lstStyle/>
          <a:p>
            <a:pPr>
              <a:spcAft>
                <a:spcPts val="800"/>
              </a:spcAft>
              <a:defRPr sz="1300" b="0">
                <a:solidFill>
                  <a:srgbClr val="626752"/>
                </a:solidFill>
                <a:latin typeface="Segoe UI"/>
              </a:defRPr>
            </a:pPr>
            <a:r>
              <a:t>Build + interaction checks</a:t>
            </a:r>
          </a:p>
        </p:txBody>
      </p:sp>
      <p:sp>
        <p:nvSpPr>
          <p:cNvPr id="52" name="Rounded Rectangle 51">
            <a:hlinkClick action="ppaction://hlinksldjump" r:id="rId8"/>
          </p:cNvPr>
          <p:cNvSpPr/>
          <p:nvPr/>
        </p:nvSpPr>
        <p:spPr>
          <a:xfrm>
            <a:off x="5294376" y="5312664"/>
            <a:ext cx="2286000" cy="502920"/>
          </a:xfrm>
          <a:prstGeom prst="roundRect">
            <a:avLst>
              <a:gd name="adj" fmla="val 50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Explore chapter   →</a:t>
            </a:r>
          </a:p>
        </p:txBody>
      </p:sp>
      <p:sp>
        <p:nvSpPr>
          <p:cNvPr id="53" name="Rounded Rectangle 52"/>
          <p:cNvSpPr/>
          <p:nvPr/>
        </p:nvSpPr>
        <p:spPr>
          <a:xfrm>
            <a:off x="8174736" y="4206240"/>
            <a:ext cx="3520440" cy="178308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Isosceles Triangle 53"/>
          <p:cNvSpPr/>
          <p:nvPr/>
        </p:nvSpPr>
        <p:spPr>
          <a:xfrm rot="5400000">
            <a:off x="8433053" y="4437583"/>
            <a:ext cx="352044" cy="402336"/>
          </a:xfrm>
          <a:prstGeom prst="triangl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61704" y="4361688"/>
            <a:ext cx="2377440" cy="292608"/>
          </a:xfrm>
          <a:prstGeom prst="rect">
            <a:avLst/>
          </a:prstGeom>
          <a:noFill/>
          <a:effectLst/>
        </p:spPr>
        <p:txBody>
          <a:bodyPr wrap="square" lIns="0" rIns="0" tIns="0" bIns="0">
            <a:spAutoFit/>
          </a:bodyPr>
          <a:lstStyle/>
          <a:p>
            <a:pPr>
              <a:spcAft>
                <a:spcPts val="800"/>
              </a:spcAft>
              <a:defRPr sz="1600" b="1">
                <a:solidFill>
                  <a:srgbClr val="2D3424"/>
                </a:solidFill>
                <a:latin typeface="Segoe UI"/>
              </a:defRPr>
            </a:pPr>
            <a:r>
              <a:t>06 / Try a moment</a:t>
            </a:r>
          </a:p>
        </p:txBody>
      </p:sp>
      <p:sp>
        <p:nvSpPr>
          <p:cNvPr id="56" name="TextBox 55"/>
          <p:cNvSpPr txBox="1"/>
          <p:nvPr/>
        </p:nvSpPr>
        <p:spPr>
          <a:xfrm>
            <a:off x="9061704" y="4809744"/>
            <a:ext cx="2377440" cy="457200"/>
          </a:xfrm>
          <a:prstGeom prst="rect">
            <a:avLst/>
          </a:prstGeom>
          <a:noFill/>
          <a:effectLst/>
        </p:spPr>
        <p:txBody>
          <a:bodyPr wrap="square" lIns="0" rIns="0" tIns="0" bIns="0">
            <a:spAutoFit/>
          </a:bodyPr>
          <a:lstStyle/>
          <a:p>
            <a:pPr>
              <a:spcAft>
                <a:spcPts val="800"/>
              </a:spcAft>
              <a:defRPr sz="1300" b="0">
                <a:solidFill>
                  <a:srgbClr val="626752"/>
                </a:solidFill>
                <a:latin typeface="Segoe UI"/>
              </a:defRPr>
            </a:pPr>
            <a:r>
              <a:t>Pick your mini-demo</a:t>
            </a:r>
          </a:p>
        </p:txBody>
      </p:sp>
      <p:sp>
        <p:nvSpPr>
          <p:cNvPr id="57" name="Rounded Rectangle 56">
            <a:hlinkClick action="ppaction://hlinksldjump" r:id="rId9"/>
          </p:cNvPr>
          <p:cNvSpPr/>
          <p:nvPr/>
        </p:nvSpPr>
        <p:spPr>
          <a:xfrm>
            <a:off x="9061704" y="5312664"/>
            <a:ext cx="2286000" cy="502920"/>
          </a:xfrm>
          <a:prstGeom prst="roundRect">
            <a:avLst>
              <a:gd name="adj" fmla="val 50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Explore chapter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5C6936"/>
                </a:solidFill>
                <a:latin typeface="Segoe UI"/>
              </a:defRPr>
            </a:pPr>
            <a:r>
              <a:t>HRGenius  /  WHY THIS PROJECT</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2D3424"/>
                </a:solidFill>
                <a:latin typeface="Segoe UI"/>
              </a:defRPr>
            </a:pPr>
            <a:r>
              <a:t>Turn scattered HR work into a shared flow.</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Three common problems. One connected workplace.</a:t>
            </a:r>
          </a:p>
        </p:txBody>
      </p:sp>
      <p:sp>
        <p:nvSpPr>
          <p:cNvPr id="5" name="Rectangle 4"/>
          <p:cNvSpPr/>
          <p:nvPr/>
        </p:nvSpPr>
        <p:spPr>
          <a:xfrm>
            <a:off x="502920" y="6364224"/>
            <a:ext cx="11155680" cy="10972"/>
          </a:xfrm>
          <a:prstGeom prst="rect">
            <a:avLst/>
          </a:prstGeom>
          <a:solidFill>
            <a:srgbClr val="E3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2"/>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3"/>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626752"/>
                </a:solidFill>
                <a:latin typeface="Segoe UI"/>
              </a:defRPr>
            </a:pPr>
            <a:r>
              <a:t>03</a:t>
            </a:r>
          </a:p>
        </p:txBody>
      </p:sp>
      <p:sp>
        <p:nvSpPr>
          <p:cNvPr id="11" name="Folded Corner 10"/>
          <p:cNvSpPr/>
          <p:nvPr/>
        </p:nvSpPr>
        <p:spPr>
          <a:xfrm>
            <a:off x="781812" y="2414016"/>
            <a:ext cx="377190" cy="502920"/>
          </a:xfrm>
          <a:prstGeom prst="foldedCorner">
            <a:avLst/>
          </a:prstGeom>
          <a:solidFill>
            <a:srgbClr val="6267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57250" y="2590038"/>
            <a:ext cx="201168" cy="0"/>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57250" y="2670505"/>
            <a:ext cx="201168" cy="0"/>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57250" y="2750972"/>
            <a:ext cx="201168" cy="0"/>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508760" y="2478024"/>
            <a:ext cx="2834640" cy="420624"/>
          </a:xfrm>
          <a:prstGeom prst="rect">
            <a:avLst/>
          </a:prstGeom>
          <a:noFill/>
          <a:effectLst/>
        </p:spPr>
        <p:txBody>
          <a:bodyPr wrap="square" lIns="0" rIns="0" tIns="0" bIns="0">
            <a:spAutoFit/>
          </a:bodyPr>
          <a:lstStyle/>
          <a:p>
            <a:pPr>
              <a:spcAft>
                <a:spcPts val="800"/>
              </a:spcAft>
              <a:defRPr sz="2100" b="0">
                <a:solidFill>
                  <a:srgbClr val="2D3424"/>
                </a:solidFill>
                <a:latin typeface="Segoe UI"/>
              </a:defRPr>
            </a:pPr>
            <a:r>
              <a:t>Scattered records</a:t>
            </a:r>
          </a:p>
        </p:txBody>
      </p:sp>
      <p:sp>
        <p:nvSpPr>
          <p:cNvPr id="16" name="Chevron 15"/>
          <p:cNvSpPr/>
          <p:nvPr/>
        </p:nvSpPr>
        <p:spPr>
          <a:xfrm>
            <a:off x="4572000" y="2496312"/>
            <a:ext cx="502920" cy="411480"/>
          </a:xfrm>
          <a:prstGeom prst="chevro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504688" y="2240280"/>
            <a:ext cx="6007608" cy="996696"/>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5780836" y="2666207"/>
            <a:ext cx="107534" cy="111374"/>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888370" y="2524109"/>
            <a:ext cx="199705" cy="253472"/>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0" y="2368296"/>
            <a:ext cx="4754880" cy="320040"/>
          </a:xfrm>
          <a:prstGeom prst="rect">
            <a:avLst/>
          </a:prstGeom>
          <a:noFill/>
          <a:effectLst/>
        </p:spPr>
        <p:txBody>
          <a:bodyPr wrap="square" lIns="0" rIns="0" tIns="0" bIns="0">
            <a:spAutoFit/>
          </a:bodyPr>
          <a:lstStyle/>
          <a:p>
            <a:pPr>
              <a:spcAft>
                <a:spcPts val="800"/>
              </a:spcAft>
              <a:defRPr sz="2100" b="1">
                <a:solidFill>
                  <a:srgbClr val="5C6936"/>
                </a:solidFill>
                <a:latin typeface="Segoe UI"/>
              </a:defRPr>
            </a:pPr>
            <a:r>
              <a:t>One employee context</a:t>
            </a:r>
          </a:p>
        </p:txBody>
      </p:sp>
      <p:sp>
        <p:nvSpPr>
          <p:cNvPr id="21" name="TextBox 20"/>
          <p:cNvSpPr txBox="1"/>
          <p:nvPr/>
        </p:nvSpPr>
        <p:spPr>
          <a:xfrm>
            <a:off x="6400800" y="2825496"/>
            <a:ext cx="4754880" cy="274320"/>
          </a:xfrm>
          <a:prstGeom prst="rect">
            <a:avLst/>
          </a:prstGeom>
          <a:noFill/>
          <a:effectLst/>
        </p:spPr>
        <p:txBody>
          <a:bodyPr wrap="square" lIns="0" rIns="0" tIns="0" bIns="0">
            <a:spAutoFit/>
          </a:bodyPr>
          <a:lstStyle/>
          <a:p>
            <a:pPr>
              <a:spcAft>
                <a:spcPts val="800"/>
              </a:spcAft>
              <a:defRPr sz="1400" b="0">
                <a:solidFill>
                  <a:srgbClr val="626752"/>
                </a:solidFill>
                <a:latin typeface="Segoe UI"/>
              </a:defRPr>
            </a:pPr>
            <a:r>
              <a:t>Profiles, documents and reporting lines</a:t>
            </a:r>
          </a:p>
        </p:txBody>
      </p:sp>
      <p:sp>
        <p:nvSpPr>
          <p:cNvPr id="22" name="Rounded Rectangular Callout 21"/>
          <p:cNvSpPr/>
          <p:nvPr/>
        </p:nvSpPr>
        <p:spPr>
          <a:xfrm>
            <a:off x="731520" y="3630168"/>
            <a:ext cx="502920" cy="402336"/>
          </a:xfrm>
          <a:prstGeom prst="wedgeRoundRectCallout">
            <a:avLst/>
          </a:prstGeom>
          <a:solidFill>
            <a:srgbClr val="6267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08760" y="3694176"/>
            <a:ext cx="2834640" cy="420624"/>
          </a:xfrm>
          <a:prstGeom prst="rect">
            <a:avLst/>
          </a:prstGeom>
          <a:noFill/>
          <a:effectLst/>
        </p:spPr>
        <p:txBody>
          <a:bodyPr wrap="square" lIns="0" rIns="0" tIns="0" bIns="0">
            <a:spAutoFit/>
          </a:bodyPr>
          <a:lstStyle/>
          <a:p>
            <a:pPr>
              <a:spcAft>
                <a:spcPts val="800"/>
              </a:spcAft>
              <a:defRPr sz="2100" b="0">
                <a:solidFill>
                  <a:srgbClr val="2D3424"/>
                </a:solidFill>
                <a:latin typeface="Segoe UI"/>
              </a:defRPr>
            </a:pPr>
            <a:r>
              <a:t>Repeated follow-ups</a:t>
            </a:r>
          </a:p>
        </p:txBody>
      </p:sp>
      <p:sp>
        <p:nvSpPr>
          <p:cNvPr id="24" name="Chevron 23"/>
          <p:cNvSpPr/>
          <p:nvPr/>
        </p:nvSpPr>
        <p:spPr>
          <a:xfrm>
            <a:off x="4572000" y="3712464"/>
            <a:ext cx="502920" cy="411480"/>
          </a:xfrm>
          <a:prstGeom prst="chevro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504688" y="3456432"/>
            <a:ext cx="6007608" cy="996696"/>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5780836" y="3882359"/>
            <a:ext cx="107534" cy="111374"/>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888370" y="3740261"/>
            <a:ext cx="199705" cy="253472"/>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0" y="3584448"/>
            <a:ext cx="4754880" cy="320040"/>
          </a:xfrm>
          <a:prstGeom prst="rect">
            <a:avLst/>
          </a:prstGeom>
          <a:noFill/>
          <a:effectLst/>
        </p:spPr>
        <p:txBody>
          <a:bodyPr wrap="square" lIns="0" rIns="0" tIns="0" bIns="0">
            <a:spAutoFit/>
          </a:bodyPr>
          <a:lstStyle/>
          <a:p>
            <a:pPr>
              <a:spcAft>
                <a:spcPts val="800"/>
              </a:spcAft>
              <a:defRPr sz="2100" b="1">
                <a:solidFill>
                  <a:srgbClr val="5C6936"/>
                </a:solidFill>
                <a:latin typeface="Segoe UI"/>
              </a:defRPr>
            </a:pPr>
            <a:r>
              <a:t>A visible next step</a:t>
            </a:r>
          </a:p>
        </p:txBody>
      </p:sp>
      <p:sp>
        <p:nvSpPr>
          <p:cNvPr id="29" name="TextBox 28"/>
          <p:cNvSpPr txBox="1"/>
          <p:nvPr/>
        </p:nvSpPr>
        <p:spPr>
          <a:xfrm>
            <a:off x="6400800" y="4041648"/>
            <a:ext cx="4754880" cy="274320"/>
          </a:xfrm>
          <a:prstGeom prst="rect">
            <a:avLst/>
          </a:prstGeom>
          <a:noFill/>
          <a:effectLst/>
        </p:spPr>
        <p:txBody>
          <a:bodyPr wrap="square" lIns="0" rIns="0" tIns="0" bIns="0">
            <a:spAutoFit/>
          </a:bodyPr>
          <a:lstStyle/>
          <a:p>
            <a:pPr>
              <a:spcAft>
                <a:spcPts val="800"/>
              </a:spcAft>
              <a:defRPr sz="1400" b="0">
                <a:solidFill>
                  <a:srgbClr val="626752"/>
                </a:solidFill>
                <a:latin typeface="Segoe UI"/>
              </a:defRPr>
            </a:pPr>
            <a:r>
              <a:t>Requests, ownership and status</a:t>
            </a:r>
          </a:p>
        </p:txBody>
      </p:sp>
      <p:sp>
        <p:nvSpPr>
          <p:cNvPr id="30" name="Rectangle 29"/>
          <p:cNvSpPr/>
          <p:nvPr/>
        </p:nvSpPr>
        <p:spPr>
          <a:xfrm>
            <a:off x="771753" y="5127955"/>
            <a:ext cx="90525" cy="181051"/>
          </a:xfrm>
          <a:prstGeom prst="rect">
            <a:avLst/>
          </a:prstGeom>
          <a:solidFill>
            <a:srgbClr val="6267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2629" y="4997196"/>
            <a:ext cx="90525" cy="311810"/>
          </a:xfrm>
          <a:prstGeom prst="rect">
            <a:avLst/>
          </a:prstGeom>
          <a:solidFill>
            <a:srgbClr val="6267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3505" y="4876495"/>
            <a:ext cx="90525" cy="432511"/>
          </a:xfrm>
          <a:prstGeom prst="rect">
            <a:avLst/>
          </a:prstGeom>
          <a:solidFill>
            <a:srgbClr val="6267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08760" y="4910328"/>
            <a:ext cx="2834640" cy="420624"/>
          </a:xfrm>
          <a:prstGeom prst="rect">
            <a:avLst/>
          </a:prstGeom>
          <a:noFill/>
          <a:effectLst/>
        </p:spPr>
        <p:txBody>
          <a:bodyPr wrap="square" lIns="0" rIns="0" tIns="0" bIns="0">
            <a:spAutoFit/>
          </a:bodyPr>
          <a:lstStyle/>
          <a:p>
            <a:pPr>
              <a:spcAft>
                <a:spcPts val="800"/>
              </a:spcAft>
              <a:defRPr sz="2100" b="0">
                <a:solidFill>
                  <a:srgbClr val="2D3424"/>
                </a:solidFill>
                <a:latin typeface="Segoe UI"/>
              </a:defRPr>
            </a:pPr>
            <a:r>
              <a:t>Hard-to-read data</a:t>
            </a:r>
          </a:p>
        </p:txBody>
      </p:sp>
      <p:sp>
        <p:nvSpPr>
          <p:cNvPr id="34" name="Chevron 33"/>
          <p:cNvSpPr/>
          <p:nvPr/>
        </p:nvSpPr>
        <p:spPr>
          <a:xfrm>
            <a:off x="4572000" y="4928616"/>
            <a:ext cx="502920" cy="411480"/>
          </a:xfrm>
          <a:prstGeom prst="chevro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504688" y="4672584"/>
            <a:ext cx="6007608" cy="996696"/>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5780836" y="5098511"/>
            <a:ext cx="107534" cy="111374"/>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888370" y="4956413"/>
            <a:ext cx="199705" cy="253472"/>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400800" y="4800600"/>
            <a:ext cx="4754880" cy="320040"/>
          </a:xfrm>
          <a:prstGeom prst="rect">
            <a:avLst/>
          </a:prstGeom>
          <a:noFill/>
          <a:effectLst/>
        </p:spPr>
        <p:txBody>
          <a:bodyPr wrap="square" lIns="0" rIns="0" tIns="0" bIns="0">
            <a:spAutoFit/>
          </a:bodyPr>
          <a:lstStyle/>
          <a:p>
            <a:pPr>
              <a:spcAft>
                <a:spcPts val="800"/>
              </a:spcAft>
              <a:defRPr sz="2100" b="1">
                <a:solidFill>
                  <a:srgbClr val="5C6936"/>
                </a:solidFill>
                <a:latin typeface="Segoe UI"/>
              </a:defRPr>
            </a:pPr>
            <a:r>
              <a:t>Useful daily insight</a:t>
            </a:r>
          </a:p>
        </p:txBody>
      </p:sp>
      <p:sp>
        <p:nvSpPr>
          <p:cNvPr id="39" name="TextBox 38"/>
          <p:cNvSpPr txBox="1"/>
          <p:nvPr/>
        </p:nvSpPr>
        <p:spPr>
          <a:xfrm>
            <a:off x="6400800" y="5257800"/>
            <a:ext cx="4754880" cy="274320"/>
          </a:xfrm>
          <a:prstGeom prst="rect">
            <a:avLst/>
          </a:prstGeom>
          <a:noFill/>
          <a:effectLst/>
        </p:spPr>
        <p:txBody>
          <a:bodyPr wrap="square" lIns="0" rIns="0" tIns="0" bIns="0">
            <a:spAutoFit/>
          </a:bodyPr>
          <a:lstStyle/>
          <a:p>
            <a:pPr>
              <a:spcAft>
                <a:spcPts val="800"/>
              </a:spcAft>
              <a:defRPr sz="1400" b="0">
                <a:solidFill>
                  <a:srgbClr val="626752"/>
                </a:solidFill>
                <a:latin typeface="Segoe UI"/>
              </a:defRPr>
            </a:pPr>
            <a:r>
              <a:t>Workforce trends and readable values</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5C6936"/>
                </a:solidFill>
                <a:latin typeface="Segoe UI"/>
              </a:defRPr>
            </a:pPr>
            <a:r>
              <a:t>HRGenius  /  EXPERIENCE ANATOMY</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2D3424"/>
                </a:solidFill>
                <a:latin typeface="Segoe UI"/>
              </a:defRPr>
            </a:pPr>
            <a:r>
              <a:t>A dashboard with a reason for every element.</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Editable interface diagram · illustrative layout, not live employee data</a:t>
            </a:r>
          </a:p>
        </p:txBody>
      </p:sp>
      <p:sp>
        <p:nvSpPr>
          <p:cNvPr id="5" name="Rectangle 4"/>
          <p:cNvSpPr/>
          <p:nvPr/>
        </p:nvSpPr>
        <p:spPr>
          <a:xfrm>
            <a:off x="502920" y="6364224"/>
            <a:ext cx="11155680" cy="10972"/>
          </a:xfrm>
          <a:prstGeom prst="rect">
            <a:avLst/>
          </a:prstGeom>
          <a:solidFill>
            <a:srgbClr val="E3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626752"/>
                </a:solidFill>
                <a:latin typeface="Segoe UI"/>
              </a:defRPr>
            </a:pPr>
            <a:r>
              <a:t>04</a:t>
            </a:r>
          </a:p>
        </p:txBody>
      </p:sp>
      <p:sp>
        <p:nvSpPr>
          <p:cNvPr id="11" name="Rounded Rectangle 10"/>
          <p:cNvSpPr/>
          <p:nvPr/>
        </p:nvSpPr>
        <p:spPr>
          <a:xfrm>
            <a:off x="594360" y="2212848"/>
            <a:ext cx="6812280" cy="3794760"/>
          </a:xfrm>
          <a:prstGeom prst="roundRect">
            <a:avLst>
              <a:gd name="adj" fmla="val 13000"/>
            </a:avLst>
          </a:prstGeom>
          <a:solidFill>
            <a:srgbClr val="FFFFFF"/>
          </a:solidFill>
          <a:ln>
            <a:solidFill>
              <a:srgbClr val="E3E5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94360" y="2212848"/>
            <a:ext cx="1115568" cy="3794760"/>
          </a:xfrm>
          <a:prstGeom prst="roundRect">
            <a:avLst>
              <a:gd name="adj" fmla="val 13000"/>
            </a:avLst>
          </a:prstGeom>
          <a:solidFill>
            <a:srgbClr val="293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46988" y="2468880"/>
            <a:ext cx="137160" cy="137160"/>
          </a:xfrm>
          <a:prstGeom prst="ellipse">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00684" y="2551176"/>
            <a:ext cx="105156" cy="105156"/>
          </a:xfrm>
          <a:prstGeom prst="ellipse">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25295" y="2551176"/>
            <a:ext cx="105156" cy="105156"/>
          </a:xfrm>
          <a:prstGeom prst="ellipse">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14983" y="2642616"/>
            <a:ext cx="201168" cy="219456"/>
          </a:xfrm>
          <a:prstGeom prst="rect">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6968" y="2688336"/>
            <a:ext cx="100584" cy="137160"/>
          </a:xfrm>
          <a:prstGeom prst="rect">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43584" y="2688336"/>
            <a:ext cx="100584" cy="137160"/>
          </a:xfrm>
          <a:prstGeom prst="rect">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77240" y="3227832"/>
            <a:ext cx="749808" cy="91440"/>
          </a:xfrm>
          <a:prstGeom prst="roundRect">
            <a:avLst>
              <a:gd name="adj" fmla="val 13000"/>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3621024"/>
            <a:ext cx="749808" cy="91440"/>
          </a:xfrm>
          <a:prstGeom prst="roundRect">
            <a:avLst>
              <a:gd name="adj" fmla="val 13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 y="4014215"/>
            <a:ext cx="749808" cy="91440"/>
          </a:xfrm>
          <a:prstGeom prst="roundRect">
            <a:avLst>
              <a:gd name="adj" fmla="val 13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7240" y="4407408"/>
            <a:ext cx="749808" cy="91440"/>
          </a:xfrm>
          <a:prstGeom prst="roundRect">
            <a:avLst>
              <a:gd name="adj" fmla="val 13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4800600"/>
            <a:ext cx="749808" cy="91440"/>
          </a:xfrm>
          <a:prstGeom prst="roundRect">
            <a:avLst>
              <a:gd name="adj" fmla="val 13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901952" y="2441448"/>
            <a:ext cx="5285232" cy="777240"/>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84831" y="2596896"/>
            <a:ext cx="4846320" cy="365760"/>
          </a:xfrm>
          <a:prstGeom prst="rect">
            <a:avLst/>
          </a:prstGeom>
          <a:noFill/>
          <a:effectLst/>
        </p:spPr>
        <p:txBody>
          <a:bodyPr wrap="square" lIns="0" rIns="0" tIns="0" bIns="0">
            <a:spAutoFit/>
          </a:bodyPr>
          <a:lstStyle/>
          <a:p>
            <a:pPr>
              <a:spcAft>
                <a:spcPts val="800"/>
              </a:spcAft>
              <a:defRPr sz="2200" b="1">
                <a:solidFill>
                  <a:srgbClr val="5C6936"/>
                </a:solidFill>
                <a:latin typeface="Segoe UI"/>
              </a:defRPr>
            </a:pPr>
            <a:r>
              <a:t>Good morning. What’s next?</a:t>
            </a:r>
          </a:p>
        </p:txBody>
      </p:sp>
      <p:sp>
        <p:nvSpPr>
          <p:cNvPr id="26" name="Rounded Rectangle 25"/>
          <p:cNvSpPr/>
          <p:nvPr/>
        </p:nvSpPr>
        <p:spPr>
          <a:xfrm>
            <a:off x="1911095" y="3429000"/>
            <a:ext cx="1645920" cy="685800"/>
          </a:xfrm>
          <a:prstGeom prst="roundRect">
            <a:avLst>
              <a:gd name="adj" fmla="val 13000"/>
            </a:avLst>
          </a:prstGeom>
          <a:solidFill>
            <a:srgbClr val="F7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135581" y="3566160"/>
            <a:ext cx="90525" cy="90525"/>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039020" y="3620475"/>
            <a:ext cx="69402" cy="69402"/>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253264" y="3620475"/>
            <a:ext cx="69402" cy="69402"/>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114458" y="3680825"/>
            <a:ext cx="132770" cy="14484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029967" y="3711000"/>
            <a:ext cx="66385" cy="90525"/>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265334" y="3711000"/>
            <a:ext cx="66385" cy="90525"/>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87168" y="3639312"/>
            <a:ext cx="1005840" cy="246888"/>
          </a:xfrm>
          <a:prstGeom prst="rect">
            <a:avLst/>
          </a:prstGeom>
          <a:noFill/>
          <a:effectLst/>
        </p:spPr>
        <p:txBody>
          <a:bodyPr wrap="square" lIns="0" rIns="0" tIns="0" bIns="0">
            <a:spAutoFit/>
          </a:bodyPr>
          <a:lstStyle/>
          <a:p>
            <a:pPr>
              <a:spcAft>
                <a:spcPts val="800"/>
              </a:spcAft>
              <a:defRPr sz="1300" b="1">
                <a:solidFill>
                  <a:srgbClr val="2D3424"/>
                </a:solidFill>
                <a:latin typeface="Segoe UI"/>
              </a:defRPr>
            </a:pPr>
            <a:r>
              <a:t>People</a:t>
            </a:r>
          </a:p>
        </p:txBody>
      </p:sp>
      <p:sp>
        <p:nvSpPr>
          <p:cNvPr id="34" name="Rounded Rectangle 33"/>
          <p:cNvSpPr/>
          <p:nvPr/>
        </p:nvSpPr>
        <p:spPr>
          <a:xfrm>
            <a:off x="3721608" y="3429000"/>
            <a:ext cx="1645920" cy="685800"/>
          </a:xfrm>
          <a:prstGeom prst="roundRect">
            <a:avLst>
              <a:gd name="adj" fmla="val 13000"/>
            </a:avLst>
          </a:prstGeom>
          <a:solidFill>
            <a:srgbClr val="F7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52550" y="3614440"/>
            <a:ext cx="265541" cy="30175"/>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3852550" y="3614440"/>
            <a:ext cx="0" cy="223296"/>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118091" y="3614440"/>
            <a:ext cx="0" cy="223296"/>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852550" y="3837736"/>
            <a:ext cx="265541"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918935" y="3566160"/>
            <a:ext cx="0" cy="90525"/>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051706" y="3566160"/>
            <a:ext cx="0" cy="90525"/>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3900830" y="3692895"/>
            <a:ext cx="30175" cy="30175"/>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900830" y="3768333"/>
            <a:ext cx="30175" cy="30175"/>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976268" y="3692895"/>
            <a:ext cx="30175" cy="30175"/>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976268" y="3768333"/>
            <a:ext cx="30175" cy="30175"/>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051706" y="3692895"/>
            <a:ext cx="30175" cy="30175"/>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051706" y="3768333"/>
            <a:ext cx="30175" cy="30175"/>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297680" y="3639312"/>
            <a:ext cx="1005840" cy="246888"/>
          </a:xfrm>
          <a:prstGeom prst="rect">
            <a:avLst/>
          </a:prstGeom>
          <a:noFill/>
          <a:effectLst/>
        </p:spPr>
        <p:txBody>
          <a:bodyPr wrap="square" lIns="0" rIns="0" tIns="0" bIns="0">
            <a:spAutoFit/>
          </a:bodyPr>
          <a:lstStyle/>
          <a:p>
            <a:pPr>
              <a:spcAft>
                <a:spcPts val="800"/>
              </a:spcAft>
              <a:defRPr sz="1300" b="1">
                <a:solidFill>
                  <a:srgbClr val="2D3424"/>
                </a:solidFill>
                <a:latin typeface="Segoe UI"/>
              </a:defRPr>
            </a:pPr>
            <a:r>
              <a:t>Leave</a:t>
            </a:r>
          </a:p>
        </p:txBody>
      </p:sp>
      <p:sp>
        <p:nvSpPr>
          <p:cNvPr id="48" name="Rounded Rectangle 47"/>
          <p:cNvSpPr/>
          <p:nvPr/>
        </p:nvSpPr>
        <p:spPr>
          <a:xfrm>
            <a:off x="5532120" y="3429000"/>
            <a:ext cx="1645920" cy="685800"/>
          </a:xfrm>
          <a:prstGeom prst="roundRect">
            <a:avLst>
              <a:gd name="adj" fmla="val 13000"/>
            </a:avLst>
          </a:prstGeom>
          <a:solidFill>
            <a:srgbClr val="F7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657027" y="3572195"/>
            <a:ext cx="277611" cy="277611"/>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87202" y="3605387"/>
            <a:ext cx="220278" cy="193121"/>
          </a:xfrm>
          <a:prstGeom prst="rect">
            <a:avLst/>
          </a:prstGeom>
          <a:noFill/>
          <a:effectLst/>
        </p:spPr>
        <p:txBody>
          <a:bodyPr wrap="square" lIns="0" rIns="0" tIns="0" bIns="0">
            <a:spAutoFit/>
          </a:bodyPr>
          <a:lstStyle/>
          <a:p>
            <a:pPr algn="l">
              <a:spcAft>
                <a:spcPts val="800"/>
              </a:spcAft>
              <a:defRPr sz="1100" b="1">
                <a:solidFill>
                  <a:srgbClr val="FFFFFF"/>
                </a:solidFill>
                <a:latin typeface="Segoe UI"/>
              </a:defRPr>
            </a:pPr>
            <a:r>
              <a:t>$</a:t>
            </a:r>
          </a:p>
        </p:txBody>
      </p:sp>
      <p:sp>
        <p:nvSpPr>
          <p:cNvPr id="51" name="TextBox 50"/>
          <p:cNvSpPr txBox="1"/>
          <p:nvPr/>
        </p:nvSpPr>
        <p:spPr>
          <a:xfrm>
            <a:off x="6108192" y="3639312"/>
            <a:ext cx="1005840" cy="246888"/>
          </a:xfrm>
          <a:prstGeom prst="rect">
            <a:avLst/>
          </a:prstGeom>
          <a:noFill/>
          <a:effectLst/>
        </p:spPr>
        <p:txBody>
          <a:bodyPr wrap="square" lIns="0" rIns="0" tIns="0" bIns="0">
            <a:spAutoFit/>
          </a:bodyPr>
          <a:lstStyle/>
          <a:p>
            <a:pPr>
              <a:spcAft>
                <a:spcPts val="800"/>
              </a:spcAft>
              <a:defRPr sz="1300" b="1">
                <a:solidFill>
                  <a:srgbClr val="2D3424"/>
                </a:solidFill>
                <a:latin typeface="Segoe UI"/>
              </a:defRPr>
            </a:pPr>
            <a:r>
              <a:t>Pay</a:t>
            </a:r>
          </a:p>
        </p:txBody>
      </p:sp>
      <p:sp>
        <p:nvSpPr>
          <p:cNvPr id="52" name="Rounded Rectangle 51"/>
          <p:cNvSpPr/>
          <p:nvPr/>
        </p:nvSpPr>
        <p:spPr>
          <a:xfrm>
            <a:off x="1920240" y="4343400"/>
            <a:ext cx="3054096" cy="1380744"/>
          </a:xfrm>
          <a:prstGeom prst="roundRect">
            <a:avLst>
              <a:gd name="adj" fmla="val 13000"/>
            </a:avLst>
          </a:prstGeom>
          <a:solidFill>
            <a:srgbClr val="F7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075688" y="4489704"/>
            <a:ext cx="2697480" cy="274320"/>
          </a:xfrm>
          <a:prstGeom prst="rect">
            <a:avLst/>
          </a:prstGeom>
          <a:noFill/>
          <a:effectLst/>
        </p:spPr>
        <p:txBody>
          <a:bodyPr wrap="square" lIns="0" rIns="0" tIns="0" bIns="0">
            <a:spAutoFit/>
          </a:bodyPr>
          <a:lstStyle/>
          <a:p>
            <a:pPr>
              <a:spcAft>
                <a:spcPts val="800"/>
              </a:spcAft>
              <a:defRPr sz="1300" b="1">
                <a:solidFill>
                  <a:srgbClr val="2D3424"/>
                </a:solidFill>
                <a:latin typeface="Segoe UI"/>
              </a:defRPr>
            </a:pPr>
            <a:r>
              <a:t>Workforce view</a:t>
            </a:r>
          </a:p>
        </p:txBody>
      </p:sp>
      <p:sp>
        <p:nvSpPr>
          <p:cNvPr id="54" name="Rectangle 53"/>
          <p:cNvSpPr/>
          <p:nvPr/>
        </p:nvSpPr>
        <p:spPr>
          <a:xfrm>
            <a:off x="2176272" y="5285232"/>
            <a:ext cx="210312" cy="22860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633472" y="5129784"/>
            <a:ext cx="210312" cy="384048"/>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090672" y="5184648"/>
            <a:ext cx="210312" cy="329184"/>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547872" y="4965192"/>
            <a:ext cx="210312" cy="54864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005072" y="4855464"/>
            <a:ext cx="210312" cy="658368"/>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184648" y="4343400"/>
            <a:ext cx="1993392" cy="1380744"/>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5-Point Star 59"/>
          <p:cNvSpPr/>
          <p:nvPr/>
        </p:nvSpPr>
        <p:spPr>
          <a:xfrm>
            <a:off x="5394960" y="4544568"/>
            <a:ext cx="320040" cy="320040"/>
          </a:xfrm>
          <a:prstGeom prst="star5">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94960" y="5074920"/>
            <a:ext cx="1609344" cy="448056"/>
          </a:xfrm>
          <a:prstGeom prst="rect">
            <a:avLst/>
          </a:prstGeom>
          <a:noFill/>
          <a:effectLst/>
        </p:spPr>
        <p:txBody>
          <a:bodyPr wrap="square" lIns="0" rIns="0" tIns="0" bIns="0">
            <a:spAutoFit/>
          </a:bodyPr>
          <a:lstStyle/>
          <a:p>
            <a:pPr>
              <a:spcAft>
                <a:spcPts val="800"/>
              </a:spcAft>
              <a:defRPr sz="1500" b="1">
                <a:solidFill>
                  <a:srgbClr val="5C6936"/>
                </a:solidFill>
                <a:latin typeface="Segoe UI"/>
              </a:defRPr>
            </a:pPr>
            <a:r>
              <a:t>Give a shoutout</a:t>
            </a:r>
          </a:p>
        </p:txBody>
      </p:sp>
      <p:sp>
        <p:nvSpPr>
          <p:cNvPr id="62" name="Oval 61"/>
          <p:cNvSpPr/>
          <p:nvPr/>
        </p:nvSpPr>
        <p:spPr>
          <a:xfrm>
            <a:off x="7754112" y="2359152"/>
            <a:ext cx="512064" cy="512064"/>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969453" y="2468880"/>
            <a:ext cx="90525" cy="90525"/>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7872892" y="2523195"/>
            <a:ext cx="69402" cy="69402"/>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087136" y="2523195"/>
            <a:ext cx="69402" cy="69402"/>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948330" y="2583545"/>
            <a:ext cx="132770" cy="14484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863840" y="2613720"/>
            <a:ext cx="66385" cy="90525"/>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099206" y="2613720"/>
            <a:ext cx="66385" cy="90525"/>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49056" y="2359152"/>
            <a:ext cx="3035808" cy="329184"/>
          </a:xfrm>
          <a:prstGeom prst="rect">
            <a:avLst/>
          </a:prstGeom>
          <a:noFill/>
          <a:effectLst/>
        </p:spPr>
        <p:txBody>
          <a:bodyPr wrap="square" lIns="0" rIns="0" tIns="0" bIns="0">
            <a:spAutoFit/>
          </a:bodyPr>
          <a:lstStyle/>
          <a:p>
            <a:pPr>
              <a:spcAft>
                <a:spcPts val="800"/>
              </a:spcAft>
              <a:defRPr sz="1900" b="1">
                <a:solidFill>
                  <a:srgbClr val="2D3424"/>
                </a:solidFill>
                <a:latin typeface="Segoe UI"/>
              </a:defRPr>
            </a:pPr>
            <a:r>
              <a:t>Human first</a:t>
            </a:r>
          </a:p>
        </p:txBody>
      </p:sp>
      <p:sp>
        <p:nvSpPr>
          <p:cNvPr id="70" name="TextBox 69"/>
          <p:cNvSpPr txBox="1"/>
          <p:nvPr/>
        </p:nvSpPr>
        <p:spPr>
          <a:xfrm>
            <a:off x="8449056" y="2798064"/>
            <a:ext cx="3035808" cy="566928"/>
          </a:xfrm>
          <a:prstGeom prst="rect">
            <a:avLst/>
          </a:prstGeom>
          <a:noFill/>
          <a:effectLst/>
        </p:spPr>
        <p:txBody>
          <a:bodyPr wrap="square" lIns="0" rIns="0" tIns="0" bIns="0">
            <a:spAutoFit/>
          </a:bodyPr>
          <a:lstStyle/>
          <a:p>
            <a:pPr>
              <a:spcAft>
                <a:spcPts val="800"/>
              </a:spcAft>
              <a:defRPr sz="1400" b="0">
                <a:solidFill>
                  <a:srgbClr val="626752"/>
                </a:solidFill>
                <a:latin typeface="Segoe UI"/>
              </a:defRPr>
            </a:pPr>
            <a:r>
              <a:t>A greeting and relevant next actions.</a:t>
            </a:r>
          </a:p>
        </p:txBody>
      </p:sp>
      <p:sp>
        <p:nvSpPr>
          <p:cNvPr id="71" name="Oval 70"/>
          <p:cNvSpPr/>
          <p:nvPr/>
        </p:nvSpPr>
        <p:spPr>
          <a:xfrm>
            <a:off x="7754112" y="3520440"/>
            <a:ext cx="512064" cy="512064"/>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887980" y="3799149"/>
            <a:ext cx="54315" cy="10863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978505" y="3720693"/>
            <a:ext cx="54315" cy="187086"/>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069031" y="3648273"/>
            <a:ext cx="54315" cy="259506"/>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449056" y="3520440"/>
            <a:ext cx="3035808" cy="329184"/>
          </a:xfrm>
          <a:prstGeom prst="rect">
            <a:avLst/>
          </a:prstGeom>
          <a:noFill/>
          <a:effectLst/>
        </p:spPr>
        <p:txBody>
          <a:bodyPr wrap="square" lIns="0" rIns="0" tIns="0" bIns="0">
            <a:spAutoFit/>
          </a:bodyPr>
          <a:lstStyle/>
          <a:p>
            <a:pPr>
              <a:spcAft>
                <a:spcPts val="800"/>
              </a:spcAft>
              <a:defRPr sz="1900" b="1">
                <a:solidFill>
                  <a:srgbClr val="2D3424"/>
                </a:solidFill>
                <a:latin typeface="Segoe UI"/>
              </a:defRPr>
            </a:pPr>
            <a:r>
              <a:t>Readable insight</a:t>
            </a:r>
          </a:p>
        </p:txBody>
      </p:sp>
      <p:sp>
        <p:nvSpPr>
          <p:cNvPr id="76" name="TextBox 75"/>
          <p:cNvSpPr txBox="1"/>
          <p:nvPr/>
        </p:nvSpPr>
        <p:spPr>
          <a:xfrm>
            <a:off x="8449056" y="3959352"/>
            <a:ext cx="3035808" cy="566928"/>
          </a:xfrm>
          <a:prstGeom prst="rect">
            <a:avLst/>
          </a:prstGeom>
          <a:noFill/>
          <a:effectLst/>
        </p:spPr>
        <p:txBody>
          <a:bodyPr wrap="square" lIns="0" rIns="0" tIns="0" bIns="0">
            <a:spAutoFit/>
          </a:bodyPr>
          <a:lstStyle/>
          <a:p>
            <a:pPr>
              <a:spcAft>
                <a:spcPts val="800"/>
              </a:spcAft>
              <a:defRPr sz="1400" b="0">
                <a:solidFill>
                  <a:srgbClr val="626752"/>
                </a:solidFill>
                <a:latin typeface="Segoe UI"/>
              </a:defRPr>
            </a:pPr>
            <a:r>
              <a:t>Switch periods; inspect values or a table.</a:t>
            </a:r>
          </a:p>
        </p:txBody>
      </p:sp>
      <p:sp>
        <p:nvSpPr>
          <p:cNvPr id="77" name="Oval 76"/>
          <p:cNvSpPr/>
          <p:nvPr/>
        </p:nvSpPr>
        <p:spPr>
          <a:xfrm>
            <a:off x="7754112" y="4681728"/>
            <a:ext cx="512064" cy="512064"/>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5-Point Star 77"/>
          <p:cNvSpPr/>
          <p:nvPr/>
        </p:nvSpPr>
        <p:spPr>
          <a:xfrm>
            <a:off x="7863840" y="4791456"/>
            <a:ext cx="301752" cy="301752"/>
          </a:xfrm>
          <a:prstGeom prst="star5">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49056" y="4681728"/>
            <a:ext cx="3035808" cy="329184"/>
          </a:xfrm>
          <a:prstGeom prst="rect">
            <a:avLst/>
          </a:prstGeom>
          <a:noFill/>
          <a:effectLst/>
        </p:spPr>
        <p:txBody>
          <a:bodyPr wrap="square" lIns="0" rIns="0" tIns="0" bIns="0">
            <a:spAutoFit/>
          </a:bodyPr>
          <a:lstStyle/>
          <a:p>
            <a:pPr>
              <a:spcAft>
                <a:spcPts val="800"/>
              </a:spcAft>
              <a:defRPr sz="1900" b="1">
                <a:solidFill>
                  <a:srgbClr val="2D3424"/>
                </a:solidFill>
                <a:latin typeface="Segoe UI"/>
              </a:defRPr>
            </a:pPr>
            <a:r>
              <a:t>Everyday appreciation</a:t>
            </a:r>
          </a:p>
        </p:txBody>
      </p:sp>
      <p:sp>
        <p:nvSpPr>
          <p:cNvPr id="80" name="TextBox 79"/>
          <p:cNvSpPr txBox="1"/>
          <p:nvPr/>
        </p:nvSpPr>
        <p:spPr>
          <a:xfrm>
            <a:off x="8449056" y="5120640"/>
            <a:ext cx="3035808" cy="566928"/>
          </a:xfrm>
          <a:prstGeom prst="rect">
            <a:avLst/>
          </a:prstGeom>
          <a:noFill/>
          <a:effectLst/>
        </p:spPr>
        <p:txBody>
          <a:bodyPr wrap="square" lIns="0" rIns="0" tIns="0" bIns="0">
            <a:spAutoFit/>
          </a:bodyPr>
          <a:lstStyle/>
          <a:p>
            <a:pPr>
              <a:spcAft>
                <a:spcPts val="800"/>
              </a:spcAft>
              <a:defRPr sz="1400" b="0">
                <a:solidFill>
                  <a:srgbClr val="626752"/>
                </a:solidFill>
                <a:latin typeface="Segoe UI"/>
              </a:defRPr>
            </a:pPr>
            <a:r>
              <a:t>Celebrate a teammate with real feedback.</a:t>
            </a:r>
          </a:p>
        </p:txBody>
      </p:sp>
      <p:sp>
        <p:nvSpPr>
          <p:cNvPr id="81" name="Rounded Rectangle 80">
            <a:hlinkClick action="ppaction://hlinksldjump" r:id="rId6"/>
          </p:cNvPr>
          <p:cNvSpPr/>
          <p:nvPr/>
        </p:nvSpPr>
        <p:spPr>
          <a:xfrm>
            <a:off x="8412480" y="5769864"/>
            <a:ext cx="3154680" cy="502920"/>
          </a:xfrm>
          <a:prstGeom prst="roundRect">
            <a:avLst>
              <a:gd name="adj" fmla="val 50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View the real UI + dark mode  →</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5C6936"/>
                </a:solidFill>
                <a:latin typeface="Segoe UI"/>
              </a:defRPr>
            </a:pPr>
            <a:r>
              <a:t>HRGenius  /  THE EMPLOYEE LIFECYCLE</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2D3424"/>
                </a:solidFill>
                <a:latin typeface="Segoe UI"/>
              </a:defRPr>
            </a:pPr>
            <a:r>
              <a:t>Six connected stages. One employee journey.</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Follow the arrows through the product’s functional scope.</a:t>
            </a:r>
          </a:p>
        </p:txBody>
      </p:sp>
      <p:sp>
        <p:nvSpPr>
          <p:cNvPr id="5" name="Rectangle 4"/>
          <p:cNvSpPr/>
          <p:nvPr/>
        </p:nvSpPr>
        <p:spPr>
          <a:xfrm>
            <a:off x="502920" y="6364224"/>
            <a:ext cx="11155680" cy="10972"/>
          </a:xfrm>
          <a:prstGeom prst="rect">
            <a:avLst/>
          </a:prstGeom>
          <a:solidFill>
            <a:srgbClr val="E3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626752"/>
                </a:solidFill>
                <a:latin typeface="Segoe UI"/>
              </a:defRPr>
            </a:pPr>
            <a:r>
              <a:t>05</a:t>
            </a:r>
          </a:p>
        </p:txBody>
      </p:sp>
      <p:sp>
        <p:nvSpPr>
          <p:cNvPr id="11" name="Chevron 10"/>
          <p:cNvSpPr/>
          <p:nvPr/>
        </p:nvSpPr>
        <p:spPr>
          <a:xfrm>
            <a:off x="4005072" y="2862072"/>
            <a:ext cx="320040" cy="384048"/>
          </a:xfrm>
          <a:prstGeom prst="chevro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hevron 11"/>
          <p:cNvSpPr/>
          <p:nvPr/>
        </p:nvSpPr>
        <p:spPr>
          <a:xfrm>
            <a:off x="7790688" y="2862072"/>
            <a:ext cx="320040" cy="384048"/>
          </a:xfrm>
          <a:prstGeom prst="chevro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evron 12"/>
          <p:cNvSpPr/>
          <p:nvPr/>
        </p:nvSpPr>
        <p:spPr>
          <a:xfrm rot="5400000">
            <a:off x="9509760" y="3922776"/>
            <a:ext cx="329184" cy="384048"/>
          </a:xfrm>
          <a:prstGeom prst="chevro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hevron 13"/>
          <p:cNvSpPr/>
          <p:nvPr/>
        </p:nvSpPr>
        <p:spPr>
          <a:xfrm rot="10800000">
            <a:off x="7790688" y="4873752"/>
            <a:ext cx="320040" cy="384048"/>
          </a:xfrm>
          <a:prstGeom prst="chevro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hevron 14"/>
          <p:cNvSpPr/>
          <p:nvPr/>
        </p:nvSpPr>
        <p:spPr>
          <a:xfrm rot="10800000">
            <a:off x="4005072" y="4873752"/>
            <a:ext cx="320040" cy="384048"/>
          </a:xfrm>
          <a:prstGeom prst="chevro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7512" y="2423160"/>
            <a:ext cx="3227832" cy="141732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72921" y="2587752"/>
            <a:ext cx="120700" cy="120700"/>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4174" y="2660172"/>
            <a:ext cx="92537" cy="92537"/>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832" y="2660172"/>
            <a:ext cx="92537" cy="92537"/>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44758" y="2740639"/>
            <a:ext cx="177027" cy="193121"/>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3" y="2780873"/>
            <a:ext cx="88513" cy="12070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45926" y="2780873"/>
            <a:ext cx="88513" cy="12070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80744" y="2569464"/>
            <a:ext cx="2350008" cy="320040"/>
          </a:xfrm>
          <a:prstGeom prst="rect">
            <a:avLst/>
          </a:prstGeom>
          <a:noFill/>
          <a:effectLst/>
        </p:spPr>
        <p:txBody>
          <a:bodyPr wrap="square" lIns="0" rIns="0" tIns="0" bIns="0">
            <a:spAutoFit/>
          </a:bodyPr>
          <a:lstStyle/>
          <a:p>
            <a:pPr>
              <a:spcAft>
                <a:spcPts val="800"/>
              </a:spcAft>
              <a:defRPr sz="1700" b="1">
                <a:solidFill>
                  <a:srgbClr val="5C6936"/>
                </a:solidFill>
                <a:latin typeface="Segoe UI"/>
              </a:defRPr>
            </a:pPr>
            <a:r>
              <a:t>1. Attract &amp; welcome</a:t>
            </a:r>
          </a:p>
        </p:txBody>
      </p:sp>
      <p:sp>
        <p:nvSpPr>
          <p:cNvPr id="24" name="TextBox 23"/>
          <p:cNvSpPr txBox="1"/>
          <p:nvPr/>
        </p:nvSpPr>
        <p:spPr>
          <a:xfrm>
            <a:off x="841247" y="3154680"/>
            <a:ext cx="2907792" cy="566928"/>
          </a:xfrm>
          <a:prstGeom prst="rect">
            <a:avLst/>
          </a:prstGeom>
          <a:noFill/>
          <a:effectLst/>
        </p:spPr>
        <p:txBody>
          <a:bodyPr wrap="square" lIns="0" rIns="0" tIns="0" bIns="0">
            <a:spAutoFit/>
          </a:bodyPr>
          <a:lstStyle/>
          <a:p>
            <a:pPr>
              <a:spcAft>
                <a:spcPts val="800"/>
              </a:spcAft>
              <a:defRPr sz="1300" b="0">
                <a:solidFill>
                  <a:srgbClr val="626752"/>
                </a:solidFill>
                <a:latin typeface="Segoe UI"/>
              </a:defRPr>
            </a:pPr>
            <a:r>
              <a:t>Careers · interviews · offers</a:t>
            </a:r>
          </a:p>
          <a:p>
            <a:pPr>
              <a:spcAft>
                <a:spcPts val="800"/>
              </a:spcAft>
              <a:defRPr sz="1300" b="0">
                <a:solidFill>
                  <a:srgbClr val="626752"/>
                </a:solidFill>
                <a:latin typeface="Segoe UI"/>
              </a:defRPr>
            </a:pPr>
            <a:r>
              <a:t>Onboarding plans and tasks</a:t>
            </a:r>
          </a:p>
        </p:txBody>
      </p:sp>
      <p:sp>
        <p:nvSpPr>
          <p:cNvPr id="25" name="Rounded Rectangle 24"/>
          <p:cNvSpPr/>
          <p:nvPr/>
        </p:nvSpPr>
        <p:spPr>
          <a:xfrm>
            <a:off x="4453128" y="2423160"/>
            <a:ext cx="3227832" cy="141732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olded Corner 25"/>
          <p:cNvSpPr/>
          <p:nvPr/>
        </p:nvSpPr>
        <p:spPr>
          <a:xfrm>
            <a:off x="4657953" y="2587752"/>
            <a:ext cx="301752" cy="402336"/>
          </a:xfrm>
          <a:prstGeom prst="foldedCorner">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4718304" y="2728569"/>
            <a:ext cx="160934" cy="0"/>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718304" y="2792943"/>
            <a:ext cx="160934" cy="0"/>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718304" y="2857317"/>
            <a:ext cx="160934" cy="0"/>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66360" y="2569464"/>
            <a:ext cx="2350008" cy="320040"/>
          </a:xfrm>
          <a:prstGeom prst="rect">
            <a:avLst/>
          </a:prstGeom>
          <a:noFill/>
          <a:effectLst/>
        </p:spPr>
        <p:txBody>
          <a:bodyPr wrap="square" lIns="0" rIns="0" tIns="0" bIns="0">
            <a:spAutoFit/>
          </a:bodyPr>
          <a:lstStyle/>
          <a:p>
            <a:pPr>
              <a:spcAft>
                <a:spcPts val="800"/>
              </a:spcAft>
              <a:defRPr sz="1700" b="1">
                <a:solidFill>
                  <a:srgbClr val="5C6936"/>
                </a:solidFill>
                <a:latin typeface="Segoe UI"/>
              </a:defRPr>
            </a:pPr>
            <a:r>
              <a:t>2. Know your people</a:t>
            </a:r>
          </a:p>
        </p:txBody>
      </p:sp>
      <p:sp>
        <p:nvSpPr>
          <p:cNvPr id="31" name="TextBox 30"/>
          <p:cNvSpPr txBox="1"/>
          <p:nvPr/>
        </p:nvSpPr>
        <p:spPr>
          <a:xfrm>
            <a:off x="4626864" y="3154680"/>
            <a:ext cx="2907792" cy="566928"/>
          </a:xfrm>
          <a:prstGeom prst="rect">
            <a:avLst/>
          </a:prstGeom>
          <a:noFill/>
          <a:effectLst/>
        </p:spPr>
        <p:txBody>
          <a:bodyPr wrap="square" lIns="0" rIns="0" tIns="0" bIns="0">
            <a:spAutoFit/>
          </a:bodyPr>
          <a:lstStyle/>
          <a:p>
            <a:pPr>
              <a:spcAft>
                <a:spcPts val="800"/>
              </a:spcAft>
              <a:defRPr sz="1300" b="0">
                <a:solidFill>
                  <a:srgbClr val="626752"/>
                </a:solidFill>
                <a:latin typeface="Segoe UI"/>
              </a:defRPr>
            </a:pPr>
            <a:r>
              <a:t>Profiles · org chart · files</a:t>
            </a:r>
          </a:p>
          <a:p>
            <a:pPr>
              <a:spcAft>
                <a:spcPts val="800"/>
              </a:spcAft>
              <a:defRPr sz="1300" b="0">
                <a:solidFill>
                  <a:srgbClr val="626752"/>
                </a:solidFill>
                <a:latin typeface="Segoe UI"/>
              </a:defRPr>
            </a:pPr>
            <a:r>
              <a:t>Organization masters · assets</a:t>
            </a:r>
          </a:p>
        </p:txBody>
      </p:sp>
      <p:sp>
        <p:nvSpPr>
          <p:cNvPr id="32" name="Rounded Rectangle 31"/>
          <p:cNvSpPr/>
          <p:nvPr/>
        </p:nvSpPr>
        <p:spPr>
          <a:xfrm>
            <a:off x="8229600" y="2423160"/>
            <a:ext cx="3227832" cy="141732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0285" y="2652125"/>
            <a:ext cx="354055" cy="40233"/>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8410285" y="2652125"/>
            <a:ext cx="0" cy="297729"/>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764341" y="2652125"/>
            <a:ext cx="0" cy="297729"/>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410285" y="2949854"/>
            <a:ext cx="354056"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498799" y="2587752"/>
            <a:ext cx="0" cy="12070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675827" y="2587752"/>
            <a:ext cx="0" cy="12070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474659" y="2756733"/>
            <a:ext cx="40233" cy="40233"/>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474659" y="2857317"/>
            <a:ext cx="40233" cy="40233"/>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75243" y="2756733"/>
            <a:ext cx="40233" cy="40233"/>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75243" y="2857317"/>
            <a:ext cx="40233" cy="40233"/>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675827" y="2756733"/>
            <a:ext cx="40233" cy="40233"/>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675827" y="2857317"/>
            <a:ext cx="40233" cy="40233"/>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42832" y="2569464"/>
            <a:ext cx="2350008" cy="320040"/>
          </a:xfrm>
          <a:prstGeom prst="rect">
            <a:avLst/>
          </a:prstGeom>
          <a:noFill/>
          <a:effectLst/>
        </p:spPr>
        <p:txBody>
          <a:bodyPr wrap="square" lIns="0" rIns="0" tIns="0" bIns="0">
            <a:spAutoFit/>
          </a:bodyPr>
          <a:lstStyle/>
          <a:p>
            <a:pPr>
              <a:spcAft>
                <a:spcPts val="800"/>
              </a:spcAft>
              <a:defRPr sz="1700" b="1">
                <a:solidFill>
                  <a:srgbClr val="5C6936"/>
                </a:solidFill>
                <a:latin typeface="Segoe UI"/>
              </a:defRPr>
            </a:pPr>
            <a:r>
              <a:t>3. Manage the day</a:t>
            </a:r>
          </a:p>
        </p:txBody>
      </p:sp>
      <p:sp>
        <p:nvSpPr>
          <p:cNvPr id="46" name="TextBox 45"/>
          <p:cNvSpPr txBox="1"/>
          <p:nvPr/>
        </p:nvSpPr>
        <p:spPr>
          <a:xfrm>
            <a:off x="8403336" y="3154680"/>
            <a:ext cx="2907792" cy="566928"/>
          </a:xfrm>
          <a:prstGeom prst="rect">
            <a:avLst/>
          </a:prstGeom>
          <a:noFill/>
          <a:effectLst/>
        </p:spPr>
        <p:txBody>
          <a:bodyPr wrap="square" lIns="0" rIns="0" tIns="0" bIns="0">
            <a:spAutoFit/>
          </a:bodyPr>
          <a:lstStyle/>
          <a:p>
            <a:pPr>
              <a:spcAft>
                <a:spcPts val="800"/>
              </a:spcAft>
              <a:defRPr sz="1300" b="0">
                <a:solidFill>
                  <a:srgbClr val="626752"/>
                </a:solidFill>
                <a:latin typeface="Segoe UI"/>
              </a:defRPr>
            </a:pPr>
            <a:r>
              <a:t>Attendance · regularization</a:t>
            </a:r>
          </a:p>
          <a:p>
            <a:pPr>
              <a:spcAft>
                <a:spcPts val="800"/>
              </a:spcAft>
              <a:defRPr sz="1300" b="0">
                <a:solidFill>
                  <a:srgbClr val="626752"/>
                </a:solidFill>
                <a:latin typeface="Segoe UI"/>
              </a:defRPr>
            </a:pPr>
            <a:r>
              <a:t>Leave balances · approvals</a:t>
            </a:r>
          </a:p>
        </p:txBody>
      </p:sp>
      <p:sp>
        <p:nvSpPr>
          <p:cNvPr id="47" name="Rounded Rectangle 46"/>
          <p:cNvSpPr/>
          <p:nvPr/>
        </p:nvSpPr>
        <p:spPr>
          <a:xfrm>
            <a:off x="8229600" y="4434840"/>
            <a:ext cx="3227832" cy="141732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402238" y="4607478"/>
            <a:ext cx="370149" cy="370149"/>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42472" y="4651735"/>
            <a:ext cx="293705" cy="257495"/>
          </a:xfrm>
          <a:prstGeom prst="rect">
            <a:avLst/>
          </a:prstGeom>
          <a:noFill/>
          <a:effectLst/>
        </p:spPr>
        <p:txBody>
          <a:bodyPr wrap="square" lIns="0" rIns="0" tIns="0" bIns="0">
            <a:spAutoFit/>
          </a:bodyPr>
          <a:lstStyle/>
          <a:p>
            <a:pPr algn="l">
              <a:spcAft>
                <a:spcPts val="800"/>
              </a:spcAft>
              <a:defRPr sz="1400" b="1">
                <a:solidFill>
                  <a:srgbClr val="FFFFFF"/>
                </a:solidFill>
                <a:latin typeface="Segoe UI"/>
              </a:defRPr>
            </a:pPr>
            <a:r>
              <a:t>$</a:t>
            </a:r>
          </a:p>
        </p:txBody>
      </p:sp>
      <p:sp>
        <p:nvSpPr>
          <p:cNvPr id="50" name="TextBox 49"/>
          <p:cNvSpPr txBox="1"/>
          <p:nvPr/>
        </p:nvSpPr>
        <p:spPr>
          <a:xfrm>
            <a:off x="8942832" y="4581144"/>
            <a:ext cx="2350008" cy="320040"/>
          </a:xfrm>
          <a:prstGeom prst="rect">
            <a:avLst/>
          </a:prstGeom>
          <a:noFill/>
          <a:effectLst/>
        </p:spPr>
        <p:txBody>
          <a:bodyPr wrap="square" lIns="0" rIns="0" tIns="0" bIns="0">
            <a:spAutoFit/>
          </a:bodyPr>
          <a:lstStyle/>
          <a:p>
            <a:pPr>
              <a:spcAft>
                <a:spcPts val="800"/>
              </a:spcAft>
              <a:defRPr sz="1700" b="1">
                <a:solidFill>
                  <a:srgbClr val="5C6936"/>
                </a:solidFill>
                <a:latin typeface="Segoe UI"/>
              </a:defRPr>
            </a:pPr>
            <a:r>
              <a:t>4. Pay with structure</a:t>
            </a:r>
          </a:p>
        </p:txBody>
      </p:sp>
      <p:sp>
        <p:nvSpPr>
          <p:cNvPr id="51" name="TextBox 50"/>
          <p:cNvSpPr txBox="1"/>
          <p:nvPr/>
        </p:nvSpPr>
        <p:spPr>
          <a:xfrm>
            <a:off x="8403336" y="5166359"/>
            <a:ext cx="2907792" cy="566928"/>
          </a:xfrm>
          <a:prstGeom prst="rect">
            <a:avLst/>
          </a:prstGeom>
          <a:noFill/>
          <a:effectLst/>
        </p:spPr>
        <p:txBody>
          <a:bodyPr wrap="square" lIns="0" rIns="0" tIns="0" bIns="0">
            <a:spAutoFit/>
          </a:bodyPr>
          <a:lstStyle/>
          <a:p>
            <a:pPr>
              <a:spcAft>
                <a:spcPts val="800"/>
              </a:spcAft>
              <a:defRPr sz="1300" b="0">
                <a:solidFill>
                  <a:srgbClr val="626752"/>
                </a:solidFill>
                <a:latin typeface="Segoe UI"/>
              </a:defRPr>
            </a:pPr>
            <a:r>
              <a:t>Components · runs · adjustments</a:t>
            </a:r>
          </a:p>
          <a:p>
            <a:pPr>
              <a:spcAft>
                <a:spcPts val="800"/>
              </a:spcAft>
              <a:defRPr sz="1300" b="0">
                <a:solidFill>
                  <a:srgbClr val="626752"/>
                </a:solidFill>
                <a:latin typeface="Segoe UI"/>
              </a:defRPr>
            </a:pPr>
            <a:r>
              <a:t>Payslips and exports</a:t>
            </a:r>
          </a:p>
        </p:txBody>
      </p:sp>
      <p:sp>
        <p:nvSpPr>
          <p:cNvPr id="52" name="Rounded Rectangle 51"/>
          <p:cNvSpPr/>
          <p:nvPr/>
        </p:nvSpPr>
        <p:spPr>
          <a:xfrm>
            <a:off x="4453128" y="4434840"/>
            <a:ext cx="3227832" cy="141732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5-Point Star 52"/>
          <p:cNvSpPr/>
          <p:nvPr/>
        </p:nvSpPr>
        <p:spPr>
          <a:xfrm>
            <a:off x="4617720" y="4599431"/>
            <a:ext cx="402336" cy="402336"/>
          </a:xfrm>
          <a:prstGeom prst="star5">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66360" y="4581144"/>
            <a:ext cx="2350008" cy="320040"/>
          </a:xfrm>
          <a:prstGeom prst="rect">
            <a:avLst/>
          </a:prstGeom>
          <a:noFill/>
          <a:effectLst/>
        </p:spPr>
        <p:txBody>
          <a:bodyPr wrap="square" lIns="0" rIns="0" tIns="0" bIns="0">
            <a:spAutoFit/>
          </a:bodyPr>
          <a:lstStyle/>
          <a:p>
            <a:pPr>
              <a:spcAft>
                <a:spcPts val="800"/>
              </a:spcAft>
              <a:defRPr sz="1700" b="1">
                <a:solidFill>
                  <a:srgbClr val="5C6936"/>
                </a:solidFill>
                <a:latin typeface="Segoe UI"/>
              </a:defRPr>
            </a:pPr>
            <a:r>
              <a:t>5. Grow &amp; recognize</a:t>
            </a:r>
          </a:p>
        </p:txBody>
      </p:sp>
      <p:sp>
        <p:nvSpPr>
          <p:cNvPr id="55" name="TextBox 54"/>
          <p:cNvSpPr txBox="1"/>
          <p:nvPr/>
        </p:nvSpPr>
        <p:spPr>
          <a:xfrm>
            <a:off x="4626864" y="5166359"/>
            <a:ext cx="2907792" cy="566928"/>
          </a:xfrm>
          <a:prstGeom prst="rect">
            <a:avLst/>
          </a:prstGeom>
          <a:noFill/>
          <a:effectLst/>
        </p:spPr>
        <p:txBody>
          <a:bodyPr wrap="square" lIns="0" rIns="0" tIns="0" bIns="0">
            <a:spAutoFit/>
          </a:bodyPr>
          <a:lstStyle/>
          <a:p>
            <a:pPr>
              <a:spcAft>
                <a:spcPts val="800"/>
              </a:spcAft>
              <a:defRPr sz="1300" b="0">
                <a:solidFill>
                  <a:srgbClr val="626752"/>
                </a:solidFill>
                <a:latin typeface="Segoe UI"/>
              </a:defRPr>
            </a:pPr>
            <a:r>
              <a:t>Goals · reviews · progress</a:t>
            </a:r>
          </a:p>
          <a:p>
            <a:pPr>
              <a:spcAft>
                <a:spcPts val="800"/>
              </a:spcAft>
              <a:defRPr sz="1300" b="0">
                <a:solidFill>
                  <a:srgbClr val="626752"/>
                </a:solidFill>
                <a:latin typeface="Segoe UI"/>
              </a:defRPr>
            </a:pPr>
            <a:r>
              <a:t>Praise and feedback</a:t>
            </a:r>
          </a:p>
        </p:txBody>
      </p:sp>
      <p:sp>
        <p:nvSpPr>
          <p:cNvPr id="56" name="Rounded Rectangle 55"/>
          <p:cNvSpPr/>
          <p:nvPr/>
        </p:nvSpPr>
        <p:spPr>
          <a:xfrm>
            <a:off x="667512" y="4434840"/>
            <a:ext cx="3227832" cy="141732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ular Callout 56"/>
          <p:cNvSpPr/>
          <p:nvPr/>
        </p:nvSpPr>
        <p:spPr>
          <a:xfrm>
            <a:off x="832103" y="4599431"/>
            <a:ext cx="402336" cy="321868"/>
          </a:xfrm>
          <a:prstGeom prst="wedgeRoundRectCallou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380744" y="4581144"/>
            <a:ext cx="2350008" cy="320040"/>
          </a:xfrm>
          <a:prstGeom prst="rect">
            <a:avLst/>
          </a:prstGeom>
          <a:noFill/>
          <a:effectLst/>
        </p:spPr>
        <p:txBody>
          <a:bodyPr wrap="square" lIns="0" rIns="0" tIns="0" bIns="0">
            <a:spAutoFit/>
          </a:bodyPr>
          <a:lstStyle/>
          <a:p>
            <a:pPr>
              <a:spcAft>
                <a:spcPts val="800"/>
              </a:spcAft>
              <a:defRPr sz="1700" b="1">
                <a:solidFill>
                  <a:srgbClr val="5C6936"/>
                </a:solidFill>
                <a:latin typeface="Segoe UI"/>
              </a:defRPr>
            </a:pPr>
            <a:r>
              <a:t>6. Support &amp; understand</a:t>
            </a:r>
          </a:p>
        </p:txBody>
      </p:sp>
      <p:sp>
        <p:nvSpPr>
          <p:cNvPr id="59" name="TextBox 58"/>
          <p:cNvSpPr txBox="1"/>
          <p:nvPr/>
        </p:nvSpPr>
        <p:spPr>
          <a:xfrm>
            <a:off x="841247" y="5166359"/>
            <a:ext cx="2907792" cy="566928"/>
          </a:xfrm>
          <a:prstGeom prst="rect">
            <a:avLst/>
          </a:prstGeom>
          <a:noFill/>
          <a:effectLst/>
        </p:spPr>
        <p:txBody>
          <a:bodyPr wrap="square" lIns="0" rIns="0" tIns="0" bIns="0">
            <a:spAutoFit/>
          </a:bodyPr>
          <a:lstStyle/>
          <a:p>
            <a:pPr>
              <a:spcAft>
                <a:spcPts val="800"/>
              </a:spcAft>
              <a:defRPr sz="1300" b="0">
                <a:solidFill>
                  <a:srgbClr val="626752"/>
                </a:solidFill>
                <a:latin typeface="Segoe UI"/>
              </a:defRPr>
            </a:pPr>
            <a:r>
              <a:t>Tickets · policies · acknowledgements</a:t>
            </a:r>
          </a:p>
          <a:p>
            <a:pPr>
              <a:spcAft>
                <a:spcPts val="800"/>
              </a:spcAft>
              <a:defRPr sz="1300" b="0">
                <a:solidFill>
                  <a:srgbClr val="626752"/>
                </a:solidFill>
                <a:latin typeface="Segoe UI"/>
              </a:defRPr>
            </a:pPr>
            <a:r>
              <a:t>Analytics and personal summary</a:t>
            </a:r>
          </a:p>
        </p:txBody>
      </p:sp>
      <p:sp>
        <p:nvSpPr>
          <p:cNvPr id="60" name="Rounded Rectangle 59">
            <a:hlinkClick action="ppaction://hlinksldjump" r:id="rId5"/>
          </p:cNvPr>
          <p:cNvSpPr/>
          <p:nvPr/>
        </p:nvSpPr>
        <p:spPr>
          <a:xfrm>
            <a:off x="8567928" y="5843016"/>
            <a:ext cx="2880360" cy="502920"/>
          </a:xfrm>
          <a:prstGeom prst="roundRect">
            <a:avLst>
              <a:gd name="adj" fmla="val 50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Technical module catalogue  →</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5C6936"/>
                </a:solidFill>
                <a:latin typeface="Segoe UI"/>
              </a:defRPr>
            </a:pPr>
            <a:r>
              <a:t>HRGenius  /  A REQUEST JOURNEY</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2D3424"/>
                </a:solidFill>
                <a:latin typeface="Segoe UI"/>
              </a:defRPr>
            </a:pPr>
            <a:r>
              <a:t>Make the next step obvious.</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Example: an employee requests leave. Policy and permissions shape the outcome.</a:t>
            </a:r>
          </a:p>
        </p:txBody>
      </p:sp>
      <p:sp>
        <p:nvSpPr>
          <p:cNvPr id="5" name="Rectangle 4"/>
          <p:cNvSpPr/>
          <p:nvPr/>
        </p:nvSpPr>
        <p:spPr>
          <a:xfrm>
            <a:off x="502920" y="6364224"/>
            <a:ext cx="11155680" cy="10972"/>
          </a:xfrm>
          <a:prstGeom prst="rect">
            <a:avLst/>
          </a:prstGeom>
          <a:solidFill>
            <a:srgbClr val="E3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626752"/>
                </a:solidFill>
                <a:latin typeface="Segoe UI"/>
              </a:defRPr>
            </a:pPr>
            <a:r>
              <a:t>06</a:t>
            </a:r>
          </a:p>
        </p:txBody>
      </p:sp>
      <p:sp>
        <p:nvSpPr>
          <p:cNvPr id="11" name="Rounded Rectangle 10"/>
          <p:cNvSpPr/>
          <p:nvPr/>
        </p:nvSpPr>
        <p:spPr>
          <a:xfrm>
            <a:off x="658368" y="2487168"/>
            <a:ext cx="2487168" cy="141732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8804" y="2731129"/>
            <a:ext cx="386242" cy="43891"/>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858804" y="2731129"/>
            <a:ext cx="0" cy="324795"/>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245047" y="2731129"/>
            <a:ext cx="0" cy="324795"/>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58804" y="3055924"/>
            <a:ext cx="386243"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55365" y="2660904"/>
            <a:ext cx="0" cy="131673"/>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48486" y="2660904"/>
            <a:ext cx="0" cy="131673"/>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29030" y="2845247"/>
            <a:ext cx="43891" cy="43891"/>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9030" y="2954975"/>
            <a:ext cx="43891" cy="43891"/>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38758" y="2845247"/>
            <a:ext cx="43891" cy="43891"/>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38758" y="2954975"/>
            <a:ext cx="43891" cy="43891"/>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48486" y="2845247"/>
            <a:ext cx="43891" cy="43891"/>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48486" y="2954975"/>
            <a:ext cx="43891" cy="43891"/>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53895" y="2706624"/>
            <a:ext cx="1508760" cy="329184"/>
          </a:xfrm>
          <a:prstGeom prst="rect">
            <a:avLst/>
          </a:prstGeom>
          <a:noFill/>
          <a:effectLst/>
        </p:spPr>
        <p:txBody>
          <a:bodyPr wrap="square" lIns="0" rIns="0" tIns="0" bIns="0">
            <a:spAutoFit/>
          </a:bodyPr>
          <a:lstStyle/>
          <a:p>
            <a:pPr>
              <a:spcAft>
                <a:spcPts val="800"/>
              </a:spcAft>
              <a:defRPr sz="2100" b="1">
                <a:solidFill>
                  <a:srgbClr val="5C6936"/>
                </a:solidFill>
                <a:latin typeface="Segoe UI"/>
              </a:defRPr>
            </a:pPr>
            <a:r>
              <a:t>Request</a:t>
            </a:r>
          </a:p>
        </p:txBody>
      </p:sp>
      <p:sp>
        <p:nvSpPr>
          <p:cNvPr id="25" name="TextBox 24"/>
          <p:cNvSpPr txBox="1"/>
          <p:nvPr/>
        </p:nvSpPr>
        <p:spPr>
          <a:xfrm>
            <a:off x="841247" y="3328416"/>
            <a:ext cx="2139696" cy="384048"/>
          </a:xfrm>
          <a:prstGeom prst="rect">
            <a:avLst/>
          </a:prstGeom>
          <a:noFill/>
          <a:effectLst/>
        </p:spPr>
        <p:txBody>
          <a:bodyPr wrap="square" lIns="0" rIns="0" tIns="0" bIns="0">
            <a:spAutoFit/>
          </a:bodyPr>
          <a:lstStyle/>
          <a:p>
            <a:pPr>
              <a:spcAft>
                <a:spcPts val="800"/>
              </a:spcAft>
              <a:defRPr sz="1300" b="0">
                <a:solidFill>
                  <a:srgbClr val="2D3424"/>
                </a:solidFill>
                <a:latin typeface="Segoe UI"/>
              </a:defRPr>
            </a:pPr>
            <a:r>
              <a:t>Employee selects dates</a:t>
            </a:r>
          </a:p>
        </p:txBody>
      </p:sp>
      <p:sp>
        <p:nvSpPr>
          <p:cNvPr id="26" name="Rounded Rectangle 25"/>
          <p:cNvSpPr/>
          <p:nvPr/>
        </p:nvSpPr>
        <p:spPr>
          <a:xfrm>
            <a:off x="3547872" y="2487168"/>
            <a:ext cx="2487168" cy="141732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entagon 26"/>
          <p:cNvSpPr/>
          <p:nvPr/>
        </p:nvSpPr>
        <p:spPr>
          <a:xfrm rot="10800000">
            <a:off x="3783421" y="2696016"/>
            <a:ext cx="333573" cy="373075"/>
          </a:xfrm>
          <a:prstGeom prst="homePlat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3858036" y="2845247"/>
            <a:ext cx="74615" cy="70225"/>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932651" y="2792577"/>
            <a:ext cx="114117" cy="122895"/>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343400" y="2706624"/>
            <a:ext cx="1508760" cy="329184"/>
          </a:xfrm>
          <a:prstGeom prst="rect">
            <a:avLst/>
          </a:prstGeom>
          <a:noFill/>
          <a:effectLst/>
        </p:spPr>
        <p:txBody>
          <a:bodyPr wrap="square" lIns="0" rIns="0" tIns="0" bIns="0">
            <a:spAutoFit/>
          </a:bodyPr>
          <a:lstStyle/>
          <a:p>
            <a:pPr>
              <a:spcAft>
                <a:spcPts val="800"/>
              </a:spcAft>
              <a:defRPr sz="2100" b="1">
                <a:solidFill>
                  <a:srgbClr val="5C6936"/>
                </a:solidFill>
                <a:latin typeface="Segoe UI"/>
              </a:defRPr>
            </a:pPr>
            <a:r>
              <a:t>Validate</a:t>
            </a:r>
          </a:p>
        </p:txBody>
      </p:sp>
      <p:sp>
        <p:nvSpPr>
          <p:cNvPr id="31" name="TextBox 30"/>
          <p:cNvSpPr txBox="1"/>
          <p:nvPr/>
        </p:nvSpPr>
        <p:spPr>
          <a:xfrm>
            <a:off x="3730752" y="3328416"/>
            <a:ext cx="2139696" cy="384048"/>
          </a:xfrm>
          <a:prstGeom prst="rect">
            <a:avLst/>
          </a:prstGeom>
          <a:noFill/>
          <a:effectLst/>
        </p:spPr>
        <p:txBody>
          <a:bodyPr wrap="square" lIns="0" rIns="0" tIns="0" bIns="0">
            <a:spAutoFit/>
          </a:bodyPr>
          <a:lstStyle/>
          <a:p>
            <a:pPr>
              <a:spcAft>
                <a:spcPts val="800"/>
              </a:spcAft>
              <a:defRPr sz="1300" b="0">
                <a:solidFill>
                  <a:srgbClr val="2D3424"/>
                </a:solidFill>
                <a:latin typeface="Segoe UI"/>
              </a:defRPr>
            </a:pPr>
            <a:r>
              <a:t>Rules + balance + access</a:t>
            </a:r>
          </a:p>
        </p:txBody>
      </p:sp>
      <p:sp>
        <p:nvSpPr>
          <p:cNvPr id="32" name="Rounded Rectangle 31"/>
          <p:cNvSpPr/>
          <p:nvPr/>
        </p:nvSpPr>
        <p:spPr>
          <a:xfrm>
            <a:off x="6437376" y="2487168"/>
            <a:ext cx="2487168" cy="141732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773875" y="2660904"/>
            <a:ext cx="131673" cy="131673"/>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633423" y="2739908"/>
            <a:ext cx="100949" cy="100949"/>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945050" y="2739908"/>
            <a:ext cx="100949" cy="100949"/>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743151" y="2827690"/>
            <a:ext cx="193121" cy="210677"/>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20256" y="2871581"/>
            <a:ext cx="96560" cy="131673"/>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62607" y="2871581"/>
            <a:ext cx="96560" cy="131673"/>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2904" y="2706624"/>
            <a:ext cx="1508760" cy="329184"/>
          </a:xfrm>
          <a:prstGeom prst="rect">
            <a:avLst/>
          </a:prstGeom>
          <a:noFill/>
          <a:effectLst/>
        </p:spPr>
        <p:txBody>
          <a:bodyPr wrap="square" lIns="0" rIns="0" tIns="0" bIns="0">
            <a:spAutoFit/>
          </a:bodyPr>
          <a:lstStyle/>
          <a:p>
            <a:pPr>
              <a:spcAft>
                <a:spcPts val="800"/>
              </a:spcAft>
              <a:defRPr sz="2100" b="1">
                <a:solidFill>
                  <a:srgbClr val="5C6936"/>
                </a:solidFill>
                <a:latin typeface="Segoe UI"/>
              </a:defRPr>
            </a:pPr>
            <a:r>
              <a:t>Review</a:t>
            </a:r>
          </a:p>
        </p:txBody>
      </p:sp>
      <p:sp>
        <p:nvSpPr>
          <p:cNvPr id="40" name="TextBox 39"/>
          <p:cNvSpPr txBox="1"/>
          <p:nvPr/>
        </p:nvSpPr>
        <p:spPr>
          <a:xfrm>
            <a:off x="6620256" y="3328416"/>
            <a:ext cx="2139696" cy="384048"/>
          </a:xfrm>
          <a:prstGeom prst="rect">
            <a:avLst/>
          </a:prstGeom>
          <a:noFill/>
          <a:effectLst/>
        </p:spPr>
        <p:txBody>
          <a:bodyPr wrap="square" lIns="0" rIns="0" tIns="0" bIns="0">
            <a:spAutoFit/>
          </a:bodyPr>
          <a:lstStyle/>
          <a:p>
            <a:pPr>
              <a:spcAft>
                <a:spcPts val="800"/>
              </a:spcAft>
              <a:defRPr sz="1300" b="0">
                <a:solidFill>
                  <a:srgbClr val="2D3424"/>
                </a:solidFill>
                <a:latin typeface="Segoe UI"/>
              </a:defRPr>
            </a:pPr>
            <a:r>
              <a:t>Authorized approver acts</a:t>
            </a:r>
          </a:p>
        </p:txBody>
      </p:sp>
      <p:sp>
        <p:nvSpPr>
          <p:cNvPr id="41" name="Chevron 40"/>
          <p:cNvSpPr/>
          <p:nvPr/>
        </p:nvSpPr>
        <p:spPr>
          <a:xfrm>
            <a:off x="3191256" y="2971800"/>
            <a:ext cx="274320" cy="329184"/>
          </a:xfrm>
          <a:prstGeom prst="chevro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hevron 41"/>
          <p:cNvSpPr/>
          <p:nvPr/>
        </p:nvSpPr>
        <p:spPr>
          <a:xfrm>
            <a:off x="6071616" y="2971800"/>
            <a:ext cx="274320" cy="329184"/>
          </a:xfrm>
          <a:prstGeom prst="chevro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8924544" y="3191256"/>
            <a:ext cx="384048"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308592" y="2487168"/>
            <a:ext cx="0" cy="1627632"/>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308592" y="2487168"/>
            <a:ext cx="365760"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308592" y="4114800"/>
            <a:ext cx="365760"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784080" y="2401214"/>
            <a:ext cx="102412" cy="10607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9886492" y="2265883"/>
            <a:ext cx="190196" cy="241401"/>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0241280" y="2212848"/>
            <a:ext cx="1389888" cy="365760"/>
          </a:xfrm>
          <a:prstGeom prst="rect">
            <a:avLst/>
          </a:prstGeom>
          <a:noFill/>
          <a:effectLst/>
        </p:spPr>
        <p:txBody>
          <a:bodyPr wrap="square" lIns="0" rIns="0" tIns="0" bIns="0">
            <a:spAutoFit/>
          </a:bodyPr>
          <a:lstStyle/>
          <a:p>
            <a:pPr>
              <a:spcAft>
                <a:spcPts val="800"/>
              </a:spcAft>
              <a:defRPr sz="1700" b="1">
                <a:solidFill>
                  <a:srgbClr val="5C6936"/>
                </a:solidFill>
                <a:latin typeface="Segoe UI"/>
              </a:defRPr>
            </a:pPr>
            <a:r>
              <a:t>Approved</a:t>
            </a:r>
          </a:p>
        </p:txBody>
      </p:sp>
      <p:sp>
        <p:nvSpPr>
          <p:cNvPr id="50" name="Rounded Rectangular Callout 49"/>
          <p:cNvSpPr/>
          <p:nvPr/>
        </p:nvSpPr>
        <p:spPr>
          <a:xfrm>
            <a:off x="9729216" y="3840480"/>
            <a:ext cx="365760" cy="292608"/>
          </a:xfrm>
          <a:prstGeom prst="wedgeRoundRectCallou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241280" y="3813048"/>
            <a:ext cx="1389888" cy="502920"/>
          </a:xfrm>
          <a:prstGeom prst="rect">
            <a:avLst/>
          </a:prstGeom>
          <a:noFill/>
          <a:effectLst/>
        </p:spPr>
        <p:txBody>
          <a:bodyPr wrap="square" lIns="0" rIns="0" tIns="0" bIns="0">
            <a:spAutoFit/>
          </a:bodyPr>
          <a:lstStyle/>
          <a:p>
            <a:pPr>
              <a:spcAft>
                <a:spcPts val="800"/>
              </a:spcAft>
              <a:defRPr sz="1500" b="1">
                <a:solidFill>
                  <a:srgbClr val="626752"/>
                </a:solidFill>
                <a:latin typeface="Segoe UI"/>
              </a:defRPr>
            </a:pPr>
            <a:r>
              <a:t>Other</a:t>
            </a:r>
          </a:p>
          <a:p>
            <a:pPr>
              <a:spcAft>
                <a:spcPts val="800"/>
              </a:spcAft>
              <a:defRPr sz="1500" b="1">
                <a:solidFill>
                  <a:srgbClr val="626752"/>
                </a:solidFill>
                <a:latin typeface="Segoe UI"/>
              </a:defRPr>
            </a:pPr>
            <a:r>
              <a:t>outcome</a:t>
            </a:r>
          </a:p>
        </p:txBody>
      </p:sp>
      <p:sp>
        <p:nvSpPr>
          <p:cNvPr id="52" name="Rounded Rectangle 51"/>
          <p:cNvSpPr/>
          <p:nvPr/>
        </p:nvSpPr>
        <p:spPr>
          <a:xfrm>
            <a:off x="676656" y="4645152"/>
            <a:ext cx="10844784" cy="117957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5-Point Star 52"/>
          <p:cNvSpPr/>
          <p:nvPr/>
        </p:nvSpPr>
        <p:spPr>
          <a:xfrm>
            <a:off x="932688" y="4956048"/>
            <a:ext cx="530352" cy="530352"/>
          </a:xfrm>
          <a:prstGeom prst="star5">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819656" y="4828032"/>
            <a:ext cx="5989320" cy="365760"/>
          </a:xfrm>
          <a:prstGeom prst="rect">
            <a:avLst/>
          </a:prstGeom>
          <a:noFill/>
          <a:effectLst/>
        </p:spPr>
        <p:txBody>
          <a:bodyPr wrap="square" lIns="0" rIns="0" tIns="0" bIns="0">
            <a:spAutoFit/>
          </a:bodyPr>
          <a:lstStyle/>
          <a:p>
            <a:pPr>
              <a:spcAft>
                <a:spcPts val="800"/>
              </a:spcAft>
              <a:defRPr sz="2200" b="1">
                <a:solidFill>
                  <a:srgbClr val="5C6936"/>
                </a:solidFill>
                <a:latin typeface="Segoe UI"/>
              </a:defRPr>
            </a:pPr>
            <a:r>
              <a:t>Good systems also notice good work.</a:t>
            </a:r>
          </a:p>
        </p:txBody>
      </p:sp>
      <p:sp>
        <p:nvSpPr>
          <p:cNvPr id="55" name="TextBox 54"/>
          <p:cNvSpPr txBox="1"/>
          <p:nvPr/>
        </p:nvSpPr>
        <p:spPr>
          <a:xfrm>
            <a:off x="1828800" y="5367528"/>
            <a:ext cx="6080760" cy="301752"/>
          </a:xfrm>
          <a:prstGeom prst="rect">
            <a:avLst/>
          </a:prstGeom>
          <a:noFill/>
          <a:effectLst/>
        </p:spPr>
        <p:txBody>
          <a:bodyPr wrap="square" lIns="0" rIns="0" tIns="0" bIns="0">
            <a:spAutoFit/>
          </a:bodyPr>
          <a:lstStyle/>
          <a:p>
            <a:pPr>
              <a:spcAft>
                <a:spcPts val="800"/>
              </a:spcAft>
              <a:defRPr sz="1500" b="0">
                <a:solidFill>
                  <a:srgbClr val="2D3424"/>
                </a:solidFill>
                <a:latin typeface="Segoe UI"/>
              </a:defRPr>
            </a:pPr>
            <a:r>
              <a:t>A praise wall adds recognition to everyday operations.</a:t>
            </a:r>
          </a:p>
        </p:txBody>
      </p:sp>
      <p:sp>
        <p:nvSpPr>
          <p:cNvPr id="56" name="Rounded Rectangle 55">
            <a:hlinkClick action="ppaction://hlinksldjump" r:id="rId7"/>
          </p:cNvPr>
          <p:cNvSpPr/>
          <p:nvPr/>
        </p:nvSpPr>
        <p:spPr>
          <a:xfrm>
            <a:off x="8613648" y="5010912"/>
            <a:ext cx="2514600" cy="502920"/>
          </a:xfrm>
          <a:prstGeom prst="roundRect">
            <a:avLst>
              <a:gd name="adj" fmla="val 50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Try the appreciation tour  →</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5C6936"/>
                </a:solidFill>
                <a:latin typeface="Segoe UI"/>
              </a:defRPr>
            </a:pPr>
            <a:r>
              <a:t>HRGenius  /  HOW IT WORKS</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2D3424"/>
                </a:solidFill>
                <a:latin typeface="Segoe UI"/>
              </a:defRPr>
            </a:pPr>
            <a:r>
              <a:t>A clear boundary between experience and rules.</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An editable architecture diagram of the current application.</a:t>
            </a:r>
          </a:p>
        </p:txBody>
      </p:sp>
      <p:sp>
        <p:nvSpPr>
          <p:cNvPr id="5" name="Rectangle 4"/>
          <p:cNvSpPr/>
          <p:nvPr/>
        </p:nvSpPr>
        <p:spPr>
          <a:xfrm>
            <a:off x="502920" y="6364224"/>
            <a:ext cx="11155680" cy="10972"/>
          </a:xfrm>
          <a:prstGeom prst="rect">
            <a:avLst/>
          </a:prstGeom>
          <a:solidFill>
            <a:srgbClr val="E3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626752"/>
                </a:solidFill>
                <a:latin typeface="Segoe UI"/>
              </a:defRPr>
            </a:pPr>
            <a:r>
              <a:t>07</a:t>
            </a:r>
          </a:p>
        </p:txBody>
      </p:sp>
      <p:cxnSp>
        <p:nvCxnSpPr>
          <p:cNvPr id="11" name="Connector 10"/>
          <p:cNvCxnSpPr/>
          <p:nvPr/>
        </p:nvCxnSpPr>
        <p:spPr>
          <a:xfrm>
            <a:off x="1600200" y="2440533"/>
            <a:ext cx="851306"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51506" y="2440533"/>
            <a:ext cx="0" cy="582473"/>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600200" y="3023006"/>
            <a:ext cx="851306"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600200" y="2440533"/>
            <a:ext cx="0" cy="582473"/>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21372" y="3023006"/>
            <a:ext cx="0" cy="179222"/>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797344" y="3202228"/>
            <a:ext cx="448056"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77240" y="3639312"/>
            <a:ext cx="2880360" cy="457200"/>
          </a:xfrm>
          <a:prstGeom prst="rect">
            <a:avLst/>
          </a:prstGeom>
          <a:noFill/>
          <a:effectLst/>
        </p:spPr>
        <p:txBody>
          <a:bodyPr wrap="square" lIns="0" rIns="0" tIns="0" bIns="0">
            <a:spAutoFit/>
          </a:bodyPr>
          <a:lstStyle/>
          <a:p>
            <a:pPr>
              <a:spcAft>
                <a:spcPts val="800"/>
              </a:spcAft>
              <a:defRPr sz="2500" b="1">
                <a:solidFill>
                  <a:srgbClr val="5C6936"/>
                </a:solidFill>
                <a:latin typeface="Segoe UI"/>
              </a:defRPr>
            </a:pPr>
            <a:r>
              <a:t>Angular 18</a:t>
            </a:r>
          </a:p>
        </p:txBody>
      </p:sp>
      <p:sp>
        <p:nvSpPr>
          <p:cNvPr id="18" name="TextBox 17"/>
          <p:cNvSpPr txBox="1"/>
          <p:nvPr/>
        </p:nvSpPr>
        <p:spPr>
          <a:xfrm>
            <a:off x="777240" y="4270248"/>
            <a:ext cx="2880360" cy="777240"/>
          </a:xfrm>
          <a:prstGeom prst="rect">
            <a:avLst/>
          </a:prstGeom>
          <a:noFill/>
          <a:effectLst/>
        </p:spPr>
        <p:txBody>
          <a:bodyPr wrap="square" lIns="0" rIns="0" tIns="0" bIns="0">
            <a:spAutoFit/>
          </a:bodyPr>
          <a:lstStyle/>
          <a:p>
            <a:pPr>
              <a:spcAft>
                <a:spcPts val="800"/>
              </a:spcAft>
              <a:defRPr sz="1600" b="0">
                <a:solidFill>
                  <a:srgbClr val="2D3424"/>
                </a:solidFill>
                <a:latin typeface="Segoe UI"/>
              </a:defRPr>
            </a:pPr>
            <a:r>
              <a:t>UI · routes · Material</a:t>
            </a:r>
          </a:p>
          <a:p>
            <a:pPr>
              <a:spcAft>
                <a:spcPts val="800"/>
              </a:spcAft>
              <a:defRPr sz="1600" b="0">
                <a:solidFill>
                  <a:srgbClr val="2D3424"/>
                </a:solidFill>
                <a:latin typeface="Segoe UI"/>
              </a:defRPr>
            </a:pPr>
            <a:r>
              <a:t>Signals · accessible controls</a:t>
            </a:r>
          </a:p>
        </p:txBody>
      </p:sp>
      <p:sp>
        <p:nvSpPr>
          <p:cNvPr id="19" name="Rectangle 18"/>
          <p:cNvSpPr/>
          <p:nvPr/>
        </p:nvSpPr>
        <p:spPr>
          <a:xfrm>
            <a:off x="5718108" y="2395728"/>
            <a:ext cx="295716" cy="224028"/>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22392" y="2978200"/>
            <a:ext cx="295716" cy="224028"/>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04864" y="2978200"/>
            <a:ext cx="295716" cy="224028"/>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5861486" y="2619756"/>
            <a:ext cx="0" cy="206105"/>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565769" y="2825861"/>
            <a:ext cx="591434"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565769" y="2825861"/>
            <a:ext cx="0" cy="152339"/>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157203" y="2825861"/>
            <a:ext cx="0" cy="152339"/>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99432" y="3639312"/>
            <a:ext cx="2880360" cy="457200"/>
          </a:xfrm>
          <a:prstGeom prst="rect">
            <a:avLst/>
          </a:prstGeom>
          <a:noFill/>
          <a:effectLst/>
        </p:spPr>
        <p:txBody>
          <a:bodyPr wrap="square" lIns="0" rIns="0" tIns="0" bIns="0">
            <a:spAutoFit/>
          </a:bodyPr>
          <a:lstStyle/>
          <a:p>
            <a:pPr>
              <a:spcAft>
                <a:spcPts val="800"/>
              </a:spcAft>
              <a:defRPr sz="2500" b="1">
                <a:solidFill>
                  <a:srgbClr val="5C6936"/>
                </a:solidFill>
                <a:latin typeface="Segoe UI"/>
              </a:defRPr>
            </a:pPr>
            <a:r>
              <a:t>Spring Boot</a:t>
            </a:r>
          </a:p>
        </p:txBody>
      </p:sp>
      <p:sp>
        <p:nvSpPr>
          <p:cNvPr id="27" name="TextBox 26"/>
          <p:cNvSpPr txBox="1"/>
          <p:nvPr/>
        </p:nvSpPr>
        <p:spPr>
          <a:xfrm>
            <a:off x="4599432" y="4270248"/>
            <a:ext cx="2880360" cy="777240"/>
          </a:xfrm>
          <a:prstGeom prst="rect">
            <a:avLst/>
          </a:prstGeom>
          <a:noFill/>
          <a:effectLst/>
        </p:spPr>
        <p:txBody>
          <a:bodyPr wrap="square" lIns="0" rIns="0" tIns="0" bIns="0">
            <a:spAutoFit/>
          </a:bodyPr>
          <a:lstStyle/>
          <a:p>
            <a:pPr>
              <a:spcAft>
                <a:spcPts val="800"/>
              </a:spcAft>
              <a:defRPr sz="1600" b="0">
                <a:solidFill>
                  <a:srgbClr val="2D3424"/>
                </a:solidFill>
                <a:latin typeface="Segoe UI"/>
              </a:defRPr>
            </a:pPr>
            <a:r>
              <a:t>REST · validation · security</a:t>
            </a:r>
          </a:p>
          <a:p>
            <a:pPr>
              <a:spcAft>
                <a:spcPts val="800"/>
              </a:spcAft>
              <a:defRPr sz="1600" b="0">
                <a:solidFill>
                  <a:srgbClr val="2D3424"/>
                </a:solidFill>
                <a:latin typeface="Segoe UI"/>
              </a:defRPr>
            </a:pPr>
            <a:r>
              <a:t>Services · JPA repositories</a:t>
            </a:r>
          </a:p>
        </p:txBody>
      </p:sp>
      <p:sp>
        <p:nvSpPr>
          <p:cNvPr id="28" name="Can 27"/>
          <p:cNvSpPr/>
          <p:nvPr/>
        </p:nvSpPr>
        <p:spPr>
          <a:xfrm>
            <a:off x="9343339" y="2395728"/>
            <a:ext cx="716889" cy="896112"/>
          </a:xfrm>
          <a:prstGeom prst="ca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30768" y="3639312"/>
            <a:ext cx="2880360" cy="457200"/>
          </a:xfrm>
          <a:prstGeom prst="rect">
            <a:avLst/>
          </a:prstGeom>
          <a:noFill/>
          <a:effectLst/>
        </p:spPr>
        <p:txBody>
          <a:bodyPr wrap="square" lIns="0" rIns="0" tIns="0" bIns="0">
            <a:spAutoFit/>
          </a:bodyPr>
          <a:lstStyle/>
          <a:p>
            <a:pPr>
              <a:spcAft>
                <a:spcPts val="800"/>
              </a:spcAft>
              <a:defRPr sz="2500" b="1">
                <a:solidFill>
                  <a:srgbClr val="5C6936"/>
                </a:solidFill>
                <a:latin typeface="Segoe UI"/>
              </a:defRPr>
            </a:pPr>
            <a:r>
              <a:t>Persistence</a:t>
            </a:r>
          </a:p>
        </p:txBody>
      </p:sp>
      <p:sp>
        <p:nvSpPr>
          <p:cNvPr id="30" name="TextBox 29"/>
          <p:cNvSpPr txBox="1"/>
          <p:nvPr/>
        </p:nvSpPr>
        <p:spPr>
          <a:xfrm>
            <a:off x="8430768" y="4270248"/>
            <a:ext cx="2880360" cy="777240"/>
          </a:xfrm>
          <a:prstGeom prst="rect">
            <a:avLst/>
          </a:prstGeom>
          <a:noFill/>
          <a:effectLst/>
        </p:spPr>
        <p:txBody>
          <a:bodyPr wrap="square" lIns="0" rIns="0" tIns="0" bIns="0">
            <a:spAutoFit/>
          </a:bodyPr>
          <a:lstStyle/>
          <a:p>
            <a:pPr>
              <a:spcAft>
                <a:spcPts val="800"/>
              </a:spcAft>
              <a:defRPr sz="1600" b="0">
                <a:solidFill>
                  <a:srgbClr val="2D3424"/>
                </a:solidFill>
                <a:latin typeface="Segoe UI"/>
              </a:defRPr>
            </a:pPr>
            <a:r>
              <a:t>Oracle target / H2 demo</a:t>
            </a:r>
          </a:p>
          <a:p>
            <a:pPr>
              <a:spcAft>
                <a:spcPts val="800"/>
              </a:spcAft>
              <a:defRPr sz="1600" b="0">
                <a:solidFill>
                  <a:srgbClr val="2D3424"/>
                </a:solidFill>
                <a:latin typeface="Segoe UI"/>
              </a:defRPr>
            </a:pPr>
            <a:r>
              <a:t>Flyway schema migrations</a:t>
            </a:r>
          </a:p>
        </p:txBody>
      </p:sp>
      <p:sp>
        <p:nvSpPr>
          <p:cNvPr id="31" name="Left-Right Arrow 30"/>
          <p:cNvSpPr/>
          <p:nvPr/>
        </p:nvSpPr>
        <p:spPr>
          <a:xfrm>
            <a:off x="3621024" y="2761488"/>
            <a:ext cx="713232" cy="301752"/>
          </a:xfrm>
          <a:prstGeom prst="leftRightArrow">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29584" y="3209544"/>
            <a:ext cx="1005840" cy="274320"/>
          </a:xfrm>
          <a:prstGeom prst="rect">
            <a:avLst/>
          </a:prstGeom>
          <a:noFill/>
          <a:effectLst/>
        </p:spPr>
        <p:txBody>
          <a:bodyPr wrap="square" lIns="0" rIns="0" tIns="0" bIns="0">
            <a:spAutoFit/>
          </a:bodyPr>
          <a:lstStyle/>
          <a:p>
            <a:pPr>
              <a:spcAft>
                <a:spcPts val="800"/>
              </a:spcAft>
              <a:defRPr sz="1200" b="1">
                <a:solidFill>
                  <a:srgbClr val="626752"/>
                </a:solidFill>
                <a:latin typeface="Segoe UI"/>
              </a:defRPr>
            </a:pPr>
            <a:r>
              <a:t>REST</a:t>
            </a:r>
          </a:p>
        </p:txBody>
      </p:sp>
      <p:sp>
        <p:nvSpPr>
          <p:cNvPr id="33" name="Left-Right Arrow 32"/>
          <p:cNvSpPr/>
          <p:nvPr/>
        </p:nvSpPr>
        <p:spPr>
          <a:xfrm>
            <a:off x="7452360" y="2761488"/>
            <a:ext cx="713232" cy="301752"/>
          </a:xfrm>
          <a:prstGeom prst="leftRightArrow">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60920" y="3209544"/>
            <a:ext cx="1005840" cy="274320"/>
          </a:xfrm>
          <a:prstGeom prst="rect">
            <a:avLst/>
          </a:prstGeom>
          <a:noFill/>
          <a:effectLst/>
        </p:spPr>
        <p:txBody>
          <a:bodyPr wrap="square" lIns="0" rIns="0" tIns="0" bIns="0">
            <a:spAutoFit/>
          </a:bodyPr>
          <a:lstStyle/>
          <a:p>
            <a:pPr>
              <a:spcAft>
                <a:spcPts val="800"/>
              </a:spcAft>
              <a:defRPr sz="1200" b="1">
                <a:solidFill>
                  <a:srgbClr val="626752"/>
                </a:solidFill>
                <a:latin typeface="Segoe UI"/>
              </a:defRPr>
            </a:pPr>
            <a:r>
              <a:t>JPA</a:t>
            </a:r>
          </a:p>
        </p:txBody>
      </p:sp>
      <p:sp>
        <p:nvSpPr>
          <p:cNvPr id="35" name="Rounded Rectangle 34"/>
          <p:cNvSpPr/>
          <p:nvPr/>
        </p:nvSpPr>
        <p:spPr>
          <a:xfrm>
            <a:off x="731520" y="5285232"/>
            <a:ext cx="10789920" cy="621792"/>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688" y="5468112"/>
            <a:ext cx="10332720" cy="274320"/>
          </a:xfrm>
          <a:prstGeom prst="rect">
            <a:avLst/>
          </a:prstGeom>
          <a:noFill/>
          <a:effectLst/>
        </p:spPr>
        <p:txBody>
          <a:bodyPr wrap="square" lIns="0" rIns="0" tIns="0" bIns="0">
            <a:spAutoFit/>
          </a:bodyPr>
          <a:lstStyle/>
          <a:p>
            <a:pPr>
              <a:spcAft>
                <a:spcPts val="800"/>
              </a:spcAft>
              <a:defRPr sz="1600" b="1">
                <a:solidFill>
                  <a:srgbClr val="5C6936"/>
                </a:solidFill>
                <a:latin typeface="Segoe UI"/>
              </a:defRPr>
            </a:pPr>
            <a:r>
              <a:t>Supporting services     Files + metadata    /    Mail    /    Audit history    /    OpenAPI</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5C6936"/>
                </a:solidFill>
                <a:latin typeface="Segoe UI"/>
              </a:defRPr>
            </a:pPr>
            <a:r>
              <a:t>HRGenius  /  TRUST BY DESIGN</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2D3424"/>
                </a:solidFill>
                <a:latin typeface="Segoe UI"/>
              </a:defRPr>
            </a:pPr>
            <a:r>
              <a:t>Three gates before sensitive information.</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The backend enforces access. The interface makes that access understandable.</a:t>
            </a:r>
          </a:p>
        </p:txBody>
      </p:sp>
      <p:sp>
        <p:nvSpPr>
          <p:cNvPr id="5" name="Rectangle 4"/>
          <p:cNvSpPr/>
          <p:nvPr/>
        </p:nvSpPr>
        <p:spPr>
          <a:xfrm>
            <a:off x="502920" y="6364224"/>
            <a:ext cx="11155680" cy="10972"/>
          </a:xfrm>
          <a:prstGeom prst="rect">
            <a:avLst/>
          </a:prstGeom>
          <a:solidFill>
            <a:srgbClr val="E3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626752"/>
                </a:solidFill>
                <a:latin typeface="Segoe UI"/>
              </a:defRPr>
            </a:pPr>
            <a:r>
              <a:t>08</a:t>
            </a:r>
          </a:p>
        </p:txBody>
      </p:sp>
      <p:sp>
        <p:nvSpPr>
          <p:cNvPr id="11" name="Oval 10"/>
          <p:cNvSpPr/>
          <p:nvPr/>
        </p:nvSpPr>
        <p:spPr>
          <a:xfrm>
            <a:off x="1627632" y="2286000"/>
            <a:ext cx="1024128" cy="1024128"/>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066543" y="2523744"/>
            <a:ext cx="164592" cy="164592"/>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90979" y="2622499"/>
            <a:ext cx="126187" cy="126187"/>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280513" y="2622499"/>
            <a:ext cx="126187" cy="126187"/>
          </a:xfrm>
          <a:prstGeom prst="ellips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28139" y="2732227"/>
            <a:ext cx="241401" cy="263347"/>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74519" y="2787091"/>
            <a:ext cx="120700" cy="164592"/>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02459" y="2787091"/>
            <a:ext cx="120700" cy="164592"/>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39312"/>
            <a:ext cx="3246120" cy="457200"/>
          </a:xfrm>
          <a:prstGeom prst="rect">
            <a:avLst/>
          </a:prstGeom>
          <a:noFill/>
          <a:effectLst/>
        </p:spPr>
        <p:txBody>
          <a:bodyPr wrap="square" lIns="0" rIns="0" tIns="0" bIns="0">
            <a:spAutoFit/>
          </a:bodyPr>
          <a:lstStyle/>
          <a:p>
            <a:pPr>
              <a:spcAft>
                <a:spcPts val="800"/>
              </a:spcAft>
              <a:defRPr sz="2300" b="1">
                <a:solidFill>
                  <a:srgbClr val="5C6936"/>
                </a:solidFill>
                <a:latin typeface="Segoe UI"/>
              </a:defRPr>
            </a:pPr>
            <a:r>
              <a:t>Who are you?</a:t>
            </a:r>
          </a:p>
        </p:txBody>
      </p:sp>
      <p:sp>
        <p:nvSpPr>
          <p:cNvPr id="19" name="TextBox 18"/>
          <p:cNvSpPr txBox="1"/>
          <p:nvPr/>
        </p:nvSpPr>
        <p:spPr>
          <a:xfrm>
            <a:off x="822960" y="4352544"/>
            <a:ext cx="3218688" cy="777240"/>
          </a:xfrm>
          <a:prstGeom prst="rect">
            <a:avLst/>
          </a:prstGeom>
          <a:noFill/>
          <a:effectLst/>
        </p:spPr>
        <p:txBody>
          <a:bodyPr wrap="square" lIns="0" rIns="0" tIns="0" bIns="0">
            <a:spAutoFit/>
          </a:bodyPr>
          <a:lstStyle/>
          <a:p>
            <a:pPr>
              <a:spcAft>
                <a:spcPts val="800"/>
              </a:spcAft>
              <a:defRPr sz="1800" b="0">
                <a:solidFill>
                  <a:srgbClr val="2D3424"/>
                </a:solidFill>
                <a:latin typeface="Segoe UI"/>
              </a:defRPr>
            </a:pPr>
            <a:r>
              <a:t>JWT + refresh rotation</a:t>
            </a:r>
          </a:p>
          <a:p>
            <a:pPr>
              <a:spcAft>
                <a:spcPts val="800"/>
              </a:spcAft>
              <a:defRPr sz="1800" b="0">
                <a:solidFill>
                  <a:srgbClr val="2D3424"/>
                </a:solidFill>
                <a:latin typeface="Segoe UI"/>
              </a:defRPr>
            </a:pPr>
            <a:r>
              <a:t>BCrypt + login lockout</a:t>
            </a:r>
          </a:p>
        </p:txBody>
      </p:sp>
      <p:sp>
        <p:nvSpPr>
          <p:cNvPr id="20" name="Chevron 19"/>
          <p:cNvSpPr/>
          <p:nvPr/>
        </p:nvSpPr>
        <p:spPr>
          <a:xfrm>
            <a:off x="3950208" y="2596896"/>
            <a:ext cx="320040" cy="365760"/>
          </a:xfrm>
          <a:prstGeom prst="chevro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404104" y="2286000"/>
            <a:ext cx="1024128" cy="1024128"/>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entagon 21"/>
          <p:cNvSpPr/>
          <p:nvPr/>
        </p:nvSpPr>
        <p:spPr>
          <a:xfrm rot="10800000">
            <a:off x="5716828" y="2567635"/>
            <a:ext cx="416966" cy="466344"/>
          </a:xfrm>
          <a:prstGeom prst="homePlate">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5810097" y="2754172"/>
            <a:ext cx="93269" cy="87783"/>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903366" y="2688336"/>
            <a:ext cx="142646" cy="153619"/>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99432" y="3639312"/>
            <a:ext cx="3246120" cy="457200"/>
          </a:xfrm>
          <a:prstGeom prst="rect">
            <a:avLst/>
          </a:prstGeom>
          <a:noFill/>
          <a:effectLst/>
        </p:spPr>
        <p:txBody>
          <a:bodyPr wrap="square" lIns="0" rIns="0" tIns="0" bIns="0">
            <a:spAutoFit/>
          </a:bodyPr>
          <a:lstStyle/>
          <a:p>
            <a:pPr>
              <a:spcAft>
                <a:spcPts val="800"/>
              </a:spcAft>
              <a:defRPr sz="2300" b="1">
                <a:solidFill>
                  <a:srgbClr val="5C6936"/>
                </a:solidFill>
                <a:latin typeface="Segoe UI"/>
              </a:defRPr>
            </a:pPr>
            <a:r>
              <a:t>What may you do?</a:t>
            </a:r>
          </a:p>
        </p:txBody>
      </p:sp>
      <p:sp>
        <p:nvSpPr>
          <p:cNvPr id="26" name="TextBox 25"/>
          <p:cNvSpPr txBox="1"/>
          <p:nvPr/>
        </p:nvSpPr>
        <p:spPr>
          <a:xfrm>
            <a:off x="4599432" y="4352544"/>
            <a:ext cx="3218688" cy="777240"/>
          </a:xfrm>
          <a:prstGeom prst="rect">
            <a:avLst/>
          </a:prstGeom>
          <a:noFill/>
          <a:effectLst/>
        </p:spPr>
        <p:txBody>
          <a:bodyPr wrap="square" lIns="0" rIns="0" tIns="0" bIns="0">
            <a:spAutoFit/>
          </a:bodyPr>
          <a:lstStyle/>
          <a:p>
            <a:pPr>
              <a:spcAft>
                <a:spcPts val="800"/>
              </a:spcAft>
              <a:defRPr sz="1800" b="0">
                <a:solidFill>
                  <a:srgbClr val="2D3424"/>
                </a:solidFill>
                <a:latin typeface="Segoe UI"/>
              </a:defRPr>
            </a:pPr>
            <a:r>
              <a:t>Roles + permissions</a:t>
            </a:r>
          </a:p>
          <a:p>
            <a:pPr>
              <a:spcAft>
                <a:spcPts val="800"/>
              </a:spcAft>
              <a:defRPr sz="1800" b="0">
                <a:solidFill>
                  <a:srgbClr val="2D3424"/>
                </a:solidFill>
                <a:latin typeface="Segoe UI"/>
              </a:defRPr>
            </a:pPr>
            <a:r>
              <a:t>Self / team / HR scope</a:t>
            </a:r>
          </a:p>
        </p:txBody>
      </p:sp>
      <p:sp>
        <p:nvSpPr>
          <p:cNvPr id="27" name="Chevron 26"/>
          <p:cNvSpPr/>
          <p:nvPr/>
        </p:nvSpPr>
        <p:spPr>
          <a:xfrm>
            <a:off x="7726679" y="2596896"/>
            <a:ext cx="320040" cy="365760"/>
          </a:xfrm>
          <a:prstGeom prst="chevro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80576" y="2286000"/>
            <a:ext cx="1024128" cy="1024128"/>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olded Corner 28"/>
          <p:cNvSpPr/>
          <p:nvPr/>
        </p:nvSpPr>
        <p:spPr>
          <a:xfrm>
            <a:off x="9482328" y="2523744"/>
            <a:ext cx="411479" cy="548640"/>
          </a:xfrm>
          <a:prstGeom prst="foldedCorner">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9564624" y="2715768"/>
            <a:ext cx="219456" cy="0"/>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564624" y="2803550"/>
            <a:ext cx="219456" cy="0"/>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564624" y="2891332"/>
            <a:ext cx="219456" cy="0"/>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375904" y="3639312"/>
            <a:ext cx="3246120" cy="457200"/>
          </a:xfrm>
          <a:prstGeom prst="rect">
            <a:avLst/>
          </a:prstGeom>
          <a:noFill/>
          <a:effectLst/>
        </p:spPr>
        <p:txBody>
          <a:bodyPr wrap="square" lIns="0" rIns="0" tIns="0" bIns="0">
            <a:spAutoFit/>
          </a:bodyPr>
          <a:lstStyle/>
          <a:p>
            <a:pPr>
              <a:spcAft>
                <a:spcPts val="800"/>
              </a:spcAft>
              <a:defRPr sz="2300" b="1">
                <a:solidFill>
                  <a:srgbClr val="5C6936"/>
                </a:solidFill>
                <a:latin typeface="Segoe UI"/>
              </a:defRPr>
            </a:pPr>
            <a:r>
              <a:t>What may you see?</a:t>
            </a:r>
          </a:p>
        </p:txBody>
      </p:sp>
      <p:sp>
        <p:nvSpPr>
          <p:cNvPr id="34" name="TextBox 33"/>
          <p:cNvSpPr txBox="1"/>
          <p:nvPr/>
        </p:nvSpPr>
        <p:spPr>
          <a:xfrm>
            <a:off x="8375904" y="4352544"/>
            <a:ext cx="3218688" cy="777240"/>
          </a:xfrm>
          <a:prstGeom prst="rect">
            <a:avLst/>
          </a:prstGeom>
          <a:noFill/>
          <a:effectLst/>
        </p:spPr>
        <p:txBody>
          <a:bodyPr wrap="square" lIns="0" rIns="0" tIns="0" bIns="0">
            <a:spAutoFit/>
          </a:bodyPr>
          <a:lstStyle/>
          <a:p>
            <a:pPr>
              <a:spcAft>
                <a:spcPts val="800"/>
              </a:spcAft>
              <a:defRPr sz="1800" b="0">
                <a:solidFill>
                  <a:srgbClr val="2D3424"/>
                </a:solidFill>
                <a:latin typeface="Segoe UI"/>
              </a:defRPr>
            </a:pPr>
            <a:r>
              <a:t>Selected field encryption</a:t>
            </a:r>
          </a:p>
          <a:p>
            <a:pPr>
              <a:spcAft>
                <a:spcPts val="800"/>
              </a:spcAft>
              <a:defRPr sz="1800" b="0">
                <a:solidFill>
                  <a:srgbClr val="2D3424"/>
                </a:solidFill>
                <a:latin typeface="Segoe UI"/>
              </a:defRPr>
            </a:pPr>
            <a:r>
              <a:t>Masking + controlled reveal</a:t>
            </a:r>
          </a:p>
        </p:txBody>
      </p:sp>
      <p:sp>
        <p:nvSpPr>
          <p:cNvPr id="35" name="Rounded Rectangle 34"/>
          <p:cNvSpPr/>
          <p:nvPr/>
        </p:nvSpPr>
        <p:spPr>
          <a:xfrm>
            <a:off x="795528" y="5486400"/>
            <a:ext cx="10643616" cy="502920"/>
          </a:xfrm>
          <a:prstGeom prst="roundRect">
            <a:avLst>
              <a:gd name="adj" fmla="val 13000"/>
            </a:avLst>
          </a:prstGeom>
          <a:solidFill>
            <a:srgbClr val="2931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605272"/>
            <a:ext cx="10241280" cy="237744"/>
          </a:xfrm>
          <a:prstGeom prst="rect">
            <a:avLst/>
          </a:prstGeom>
          <a:noFill/>
          <a:effectLst/>
        </p:spPr>
        <p:txBody>
          <a:bodyPr wrap="square" lIns="0" rIns="0" tIns="0" bIns="0">
            <a:spAutoFit/>
          </a:bodyPr>
          <a:lstStyle/>
          <a:p>
            <a:pPr>
              <a:spcAft>
                <a:spcPts val="800"/>
              </a:spcAft>
              <a:defRPr sz="1400" b="0">
                <a:solidFill>
                  <a:srgbClr val="FFFFFF"/>
                </a:solidFill>
                <a:latin typeface="Segoe UI"/>
              </a:defRPr>
            </a:pPr>
            <a:r>
              <a:t>Cross-cutting controls: audit history, input validation and validated file handling.</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5C6936"/>
                </a:solidFill>
                <a:latin typeface="Segoe UI"/>
              </a:defRPr>
            </a:pPr>
            <a:r>
              <a:t>HRGenius  /  EVIDENCE, NOT DECORATION</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2D3424"/>
                </a:solidFill>
                <a:latin typeface="Segoe UI"/>
              </a:defRPr>
            </a:pPr>
            <a:r>
              <a:t>The experience was checked from several angles.</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Recorded frontend checks in this workspace. No production certification is implied.</a:t>
            </a:r>
          </a:p>
        </p:txBody>
      </p:sp>
      <p:sp>
        <p:nvSpPr>
          <p:cNvPr id="5" name="Rectangle 4"/>
          <p:cNvSpPr/>
          <p:nvPr/>
        </p:nvSpPr>
        <p:spPr>
          <a:xfrm>
            <a:off x="502920" y="6364224"/>
            <a:ext cx="11155680" cy="10972"/>
          </a:xfrm>
          <a:prstGeom prst="rect">
            <a:avLst/>
          </a:prstGeom>
          <a:solidFill>
            <a:srgbClr val="E3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626752"/>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626752"/>
                </a:solidFill>
                <a:latin typeface="Segoe UI"/>
              </a:defRPr>
            </a:pPr>
            <a:r>
              <a:t>09</a:t>
            </a:r>
          </a:p>
        </p:txBody>
      </p:sp>
      <p:sp>
        <p:nvSpPr>
          <p:cNvPr id="11" name="Oval 10"/>
          <p:cNvSpPr/>
          <p:nvPr/>
        </p:nvSpPr>
        <p:spPr>
          <a:xfrm>
            <a:off x="1435607" y="2295144"/>
            <a:ext cx="1627632" cy="1627632"/>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938528" y="2500884"/>
            <a:ext cx="434340"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372868" y="2500884"/>
            <a:ext cx="0" cy="29718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938528" y="2798064"/>
            <a:ext cx="434340"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38528" y="2500884"/>
            <a:ext cx="0" cy="29718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53412" y="2798064"/>
            <a:ext cx="0" cy="9144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39112" y="2889504"/>
            <a:ext cx="228600"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728216" y="3008376"/>
            <a:ext cx="1188720" cy="621792"/>
          </a:xfrm>
          <a:prstGeom prst="rect">
            <a:avLst/>
          </a:prstGeom>
          <a:noFill/>
          <a:effectLst/>
        </p:spPr>
        <p:txBody>
          <a:bodyPr wrap="square" lIns="0" rIns="0" tIns="0" bIns="0">
            <a:spAutoFit/>
          </a:bodyPr>
          <a:lstStyle/>
          <a:p>
            <a:pPr>
              <a:spcAft>
                <a:spcPts val="800"/>
              </a:spcAft>
              <a:defRPr sz="3300" b="1">
                <a:solidFill>
                  <a:srgbClr val="5C6936"/>
                </a:solidFill>
                <a:latin typeface="Segoe UI"/>
              </a:defRPr>
            </a:pPr>
            <a:r>
              <a:t>36</a:t>
            </a:r>
          </a:p>
        </p:txBody>
      </p:sp>
      <p:sp>
        <p:nvSpPr>
          <p:cNvPr id="19" name="TextBox 18"/>
          <p:cNvSpPr txBox="1"/>
          <p:nvPr/>
        </p:nvSpPr>
        <p:spPr>
          <a:xfrm>
            <a:off x="795528" y="4142232"/>
            <a:ext cx="3154680" cy="365760"/>
          </a:xfrm>
          <a:prstGeom prst="rect">
            <a:avLst/>
          </a:prstGeom>
          <a:noFill/>
          <a:effectLst/>
        </p:spPr>
        <p:txBody>
          <a:bodyPr wrap="square" lIns="0" rIns="0" tIns="0" bIns="0">
            <a:spAutoFit/>
          </a:bodyPr>
          <a:lstStyle/>
          <a:p>
            <a:pPr>
              <a:spcAft>
                <a:spcPts val="800"/>
              </a:spcAft>
              <a:defRPr sz="2100" b="1">
                <a:solidFill>
                  <a:srgbClr val="2D3424"/>
                </a:solidFill>
                <a:latin typeface="Segoe UI"/>
              </a:defRPr>
            </a:pPr>
            <a:r>
              <a:t>Page / theme scans</a:t>
            </a:r>
          </a:p>
        </p:txBody>
      </p:sp>
      <p:sp>
        <p:nvSpPr>
          <p:cNvPr id="20" name="Oval 19"/>
          <p:cNvSpPr/>
          <p:nvPr/>
        </p:nvSpPr>
        <p:spPr>
          <a:xfrm>
            <a:off x="5230368" y="2295144"/>
            <a:ext cx="1627632" cy="1627632"/>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5779007" y="2702052"/>
            <a:ext cx="128017" cy="132588"/>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907024" y="2532888"/>
            <a:ext cx="237744" cy="301752"/>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522975" y="3008376"/>
            <a:ext cx="1188720" cy="621792"/>
          </a:xfrm>
          <a:prstGeom prst="rect">
            <a:avLst/>
          </a:prstGeom>
          <a:noFill/>
          <a:effectLst/>
        </p:spPr>
        <p:txBody>
          <a:bodyPr wrap="square" lIns="0" rIns="0" tIns="0" bIns="0">
            <a:spAutoFit/>
          </a:bodyPr>
          <a:lstStyle/>
          <a:p>
            <a:pPr>
              <a:spcAft>
                <a:spcPts val="800"/>
              </a:spcAft>
              <a:defRPr sz="3300" b="1">
                <a:solidFill>
                  <a:srgbClr val="5C6936"/>
                </a:solidFill>
                <a:latin typeface="Segoe UI"/>
              </a:defRPr>
            </a:pPr>
            <a:r>
              <a:t>19</a:t>
            </a:r>
          </a:p>
        </p:txBody>
      </p:sp>
      <p:sp>
        <p:nvSpPr>
          <p:cNvPr id="24" name="TextBox 23"/>
          <p:cNvSpPr txBox="1"/>
          <p:nvPr/>
        </p:nvSpPr>
        <p:spPr>
          <a:xfrm>
            <a:off x="4590288" y="4142232"/>
            <a:ext cx="3154680" cy="365760"/>
          </a:xfrm>
          <a:prstGeom prst="rect">
            <a:avLst/>
          </a:prstGeom>
          <a:noFill/>
          <a:effectLst/>
        </p:spPr>
        <p:txBody>
          <a:bodyPr wrap="square" lIns="0" rIns="0" tIns="0" bIns="0">
            <a:spAutoFit/>
          </a:bodyPr>
          <a:lstStyle/>
          <a:p>
            <a:pPr>
              <a:spcAft>
                <a:spcPts val="800"/>
              </a:spcAft>
              <a:defRPr sz="2100" b="1">
                <a:solidFill>
                  <a:srgbClr val="2D3424"/>
                </a:solidFill>
                <a:latin typeface="Segoe UI"/>
              </a:defRPr>
            </a:pPr>
            <a:r>
              <a:t>Interaction checks</a:t>
            </a:r>
          </a:p>
        </p:txBody>
      </p:sp>
      <p:sp>
        <p:nvSpPr>
          <p:cNvPr id="25" name="Oval 24"/>
          <p:cNvSpPr/>
          <p:nvPr/>
        </p:nvSpPr>
        <p:spPr>
          <a:xfrm>
            <a:off x="9006840" y="2295144"/>
            <a:ext cx="1627632" cy="1627632"/>
          </a:xfrm>
          <a:prstGeom prst="ellipse">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28048" y="2551176"/>
            <a:ext cx="402336"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9528048" y="2551176"/>
            <a:ext cx="0" cy="338328"/>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930384" y="2551176"/>
            <a:ext cx="0" cy="338328"/>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528048" y="2889504"/>
            <a:ext cx="402336"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28632" y="2478024"/>
            <a:ext cx="0" cy="13716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829800" y="2478024"/>
            <a:ext cx="0" cy="13716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9601200" y="2670048"/>
            <a:ext cx="45720"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01200" y="2784348"/>
            <a:ext cx="45720"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15500" y="2670048"/>
            <a:ext cx="45720"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15500" y="2784348"/>
            <a:ext cx="45720"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29800" y="2670048"/>
            <a:ext cx="45720"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29800" y="2784348"/>
            <a:ext cx="45720" cy="45720"/>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99448" y="3008376"/>
            <a:ext cx="1188720" cy="621792"/>
          </a:xfrm>
          <a:prstGeom prst="rect">
            <a:avLst/>
          </a:prstGeom>
          <a:noFill/>
          <a:effectLst/>
        </p:spPr>
        <p:txBody>
          <a:bodyPr wrap="square" lIns="0" rIns="0" tIns="0" bIns="0">
            <a:spAutoFit/>
          </a:bodyPr>
          <a:lstStyle/>
          <a:p>
            <a:pPr>
              <a:spcAft>
                <a:spcPts val="800"/>
              </a:spcAft>
              <a:defRPr sz="3300" b="1">
                <a:solidFill>
                  <a:srgbClr val="5C6936"/>
                </a:solidFill>
                <a:latin typeface="Segoe UI"/>
              </a:defRPr>
            </a:pPr>
            <a:r>
              <a:t>18</a:t>
            </a:r>
          </a:p>
        </p:txBody>
      </p:sp>
      <p:sp>
        <p:nvSpPr>
          <p:cNvPr id="39" name="TextBox 38"/>
          <p:cNvSpPr txBox="1"/>
          <p:nvPr/>
        </p:nvSpPr>
        <p:spPr>
          <a:xfrm>
            <a:off x="8366760" y="4142232"/>
            <a:ext cx="3154680" cy="365760"/>
          </a:xfrm>
          <a:prstGeom prst="rect">
            <a:avLst/>
          </a:prstGeom>
          <a:noFill/>
          <a:effectLst/>
        </p:spPr>
        <p:txBody>
          <a:bodyPr wrap="square" lIns="0" rIns="0" tIns="0" bIns="0">
            <a:spAutoFit/>
          </a:bodyPr>
          <a:lstStyle/>
          <a:p>
            <a:pPr>
              <a:spcAft>
                <a:spcPts val="800"/>
              </a:spcAft>
              <a:defRPr sz="2100" b="1">
                <a:solidFill>
                  <a:srgbClr val="2D3424"/>
                </a:solidFill>
                <a:latin typeface="Segoe UI"/>
              </a:defRPr>
            </a:pPr>
            <a:r>
              <a:t>Mobile routes</a:t>
            </a:r>
          </a:p>
        </p:txBody>
      </p:sp>
      <p:sp>
        <p:nvSpPr>
          <p:cNvPr id="40" name="Rounded Rectangle 39"/>
          <p:cNvSpPr/>
          <p:nvPr/>
        </p:nvSpPr>
        <p:spPr>
          <a:xfrm>
            <a:off x="795528" y="4882896"/>
            <a:ext cx="6766560" cy="100584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1025956" y="5363687"/>
            <a:ext cx="107534" cy="111374"/>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133490" y="5221589"/>
            <a:ext cx="199705" cy="253472"/>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664208" y="5038344"/>
            <a:ext cx="5605272" cy="676656"/>
          </a:xfrm>
          <a:prstGeom prst="rect">
            <a:avLst/>
          </a:prstGeom>
          <a:noFill/>
          <a:effectLst/>
        </p:spPr>
        <p:txBody>
          <a:bodyPr wrap="square" lIns="0" rIns="0" tIns="0" bIns="0">
            <a:spAutoFit/>
          </a:bodyPr>
          <a:lstStyle/>
          <a:p>
            <a:pPr>
              <a:spcAft>
                <a:spcPts val="800"/>
              </a:spcAft>
              <a:defRPr sz="1600" b="1">
                <a:solidFill>
                  <a:srgbClr val="5C6936"/>
                </a:solidFill>
                <a:latin typeface="Segoe UI"/>
              </a:defRPr>
            </a:pPr>
            <a:r>
              <a:t>Frontend production build passed.</a:t>
            </a:r>
          </a:p>
          <a:p>
            <a:pPr>
              <a:spcAft>
                <a:spcPts val="800"/>
              </a:spcAft>
              <a:defRPr sz="1600" b="1">
                <a:solidFill>
                  <a:srgbClr val="5C6936"/>
                </a:solidFill>
                <a:latin typeface="Segoe UI"/>
              </a:defRPr>
            </a:pPr>
            <a:r>
              <a:t>Zero reported automated accessibility violations.</a:t>
            </a:r>
          </a:p>
        </p:txBody>
      </p:sp>
      <p:sp>
        <p:nvSpPr>
          <p:cNvPr id="44" name="TextBox 43"/>
          <p:cNvSpPr txBox="1"/>
          <p:nvPr/>
        </p:nvSpPr>
        <p:spPr>
          <a:xfrm>
            <a:off x="8211312" y="4937760"/>
            <a:ext cx="3291840" cy="841248"/>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Next: Oracle acceptance, business-flow regression, load and recovery.</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93121"/>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CCD79E"/>
                </a:solidFill>
                <a:latin typeface="Segoe UI"/>
              </a:defRPr>
            </a:pPr>
            <a:r>
              <a:t>HRGenius  /  CHOOSE YOUR INTERACTION</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FFFFFF"/>
                </a:solidFill>
                <a:latin typeface="Segoe UI"/>
              </a:defRPr>
            </a:pPr>
            <a:r>
              <a:t>What would you like to try first?</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CCD79E"/>
                </a:solidFill>
                <a:latin typeface="Segoe UI"/>
              </a:defRPr>
            </a:pPr>
            <a:r>
              <a:t>Three quick demonstrations, each with an offline fallback.</a:t>
            </a:r>
          </a:p>
        </p:txBody>
      </p:sp>
      <p:sp>
        <p:nvSpPr>
          <p:cNvPr id="5" name="Rectangle 4"/>
          <p:cNvSpPr/>
          <p:nvPr/>
        </p:nvSpPr>
        <p:spPr>
          <a:xfrm>
            <a:off x="502920" y="6364224"/>
            <a:ext cx="11155680" cy="10972"/>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CCD79E"/>
                </a:solidFill>
                <a:latin typeface="Segoe UI"/>
              </a:defRPr>
            </a:pPr>
            <a:r>
              <a:t>A LITTLE MORE HUMAN.   •   PROJECT SHOWCASE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CCD79E"/>
                </a:solidFill>
                <a:latin typeface="Segoe UI"/>
              </a:defRPr>
            </a:pPr>
            <a:r>
              <a:t>10</a:t>
            </a:r>
          </a:p>
        </p:txBody>
      </p:sp>
      <p:sp>
        <p:nvSpPr>
          <p:cNvPr id="11" name="Rectangle 10"/>
          <p:cNvSpPr/>
          <p:nvPr/>
        </p:nvSpPr>
        <p:spPr>
          <a:xfrm>
            <a:off x="1690542" y="2881823"/>
            <a:ext cx="141549" cy="283098"/>
          </a:xfrm>
          <a:prstGeom prst="rect">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26457" y="2677363"/>
            <a:ext cx="141549" cy="487558"/>
          </a:xfrm>
          <a:prstGeom prst="rect">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62373" y="2488631"/>
            <a:ext cx="141549" cy="676290"/>
          </a:xfrm>
          <a:prstGeom prst="rect">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611880"/>
            <a:ext cx="3108960" cy="502920"/>
          </a:xfrm>
          <a:prstGeom prst="rect">
            <a:avLst/>
          </a:prstGeom>
          <a:noFill/>
          <a:effectLst/>
        </p:spPr>
        <p:txBody>
          <a:bodyPr wrap="square" lIns="0" rIns="0" tIns="0" bIns="0">
            <a:spAutoFit/>
          </a:bodyPr>
          <a:lstStyle/>
          <a:p>
            <a:pPr>
              <a:spcAft>
                <a:spcPts val="800"/>
              </a:spcAft>
              <a:defRPr sz="2800" b="1">
                <a:solidFill>
                  <a:srgbClr val="FFFFFF"/>
                </a:solidFill>
                <a:latin typeface="Segoe UI"/>
              </a:defRPr>
            </a:pPr>
            <a:r>
              <a:t>Explore</a:t>
            </a:r>
          </a:p>
        </p:txBody>
      </p:sp>
      <p:sp>
        <p:nvSpPr>
          <p:cNvPr id="15" name="TextBox 14"/>
          <p:cNvSpPr txBox="1"/>
          <p:nvPr/>
        </p:nvSpPr>
        <p:spPr>
          <a:xfrm>
            <a:off x="731520" y="4334256"/>
            <a:ext cx="3108960" cy="731520"/>
          </a:xfrm>
          <a:prstGeom prst="rect">
            <a:avLst/>
          </a:prstGeom>
          <a:noFill/>
          <a:effectLst/>
        </p:spPr>
        <p:txBody>
          <a:bodyPr wrap="square" lIns="0" rIns="0" tIns="0" bIns="0">
            <a:spAutoFit/>
          </a:bodyPr>
          <a:lstStyle/>
          <a:p>
            <a:pPr>
              <a:spcAft>
                <a:spcPts val="800"/>
              </a:spcAft>
              <a:defRPr sz="1800" b="0">
                <a:solidFill>
                  <a:srgbClr val="CCD79E"/>
                </a:solidFill>
                <a:latin typeface="Segoe UI"/>
              </a:defRPr>
            </a:pPr>
            <a:r>
              <a:t>Change the period.</a:t>
            </a:r>
          </a:p>
          <a:p>
            <a:pPr>
              <a:spcAft>
                <a:spcPts val="800"/>
              </a:spcAft>
              <a:defRPr sz="1800" b="0">
                <a:solidFill>
                  <a:srgbClr val="CCD79E"/>
                </a:solidFill>
                <a:latin typeface="Segoe UI"/>
              </a:defRPr>
            </a:pPr>
            <a:r>
              <a:t>Inspect an exact value.</a:t>
            </a:r>
          </a:p>
        </p:txBody>
      </p:sp>
      <p:sp>
        <p:nvSpPr>
          <p:cNvPr id="16" name="Rounded Rectangle 15">
            <a:hlinkClick action="ppaction://hlinksldjump" r:id="rId5"/>
          </p:cNvPr>
          <p:cNvSpPr/>
          <p:nvPr/>
        </p:nvSpPr>
        <p:spPr>
          <a:xfrm>
            <a:off x="731520" y="5321808"/>
            <a:ext cx="1499616" cy="502920"/>
          </a:xfrm>
          <a:prstGeom prst="roundRect">
            <a:avLst>
              <a:gd name="adj" fmla="val 50000"/>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Slide tour →</a:t>
            </a:r>
          </a:p>
        </p:txBody>
      </p:sp>
      <p:sp>
        <p:nvSpPr>
          <p:cNvPr id="17" name="Rounded Rectangle 16">
            <a:hlinkClick r:id="rId6"/>
          </p:cNvPr>
          <p:cNvSpPr/>
          <p:nvPr/>
        </p:nvSpPr>
        <p:spPr>
          <a:xfrm>
            <a:off x="2377440" y="5321808"/>
            <a:ext cx="1508760" cy="402336"/>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Open app ↗</a:t>
            </a:r>
          </a:p>
        </p:txBody>
      </p:sp>
      <p:sp>
        <p:nvSpPr>
          <p:cNvPr id="18" name="5-Point Star 17"/>
          <p:cNvSpPr/>
          <p:nvPr/>
        </p:nvSpPr>
        <p:spPr>
          <a:xfrm>
            <a:off x="5422392" y="2441448"/>
            <a:ext cx="786384" cy="786384"/>
          </a:xfrm>
          <a:prstGeom prst="star5">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3611880"/>
            <a:ext cx="3108960" cy="502920"/>
          </a:xfrm>
          <a:prstGeom prst="rect">
            <a:avLst/>
          </a:prstGeom>
          <a:noFill/>
          <a:effectLst/>
        </p:spPr>
        <p:txBody>
          <a:bodyPr wrap="square" lIns="0" rIns="0" tIns="0" bIns="0">
            <a:spAutoFit/>
          </a:bodyPr>
          <a:lstStyle/>
          <a:p>
            <a:pPr>
              <a:spcAft>
                <a:spcPts val="800"/>
              </a:spcAft>
              <a:defRPr sz="2800" b="1">
                <a:solidFill>
                  <a:srgbClr val="FFFFFF"/>
                </a:solidFill>
                <a:latin typeface="Segoe UI"/>
              </a:defRPr>
            </a:pPr>
            <a:r>
              <a:t>Appreciate</a:t>
            </a:r>
          </a:p>
        </p:txBody>
      </p:sp>
      <p:sp>
        <p:nvSpPr>
          <p:cNvPr id="20" name="TextBox 19"/>
          <p:cNvSpPr txBox="1"/>
          <p:nvPr/>
        </p:nvSpPr>
        <p:spPr>
          <a:xfrm>
            <a:off x="4526280" y="4334256"/>
            <a:ext cx="3108960" cy="731520"/>
          </a:xfrm>
          <a:prstGeom prst="rect">
            <a:avLst/>
          </a:prstGeom>
          <a:noFill/>
          <a:effectLst/>
        </p:spPr>
        <p:txBody>
          <a:bodyPr wrap="square" lIns="0" rIns="0" tIns="0" bIns="0">
            <a:spAutoFit/>
          </a:bodyPr>
          <a:lstStyle/>
          <a:p>
            <a:pPr>
              <a:spcAft>
                <a:spcPts val="800"/>
              </a:spcAft>
              <a:defRPr sz="1800" b="0">
                <a:solidFill>
                  <a:srgbClr val="CCD79E"/>
                </a:solidFill>
                <a:latin typeface="Segoe UI"/>
              </a:defRPr>
            </a:pPr>
            <a:r>
              <a:t>Open recognition.</a:t>
            </a:r>
          </a:p>
          <a:p>
            <a:pPr>
              <a:spcAft>
                <a:spcPts val="800"/>
              </a:spcAft>
              <a:defRPr sz="1800" b="0">
                <a:solidFill>
                  <a:srgbClr val="CCD79E"/>
                </a:solidFill>
                <a:latin typeface="Segoe UI"/>
              </a:defRPr>
            </a:pPr>
            <a:r>
              <a:t>Show the shoutout form.</a:t>
            </a:r>
          </a:p>
        </p:txBody>
      </p:sp>
      <p:sp>
        <p:nvSpPr>
          <p:cNvPr id="21" name="Rounded Rectangle 20">
            <a:hlinkClick action="ppaction://hlinksldjump" r:id="rId7"/>
          </p:cNvPr>
          <p:cNvSpPr/>
          <p:nvPr/>
        </p:nvSpPr>
        <p:spPr>
          <a:xfrm>
            <a:off x="4526280" y="5321808"/>
            <a:ext cx="1499616" cy="502920"/>
          </a:xfrm>
          <a:prstGeom prst="roundRect">
            <a:avLst>
              <a:gd name="adj" fmla="val 50000"/>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Slide tour →</a:t>
            </a:r>
          </a:p>
        </p:txBody>
      </p:sp>
      <p:sp>
        <p:nvSpPr>
          <p:cNvPr id="22" name="Rounded Rectangle 21">
            <a:hlinkClick r:id="rId8"/>
          </p:cNvPr>
          <p:cNvSpPr/>
          <p:nvPr/>
        </p:nvSpPr>
        <p:spPr>
          <a:xfrm>
            <a:off x="6172200" y="5321808"/>
            <a:ext cx="1508760" cy="402336"/>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Open app ↗</a:t>
            </a:r>
          </a:p>
        </p:txBody>
      </p:sp>
      <p:cxnSp>
        <p:nvCxnSpPr>
          <p:cNvPr id="23" name="Connector 22"/>
          <p:cNvCxnSpPr/>
          <p:nvPr/>
        </p:nvCxnSpPr>
        <p:spPr>
          <a:xfrm>
            <a:off x="9198864" y="2480767"/>
            <a:ext cx="747064" cy="0"/>
          </a:xfrm>
          <a:prstGeom prst="line">
            <a:avLst/>
          </a:prstGeom>
          <a:ln w="25400">
            <a:solidFill>
              <a:srgbClr val="CCD79E"/>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945928" y="2480767"/>
            <a:ext cx="0" cy="511149"/>
          </a:xfrm>
          <a:prstGeom prst="line">
            <a:avLst/>
          </a:prstGeom>
          <a:ln w="25400">
            <a:solidFill>
              <a:srgbClr val="CCD79E"/>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9198864" y="2991916"/>
            <a:ext cx="747064" cy="0"/>
          </a:xfrm>
          <a:prstGeom prst="line">
            <a:avLst/>
          </a:prstGeom>
          <a:ln w="25400">
            <a:solidFill>
              <a:srgbClr val="CCD79E"/>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9198864" y="2480767"/>
            <a:ext cx="0" cy="511149"/>
          </a:xfrm>
          <a:prstGeom prst="line">
            <a:avLst/>
          </a:prstGeom>
          <a:ln w="25400">
            <a:solidFill>
              <a:srgbClr val="CCD79E"/>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568464" y="2991916"/>
            <a:ext cx="0" cy="157277"/>
          </a:xfrm>
          <a:prstGeom prst="line">
            <a:avLst/>
          </a:prstGeom>
          <a:ln w="25400">
            <a:solidFill>
              <a:srgbClr val="CCD79E"/>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371868" y="3149193"/>
            <a:ext cx="393192" cy="0"/>
          </a:xfrm>
          <a:prstGeom prst="line">
            <a:avLst/>
          </a:prstGeom>
          <a:ln w="25400">
            <a:solidFill>
              <a:srgbClr val="CCD79E"/>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302752" y="3611880"/>
            <a:ext cx="3108960" cy="502920"/>
          </a:xfrm>
          <a:prstGeom prst="rect">
            <a:avLst/>
          </a:prstGeom>
          <a:noFill/>
          <a:effectLst/>
        </p:spPr>
        <p:txBody>
          <a:bodyPr wrap="square" lIns="0" rIns="0" tIns="0" bIns="0">
            <a:spAutoFit/>
          </a:bodyPr>
          <a:lstStyle/>
          <a:p>
            <a:pPr>
              <a:spcAft>
                <a:spcPts val="800"/>
              </a:spcAft>
              <a:defRPr sz="2800" b="1">
                <a:solidFill>
                  <a:srgbClr val="FFFFFF"/>
                </a:solidFill>
                <a:latin typeface="Segoe UI"/>
              </a:defRPr>
            </a:pPr>
            <a:r>
              <a:t>Personalize</a:t>
            </a:r>
          </a:p>
        </p:txBody>
      </p:sp>
      <p:sp>
        <p:nvSpPr>
          <p:cNvPr id="30" name="TextBox 29"/>
          <p:cNvSpPr txBox="1"/>
          <p:nvPr/>
        </p:nvSpPr>
        <p:spPr>
          <a:xfrm>
            <a:off x="8302752" y="4334256"/>
            <a:ext cx="3108960" cy="731520"/>
          </a:xfrm>
          <a:prstGeom prst="rect">
            <a:avLst/>
          </a:prstGeom>
          <a:noFill/>
          <a:effectLst/>
        </p:spPr>
        <p:txBody>
          <a:bodyPr wrap="square" lIns="0" rIns="0" tIns="0" bIns="0">
            <a:spAutoFit/>
          </a:bodyPr>
          <a:lstStyle/>
          <a:p>
            <a:pPr>
              <a:spcAft>
                <a:spcPts val="800"/>
              </a:spcAft>
              <a:defRPr sz="1800" b="0">
                <a:solidFill>
                  <a:srgbClr val="CCD79E"/>
                </a:solidFill>
                <a:latin typeface="Segoe UI"/>
              </a:defRPr>
            </a:pPr>
            <a:r>
              <a:t>Compare light and dark.</a:t>
            </a:r>
          </a:p>
          <a:p>
            <a:pPr>
              <a:spcAft>
                <a:spcPts val="800"/>
              </a:spcAft>
              <a:defRPr sz="1800" b="0">
                <a:solidFill>
                  <a:srgbClr val="CCD79E"/>
                </a:solidFill>
                <a:latin typeface="Segoe UI"/>
              </a:defRPr>
            </a:pPr>
            <a:r>
              <a:t>Notice readable controls.</a:t>
            </a:r>
          </a:p>
        </p:txBody>
      </p:sp>
      <p:sp>
        <p:nvSpPr>
          <p:cNvPr id="31" name="Rounded Rectangle 30">
            <a:hlinkClick action="ppaction://hlinksldjump" r:id="rId4"/>
          </p:cNvPr>
          <p:cNvSpPr/>
          <p:nvPr/>
        </p:nvSpPr>
        <p:spPr>
          <a:xfrm>
            <a:off x="8302752" y="5321808"/>
            <a:ext cx="1499616" cy="502920"/>
          </a:xfrm>
          <a:prstGeom prst="roundRect">
            <a:avLst>
              <a:gd name="adj" fmla="val 50000"/>
            </a:avLst>
          </a:prstGeom>
          <a:solidFill>
            <a:srgbClr val="CCD79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Slide tour →</a:t>
            </a:r>
          </a:p>
        </p:txBody>
      </p:sp>
      <p:sp>
        <p:nvSpPr>
          <p:cNvPr id="32" name="Rounded Rectangle 31">
            <a:hlinkClick r:id="rId9"/>
          </p:cNvPr>
          <p:cNvSpPr/>
          <p:nvPr/>
        </p:nvSpPr>
        <p:spPr>
          <a:xfrm>
            <a:off x="9948672" y="5321808"/>
            <a:ext cx="1508760" cy="402336"/>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93121"/>
                </a:solidFill>
                <a:latin typeface="Segoe UI"/>
              </a:defRPr>
            </a:pPr>
            <a:r>
              <a:t>Open app ↗</a:t>
            </a:r>
          </a:p>
        </p:txBody>
      </p:sp>
      <p:sp>
        <p:nvSpPr>
          <p:cNvPr id="33" name="TextBox 32"/>
          <p:cNvSpPr txBox="1"/>
          <p:nvPr/>
        </p:nvSpPr>
        <p:spPr>
          <a:xfrm>
            <a:off x="749808" y="6016752"/>
            <a:ext cx="10881360" cy="246888"/>
          </a:xfrm>
          <a:prstGeom prst="rect">
            <a:avLst/>
          </a:prstGeom>
          <a:noFill/>
          <a:effectLst/>
        </p:spPr>
        <p:txBody>
          <a:bodyPr wrap="square" lIns="0" rIns="0" tIns="0" bIns="0">
            <a:spAutoFit/>
          </a:bodyPr>
          <a:lstStyle/>
          <a:p>
            <a:pPr>
              <a:spcAft>
                <a:spcPts val="800"/>
              </a:spcAft>
              <a:defRPr sz="1200" b="0">
                <a:solidFill>
                  <a:srgbClr val="CCD79E"/>
                </a:solidFill>
                <a:latin typeface="Segoe UI"/>
              </a:defRPr>
            </a:pPr>
            <a:r>
              <a:t>Live links need localhost:4200 and an authorized session. Internal slide tours work offline.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5C6936"/>
                </a:solidFill>
                <a:latin typeface="Segoe UI"/>
              </a:defRPr>
            </a:pPr>
            <a:r>
              <a:t>HRGenius  /  REAL PRODUCT REFERENCE</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2D3424"/>
                </a:solidFill>
                <a:latin typeface="Segoe UI"/>
              </a:defRPr>
            </a:pPr>
            <a:r>
              <a:t>One interface. Two considered themes.</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Actual screenshots from the demonstration environment. Sample data only.</a:t>
            </a:r>
          </a:p>
        </p:txBody>
      </p:sp>
      <p:sp>
        <p:nvSpPr>
          <p:cNvPr id="5" name="Rectangle 4"/>
          <p:cNvSpPr/>
          <p:nvPr/>
        </p:nvSpPr>
        <p:spPr>
          <a:xfrm>
            <a:off x="502920" y="6364224"/>
            <a:ext cx="11155680" cy="10972"/>
          </a:xfrm>
          <a:prstGeom prst="rect">
            <a:avLst/>
          </a:prstGeom>
          <a:solidFill>
            <a:srgbClr val="E3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626752"/>
                </a:solidFill>
                <a:latin typeface="Segoe UI"/>
              </a:defRPr>
            </a:pPr>
            <a:r>
              <a:t>A LITTLE MORE HUMAN.   •   OPTIONAL DEEP DIVE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626752"/>
                </a:solidFill>
                <a:latin typeface="Segoe UI"/>
              </a:defRPr>
            </a:pPr>
            <a:r>
              <a:t>11</a:t>
            </a:r>
          </a:p>
        </p:txBody>
      </p:sp>
      <p:pic>
        <p:nvPicPr>
          <p:cNvPr id="11" name="Picture 10" descr="ui-dashboard-light.png"/>
          <p:cNvPicPr>
            <a:picLocks noChangeAspect="1"/>
          </p:cNvPicPr>
          <p:nvPr/>
        </p:nvPicPr>
        <p:blipFill>
          <a:blip r:embed="rId8"/>
          <a:stretch>
            <a:fillRect/>
          </a:stretch>
        </p:blipFill>
        <p:spPr>
          <a:xfrm>
            <a:off x="958813" y="2194560"/>
            <a:ext cx="4702628" cy="3429000"/>
          </a:xfrm>
          <a:prstGeom prst="rect">
            <a:avLst/>
          </a:prstGeom>
          <a:effectLst/>
        </p:spPr>
      </p:pic>
      <p:pic>
        <p:nvPicPr>
          <p:cNvPr id="12" name="Picture 11" descr="ui-dashboard-dark.png"/>
          <p:cNvPicPr>
            <a:picLocks noChangeAspect="1"/>
          </p:cNvPicPr>
          <p:nvPr/>
        </p:nvPicPr>
        <p:blipFill>
          <a:blip r:embed="rId5"/>
          <a:stretch>
            <a:fillRect/>
          </a:stretch>
        </p:blipFill>
        <p:spPr>
          <a:xfrm>
            <a:off x="6518365" y="2194560"/>
            <a:ext cx="4702628" cy="3429000"/>
          </a:xfrm>
          <a:prstGeom prst="rect">
            <a:avLst/>
          </a:prstGeom>
          <a:effectLst/>
        </p:spPr>
      </p:pic>
      <p:sp>
        <p:nvSpPr>
          <p:cNvPr id="13" name="Rounded Rectangle 12">
            <a:hlinkClick action="ppaction://hlinksldjump" r:id="rId6"/>
          </p:cNvPr>
          <p:cNvSpPr/>
          <p:nvPr/>
        </p:nvSpPr>
        <p:spPr>
          <a:xfrm>
            <a:off x="1472184" y="5733288"/>
            <a:ext cx="3456432" cy="502920"/>
          </a:xfrm>
          <a:prstGeom prst="roundRect">
            <a:avLst>
              <a:gd name="adj" fmla="val 50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 Return to interface anatomy</a:t>
            </a:r>
          </a:p>
        </p:txBody>
      </p:sp>
      <p:sp>
        <p:nvSpPr>
          <p:cNvPr id="14" name="Rounded Rectangle 13">
            <a:hlinkClick action="ppaction://hlinksldjump" r:id="rId3"/>
          </p:cNvPr>
          <p:cNvSpPr/>
          <p:nvPr/>
        </p:nvSpPr>
        <p:spPr>
          <a:xfrm>
            <a:off x="7315200" y="5733288"/>
            <a:ext cx="3456432" cy="502920"/>
          </a:xfrm>
          <a:prstGeom prst="roundRect">
            <a:avLst>
              <a:gd name="adj" fmla="val 50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Choose another interaction →</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5C6936"/>
                </a:solidFill>
                <a:latin typeface="Segoe UI"/>
              </a:defRPr>
            </a:pPr>
            <a:r>
              <a:t>HRGenius  /  FUNCTIONAL + API REFERENCE</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2D3424"/>
                </a:solidFill>
                <a:latin typeface="Segoe UI"/>
              </a:defRPr>
            </a:pPr>
            <a:r>
              <a:t>The complete scope, grouped for review.</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All API roots below are prefixed with /api/v1. Full method contracts live in the controllers / OpenAPI.</a:t>
            </a:r>
          </a:p>
        </p:txBody>
      </p:sp>
      <p:sp>
        <p:nvSpPr>
          <p:cNvPr id="5" name="Rectangle 4"/>
          <p:cNvSpPr/>
          <p:nvPr/>
        </p:nvSpPr>
        <p:spPr>
          <a:xfrm>
            <a:off x="502920" y="6364224"/>
            <a:ext cx="11155680" cy="10972"/>
          </a:xfrm>
          <a:prstGeom prst="rect">
            <a:avLst/>
          </a:prstGeom>
          <a:solidFill>
            <a:srgbClr val="E3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626752"/>
                </a:solidFill>
                <a:latin typeface="Segoe UI"/>
              </a:defRPr>
            </a:pPr>
            <a:r>
              <a:t>A LITTLE MORE HUMAN.   •   OPTIONAL DEEP DIVE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626752"/>
                </a:solidFill>
                <a:latin typeface="Segoe UI"/>
              </a:defRPr>
            </a:pPr>
            <a:r>
              <a:t>12</a:t>
            </a:r>
          </a:p>
        </p:txBody>
      </p:sp>
      <p:sp>
        <p:nvSpPr>
          <p:cNvPr id="11" name="Rounded Rectangle 10"/>
          <p:cNvSpPr/>
          <p:nvPr/>
        </p:nvSpPr>
        <p:spPr>
          <a:xfrm>
            <a:off x="594360" y="2148840"/>
            <a:ext cx="5431536" cy="1819656"/>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295144"/>
            <a:ext cx="5029200" cy="274320"/>
          </a:xfrm>
          <a:prstGeom prst="rect">
            <a:avLst/>
          </a:prstGeom>
          <a:noFill/>
          <a:effectLst/>
        </p:spPr>
        <p:txBody>
          <a:bodyPr wrap="square" lIns="0" rIns="0" tIns="0" bIns="0">
            <a:spAutoFit/>
          </a:bodyPr>
          <a:lstStyle/>
          <a:p>
            <a:pPr>
              <a:spcAft>
                <a:spcPts val="800"/>
              </a:spcAft>
              <a:defRPr sz="1100" b="1">
                <a:solidFill>
                  <a:srgbClr val="5C6936"/>
                </a:solidFill>
                <a:latin typeface="Segoe UI"/>
              </a:defRPr>
            </a:pPr>
            <a:r>
              <a:t>PEOPLE &amp; ORGANIZATION</a:t>
            </a:r>
          </a:p>
        </p:txBody>
      </p:sp>
      <p:sp>
        <p:nvSpPr>
          <p:cNvPr id="13" name="TextBox 12"/>
          <p:cNvSpPr txBox="1"/>
          <p:nvPr/>
        </p:nvSpPr>
        <p:spPr>
          <a:xfrm>
            <a:off x="795528" y="2660904"/>
            <a:ext cx="5029200" cy="548640"/>
          </a:xfrm>
          <a:prstGeom prst="rect">
            <a:avLst/>
          </a:prstGeom>
          <a:noFill/>
          <a:effectLst/>
        </p:spPr>
        <p:txBody>
          <a:bodyPr wrap="square" lIns="0" rIns="0" tIns="0" bIns="0">
            <a:spAutoFit/>
          </a:bodyPr>
          <a:lstStyle/>
          <a:p>
            <a:pPr>
              <a:spcAft>
                <a:spcPts val="800"/>
              </a:spcAft>
              <a:defRPr sz="1600" b="1">
                <a:solidFill>
                  <a:srgbClr val="2D3424"/>
                </a:solidFill>
                <a:latin typeface="Segoe UI"/>
              </a:defRPr>
            </a:pPr>
            <a:r>
              <a:t>/employees · /org · /org-chart</a:t>
            </a:r>
          </a:p>
          <a:p>
            <a:pPr>
              <a:spcAft>
                <a:spcPts val="800"/>
              </a:spcAft>
              <a:defRPr sz="1600" b="1">
                <a:solidFill>
                  <a:srgbClr val="2D3424"/>
                </a:solidFill>
                <a:latin typeface="Segoe UI"/>
              </a:defRPr>
            </a:pPr>
            <a:r>
              <a:t>/documents · /assets · /me</a:t>
            </a:r>
          </a:p>
        </p:txBody>
      </p:sp>
      <p:sp>
        <p:nvSpPr>
          <p:cNvPr id="14" name="TextBox 13"/>
          <p:cNvSpPr txBox="1"/>
          <p:nvPr/>
        </p:nvSpPr>
        <p:spPr>
          <a:xfrm>
            <a:off x="795528" y="3337560"/>
            <a:ext cx="5029200" cy="530352"/>
          </a:xfrm>
          <a:prstGeom prst="rect">
            <a:avLst/>
          </a:prstGeom>
          <a:noFill/>
          <a:effectLst/>
        </p:spPr>
        <p:txBody>
          <a:bodyPr wrap="square" lIns="0" rIns="0" tIns="0" bIns="0">
            <a:spAutoFit/>
          </a:bodyPr>
          <a:lstStyle/>
          <a:p>
            <a:pPr>
              <a:spcAft>
                <a:spcPts val="800"/>
              </a:spcAft>
              <a:defRPr sz="1400" b="0">
                <a:solidFill>
                  <a:srgbClr val="626752"/>
                </a:solidFill>
                <a:latin typeface="Segoe UI"/>
              </a:defRPr>
            </a:pPr>
            <a:r>
              <a:t>Profiles, statutory data, files, reporting lines,</a:t>
            </a:r>
          </a:p>
          <a:p>
            <a:pPr>
              <a:spcAft>
                <a:spcPts val="800"/>
              </a:spcAft>
              <a:defRPr sz="1400" b="0">
                <a:solidFill>
                  <a:srgbClr val="626752"/>
                </a:solidFill>
                <a:latin typeface="Segoe UI"/>
              </a:defRPr>
            </a:pPr>
            <a:r>
              <a:t>masters, asset assignments and personal summary.</a:t>
            </a:r>
          </a:p>
        </p:txBody>
      </p:sp>
      <p:sp>
        <p:nvSpPr>
          <p:cNvPr id="15" name="Rounded Rectangle 14"/>
          <p:cNvSpPr/>
          <p:nvPr/>
        </p:nvSpPr>
        <p:spPr>
          <a:xfrm>
            <a:off x="6236208" y="2148840"/>
            <a:ext cx="5431536" cy="1819656"/>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2295144"/>
            <a:ext cx="5029200" cy="274320"/>
          </a:xfrm>
          <a:prstGeom prst="rect">
            <a:avLst/>
          </a:prstGeom>
          <a:noFill/>
          <a:effectLst/>
        </p:spPr>
        <p:txBody>
          <a:bodyPr wrap="square" lIns="0" rIns="0" tIns="0" bIns="0">
            <a:spAutoFit/>
          </a:bodyPr>
          <a:lstStyle/>
          <a:p>
            <a:pPr>
              <a:spcAft>
                <a:spcPts val="800"/>
              </a:spcAft>
              <a:defRPr sz="1100" b="1">
                <a:solidFill>
                  <a:srgbClr val="5C6936"/>
                </a:solidFill>
                <a:latin typeface="Segoe UI"/>
              </a:defRPr>
            </a:pPr>
            <a:r>
              <a:t>TIME &amp; APPROVALS</a:t>
            </a:r>
          </a:p>
        </p:txBody>
      </p:sp>
      <p:sp>
        <p:nvSpPr>
          <p:cNvPr id="17" name="TextBox 16"/>
          <p:cNvSpPr txBox="1"/>
          <p:nvPr/>
        </p:nvSpPr>
        <p:spPr>
          <a:xfrm>
            <a:off x="6437376" y="2660904"/>
            <a:ext cx="5029200" cy="548640"/>
          </a:xfrm>
          <a:prstGeom prst="rect">
            <a:avLst/>
          </a:prstGeom>
          <a:noFill/>
          <a:effectLst/>
        </p:spPr>
        <p:txBody>
          <a:bodyPr wrap="square" lIns="0" rIns="0" tIns="0" bIns="0">
            <a:spAutoFit/>
          </a:bodyPr>
          <a:lstStyle/>
          <a:p>
            <a:pPr>
              <a:spcAft>
                <a:spcPts val="800"/>
              </a:spcAft>
              <a:defRPr sz="1600" b="1">
                <a:solidFill>
                  <a:srgbClr val="2D3424"/>
                </a:solidFill>
                <a:latin typeface="Segoe UI"/>
              </a:defRPr>
            </a:pPr>
            <a:r>
              <a:t>/attendance · /holidays</a:t>
            </a:r>
          </a:p>
          <a:p>
            <a:pPr>
              <a:spcAft>
                <a:spcPts val="800"/>
              </a:spcAft>
              <a:defRPr sz="1600" b="1">
                <a:solidFill>
                  <a:srgbClr val="2D3424"/>
                </a:solidFill>
                <a:latin typeface="Segoe UI"/>
              </a:defRPr>
            </a:pPr>
            <a:r>
              <a:t>/leave · /approvals</a:t>
            </a:r>
          </a:p>
        </p:txBody>
      </p:sp>
      <p:sp>
        <p:nvSpPr>
          <p:cNvPr id="18" name="TextBox 17"/>
          <p:cNvSpPr txBox="1"/>
          <p:nvPr/>
        </p:nvSpPr>
        <p:spPr>
          <a:xfrm>
            <a:off x="6437376" y="3337560"/>
            <a:ext cx="5029200" cy="530352"/>
          </a:xfrm>
          <a:prstGeom prst="rect">
            <a:avLst/>
          </a:prstGeom>
          <a:noFill/>
          <a:effectLst/>
        </p:spPr>
        <p:txBody>
          <a:bodyPr wrap="square" lIns="0" rIns="0" tIns="0" bIns="0">
            <a:spAutoFit/>
          </a:bodyPr>
          <a:lstStyle/>
          <a:p>
            <a:pPr>
              <a:spcAft>
                <a:spcPts val="800"/>
              </a:spcAft>
              <a:defRPr sz="1400" b="0">
                <a:solidFill>
                  <a:srgbClr val="626752"/>
                </a:solidFill>
                <a:latin typeface="Segoe UI"/>
              </a:defRPr>
            </a:pPr>
            <a:r>
              <a:t>Daily records, regularization, calendars, balances,</a:t>
            </a:r>
          </a:p>
          <a:p>
            <a:pPr>
              <a:spcAft>
                <a:spcPts val="800"/>
              </a:spcAft>
              <a:defRPr sz="1400" b="0">
                <a:solidFill>
                  <a:srgbClr val="626752"/>
                </a:solidFill>
                <a:latin typeface="Segoe UI"/>
              </a:defRPr>
            </a:pPr>
            <a:r>
              <a:t>requests, accrual and approval steps.</a:t>
            </a:r>
          </a:p>
        </p:txBody>
      </p:sp>
      <p:sp>
        <p:nvSpPr>
          <p:cNvPr id="19" name="Rounded Rectangle 18"/>
          <p:cNvSpPr/>
          <p:nvPr/>
        </p:nvSpPr>
        <p:spPr>
          <a:xfrm>
            <a:off x="594360" y="4142232"/>
            <a:ext cx="5431536" cy="1819656"/>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4288536"/>
            <a:ext cx="5029200" cy="274320"/>
          </a:xfrm>
          <a:prstGeom prst="rect">
            <a:avLst/>
          </a:prstGeom>
          <a:noFill/>
          <a:effectLst/>
        </p:spPr>
        <p:txBody>
          <a:bodyPr wrap="square" lIns="0" rIns="0" tIns="0" bIns="0">
            <a:spAutoFit/>
          </a:bodyPr>
          <a:lstStyle/>
          <a:p>
            <a:pPr>
              <a:spcAft>
                <a:spcPts val="800"/>
              </a:spcAft>
              <a:defRPr sz="1100" b="1">
                <a:solidFill>
                  <a:srgbClr val="5C6936"/>
                </a:solidFill>
                <a:latin typeface="Segoe UI"/>
              </a:defRPr>
            </a:pPr>
            <a:r>
              <a:t>TALENT &amp; PAY</a:t>
            </a:r>
          </a:p>
        </p:txBody>
      </p:sp>
      <p:sp>
        <p:nvSpPr>
          <p:cNvPr id="21" name="TextBox 20"/>
          <p:cNvSpPr txBox="1"/>
          <p:nvPr/>
        </p:nvSpPr>
        <p:spPr>
          <a:xfrm>
            <a:off x="795528" y="4654296"/>
            <a:ext cx="5029200" cy="548640"/>
          </a:xfrm>
          <a:prstGeom prst="rect">
            <a:avLst/>
          </a:prstGeom>
          <a:noFill/>
          <a:effectLst/>
        </p:spPr>
        <p:txBody>
          <a:bodyPr wrap="square" lIns="0" rIns="0" tIns="0" bIns="0">
            <a:spAutoFit/>
          </a:bodyPr>
          <a:lstStyle/>
          <a:p>
            <a:pPr>
              <a:spcAft>
                <a:spcPts val="800"/>
              </a:spcAft>
              <a:defRPr sz="1600" b="1">
                <a:solidFill>
                  <a:srgbClr val="2D3424"/>
                </a:solidFill>
                <a:latin typeface="Segoe UI"/>
              </a:defRPr>
            </a:pPr>
            <a:r>
              <a:t>/recruitment · /public/careers</a:t>
            </a:r>
          </a:p>
          <a:p>
            <a:pPr>
              <a:spcAft>
                <a:spcPts val="800"/>
              </a:spcAft>
              <a:defRPr sz="1600" b="1">
                <a:solidFill>
                  <a:srgbClr val="2D3424"/>
                </a:solidFill>
                <a:latin typeface="Segoe UI"/>
              </a:defRPr>
            </a:pPr>
            <a:r>
              <a:t>/onboarding · /payroll</a:t>
            </a:r>
          </a:p>
        </p:txBody>
      </p:sp>
      <p:sp>
        <p:nvSpPr>
          <p:cNvPr id="22" name="TextBox 21"/>
          <p:cNvSpPr txBox="1"/>
          <p:nvPr/>
        </p:nvSpPr>
        <p:spPr>
          <a:xfrm>
            <a:off x="795528" y="5330952"/>
            <a:ext cx="5029200" cy="530352"/>
          </a:xfrm>
          <a:prstGeom prst="rect">
            <a:avLst/>
          </a:prstGeom>
          <a:noFill/>
          <a:effectLst/>
        </p:spPr>
        <p:txBody>
          <a:bodyPr wrap="square" lIns="0" rIns="0" tIns="0" bIns="0">
            <a:spAutoFit/>
          </a:bodyPr>
          <a:lstStyle/>
          <a:p>
            <a:pPr>
              <a:spcAft>
                <a:spcPts val="800"/>
              </a:spcAft>
              <a:defRPr sz="1400" b="0">
                <a:solidFill>
                  <a:srgbClr val="626752"/>
                </a:solidFill>
                <a:latin typeface="Segoe UI"/>
              </a:defRPr>
            </a:pPr>
            <a:r>
              <a:t>Applications, interviews, offers, starter tasks,</a:t>
            </a:r>
          </a:p>
          <a:p>
            <a:pPr>
              <a:spcAft>
                <a:spcPts val="800"/>
              </a:spcAft>
              <a:defRPr sz="1400" b="0">
                <a:solidFill>
                  <a:srgbClr val="626752"/>
                </a:solidFill>
                <a:latin typeface="Segoe UI"/>
              </a:defRPr>
            </a:pPr>
            <a:r>
              <a:t>components, runs, adjustments and payslips.</a:t>
            </a:r>
          </a:p>
        </p:txBody>
      </p:sp>
      <p:sp>
        <p:nvSpPr>
          <p:cNvPr id="23" name="Rounded Rectangle 22"/>
          <p:cNvSpPr/>
          <p:nvPr/>
        </p:nvSpPr>
        <p:spPr>
          <a:xfrm>
            <a:off x="6236208" y="4142232"/>
            <a:ext cx="5431536" cy="1819656"/>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288536"/>
            <a:ext cx="5029200" cy="274320"/>
          </a:xfrm>
          <a:prstGeom prst="rect">
            <a:avLst/>
          </a:prstGeom>
          <a:noFill/>
          <a:effectLst/>
        </p:spPr>
        <p:txBody>
          <a:bodyPr wrap="square" lIns="0" rIns="0" tIns="0" bIns="0">
            <a:spAutoFit/>
          </a:bodyPr>
          <a:lstStyle/>
          <a:p>
            <a:pPr>
              <a:spcAft>
                <a:spcPts val="800"/>
              </a:spcAft>
              <a:defRPr sz="1100" b="1">
                <a:solidFill>
                  <a:srgbClr val="5C6936"/>
                </a:solidFill>
                <a:latin typeface="Segoe UI"/>
              </a:defRPr>
            </a:pPr>
            <a:r>
              <a:t>GROWTH, SUPPORT &amp; CONTROL</a:t>
            </a:r>
          </a:p>
        </p:txBody>
      </p:sp>
      <p:sp>
        <p:nvSpPr>
          <p:cNvPr id="25" name="TextBox 24"/>
          <p:cNvSpPr txBox="1"/>
          <p:nvPr/>
        </p:nvSpPr>
        <p:spPr>
          <a:xfrm>
            <a:off x="6437376" y="4654296"/>
            <a:ext cx="5029200" cy="548640"/>
          </a:xfrm>
          <a:prstGeom prst="rect">
            <a:avLst/>
          </a:prstGeom>
          <a:noFill/>
          <a:effectLst/>
        </p:spPr>
        <p:txBody>
          <a:bodyPr wrap="square" lIns="0" rIns="0" tIns="0" bIns="0">
            <a:spAutoFit/>
          </a:bodyPr>
          <a:lstStyle/>
          <a:p>
            <a:pPr>
              <a:spcAft>
                <a:spcPts val="800"/>
              </a:spcAft>
              <a:defRPr sz="1600" b="1">
                <a:solidFill>
                  <a:srgbClr val="2D3424"/>
                </a:solidFill>
                <a:latin typeface="Segoe UI"/>
              </a:defRPr>
            </a:pPr>
            <a:r>
              <a:t>/performance · /helpdesk · /policies</a:t>
            </a:r>
          </a:p>
          <a:p>
            <a:pPr>
              <a:spcAft>
                <a:spcPts val="800"/>
              </a:spcAft>
              <a:defRPr sz="1600" b="1">
                <a:solidFill>
                  <a:srgbClr val="2D3424"/>
                </a:solidFill>
                <a:latin typeface="Segoe UI"/>
              </a:defRPr>
            </a:pPr>
            <a:r>
              <a:t>/analytics · /audit-logs · /auth</a:t>
            </a:r>
          </a:p>
        </p:txBody>
      </p:sp>
      <p:sp>
        <p:nvSpPr>
          <p:cNvPr id="26" name="TextBox 25"/>
          <p:cNvSpPr txBox="1"/>
          <p:nvPr/>
        </p:nvSpPr>
        <p:spPr>
          <a:xfrm>
            <a:off x="6437376" y="5330952"/>
            <a:ext cx="5029200" cy="530352"/>
          </a:xfrm>
          <a:prstGeom prst="rect">
            <a:avLst/>
          </a:prstGeom>
          <a:noFill/>
          <a:effectLst/>
        </p:spPr>
        <p:txBody>
          <a:bodyPr wrap="square" lIns="0" rIns="0" tIns="0" bIns="0">
            <a:spAutoFit/>
          </a:bodyPr>
          <a:lstStyle/>
          <a:p>
            <a:pPr>
              <a:spcAft>
                <a:spcPts val="800"/>
              </a:spcAft>
              <a:defRPr sz="1400" b="0">
                <a:solidFill>
                  <a:srgbClr val="626752"/>
                </a:solidFill>
                <a:latin typeface="Segoe UI"/>
              </a:defRPr>
            </a:pPr>
            <a:r>
              <a:t>Reviews, goals, praise, tickets, acknowledgements,</a:t>
            </a:r>
          </a:p>
          <a:p>
            <a:pPr>
              <a:spcAft>
                <a:spcPts val="800"/>
              </a:spcAft>
              <a:defRPr sz="1400" b="0">
                <a:solidFill>
                  <a:srgbClr val="626752"/>
                </a:solidFill>
                <a:latin typeface="Segoe UI"/>
              </a:defRPr>
            </a:pPr>
            <a:r>
              <a:t>insight, audit history and authentication.</a:t>
            </a:r>
          </a:p>
        </p:txBody>
      </p:sp>
      <p:sp>
        <p:nvSpPr>
          <p:cNvPr id="27" name="Folded Corner 26"/>
          <p:cNvSpPr/>
          <p:nvPr/>
        </p:nvSpPr>
        <p:spPr>
          <a:xfrm>
            <a:off x="11097158" y="201168"/>
            <a:ext cx="246888" cy="329184"/>
          </a:xfrm>
          <a:prstGeom prst="foldedCorner">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11146536" y="316382"/>
            <a:ext cx="131673" cy="0"/>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146536" y="369051"/>
            <a:ext cx="131673" cy="0"/>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146536" y="421721"/>
            <a:ext cx="131673" cy="0"/>
          </a:xfrm>
          <a:prstGeom prst="line">
            <a:avLst/>
          </a:prstGeom>
          <a:ln w="25400">
            <a:solidFill>
              <a:srgbClr val="FFFFFF"/>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5C6936"/>
                </a:solidFill>
                <a:latin typeface="Segoe UI"/>
              </a:defRPr>
            </a:pPr>
            <a:r>
              <a:t>HRGenius  /  DATA MODEL</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2D3424"/>
                </a:solidFill>
                <a:latin typeface="Segoe UI"/>
              </a:defRPr>
            </a:pPr>
            <a:r>
              <a:t>An employee-centered model with history.</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Selected logical relationships; the migrations contain the full physical schema.</a:t>
            </a:r>
          </a:p>
        </p:txBody>
      </p:sp>
      <p:sp>
        <p:nvSpPr>
          <p:cNvPr id="5" name="Rectangle 4"/>
          <p:cNvSpPr/>
          <p:nvPr/>
        </p:nvSpPr>
        <p:spPr>
          <a:xfrm>
            <a:off x="502920" y="6364224"/>
            <a:ext cx="11155680" cy="10972"/>
          </a:xfrm>
          <a:prstGeom prst="rect">
            <a:avLst/>
          </a:prstGeom>
          <a:solidFill>
            <a:srgbClr val="E3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626752"/>
                </a:solidFill>
                <a:latin typeface="Segoe UI"/>
              </a:defRPr>
            </a:pPr>
            <a:r>
              <a:t>A LITTLE MORE HUMAN.   •   OPTIONAL DEEP DIVE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626752"/>
                </a:solidFill>
                <a:latin typeface="Segoe UI"/>
              </a:defRPr>
            </a:pPr>
            <a:r>
              <a:t>13</a:t>
            </a:r>
          </a:p>
        </p:txBody>
      </p:sp>
      <p:sp>
        <p:nvSpPr>
          <p:cNvPr id="11" name="Rounded Rectangle 10"/>
          <p:cNvSpPr/>
          <p:nvPr/>
        </p:nvSpPr>
        <p:spPr>
          <a:xfrm>
            <a:off x="4206240" y="3172968"/>
            <a:ext cx="3749039" cy="987552"/>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70831" y="3300984"/>
            <a:ext cx="3419856" cy="274320"/>
          </a:xfrm>
          <a:prstGeom prst="rect">
            <a:avLst/>
          </a:prstGeom>
          <a:noFill/>
          <a:effectLst/>
        </p:spPr>
        <p:txBody>
          <a:bodyPr wrap="square" lIns="0" rIns="0" tIns="0" bIns="0">
            <a:spAutoFit/>
          </a:bodyPr>
          <a:lstStyle/>
          <a:p>
            <a:pPr>
              <a:spcAft>
                <a:spcPts val="800"/>
              </a:spcAft>
              <a:defRPr sz="1200" b="1">
                <a:solidFill>
                  <a:srgbClr val="5C6936"/>
                </a:solidFill>
                <a:latin typeface="Segoe UI"/>
              </a:defRPr>
            </a:pPr>
            <a:r>
              <a:t>EMPLOYEES</a:t>
            </a:r>
          </a:p>
        </p:txBody>
      </p:sp>
      <p:sp>
        <p:nvSpPr>
          <p:cNvPr id="13" name="TextBox 12"/>
          <p:cNvSpPr txBox="1"/>
          <p:nvPr/>
        </p:nvSpPr>
        <p:spPr>
          <a:xfrm>
            <a:off x="4370831" y="3666744"/>
            <a:ext cx="3419856" cy="594360"/>
          </a:xfrm>
          <a:prstGeom prst="rect">
            <a:avLst/>
          </a:prstGeom>
          <a:noFill/>
          <a:effectLst/>
        </p:spPr>
        <p:txBody>
          <a:bodyPr wrap="square" lIns="0" rIns="0" tIns="0" bIns="0">
            <a:spAutoFit/>
          </a:bodyPr>
          <a:lstStyle/>
          <a:p>
            <a:pPr>
              <a:spcAft>
                <a:spcPts val="800"/>
              </a:spcAft>
              <a:defRPr sz="1300" b="0">
                <a:solidFill>
                  <a:srgbClr val="2D3424"/>
                </a:solidFill>
                <a:latin typeface="Segoe UI"/>
              </a:defRPr>
            </a:pPr>
            <a:r>
              <a:t>Identity · role in organization · manager</a:t>
            </a:r>
          </a:p>
        </p:txBody>
      </p:sp>
      <p:sp>
        <p:nvSpPr>
          <p:cNvPr id="14" name="Rounded Rectangle 13"/>
          <p:cNvSpPr/>
          <p:nvPr/>
        </p:nvSpPr>
        <p:spPr>
          <a:xfrm>
            <a:off x="594360" y="2267712"/>
            <a:ext cx="3200400" cy="105156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2395728"/>
            <a:ext cx="2871216" cy="274320"/>
          </a:xfrm>
          <a:prstGeom prst="rect">
            <a:avLst/>
          </a:prstGeom>
          <a:noFill/>
          <a:effectLst/>
        </p:spPr>
        <p:txBody>
          <a:bodyPr wrap="square" lIns="0" rIns="0" tIns="0" bIns="0">
            <a:spAutoFit/>
          </a:bodyPr>
          <a:lstStyle/>
          <a:p>
            <a:pPr>
              <a:spcAft>
                <a:spcPts val="800"/>
              </a:spcAft>
              <a:defRPr sz="1200" b="1">
                <a:solidFill>
                  <a:srgbClr val="5C6936"/>
                </a:solidFill>
                <a:latin typeface="Segoe UI"/>
              </a:defRPr>
            </a:pPr>
            <a:r>
              <a:t>IDENTITY &amp; ACCESS</a:t>
            </a:r>
          </a:p>
        </p:txBody>
      </p:sp>
      <p:sp>
        <p:nvSpPr>
          <p:cNvPr id="16" name="TextBox 15"/>
          <p:cNvSpPr txBox="1"/>
          <p:nvPr/>
        </p:nvSpPr>
        <p:spPr>
          <a:xfrm>
            <a:off x="758952" y="2761488"/>
            <a:ext cx="2871216" cy="594360"/>
          </a:xfrm>
          <a:prstGeom prst="rect">
            <a:avLst/>
          </a:prstGeom>
          <a:noFill/>
          <a:effectLst/>
        </p:spPr>
        <p:txBody>
          <a:bodyPr wrap="square" lIns="0" rIns="0" tIns="0" bIns="0">
            <a:spAutoFit/>
          </a:bodyPr>
          <a:lstStyle/>
          <a:p>
            <a:pPr>
              <a:spcAft>
                <a:spcPts val="800"/>
              </a:spcAft>
              <a:defRPr sz="1300" b="0">
                <a:solidFill>
                  <a:srgbClr val="2D3424"/>
                </a:solidFill>
                <a:latin typeface="Segoe UI"/>
              </a:defRPr>
            </a:pPr>
            <a:r>
              <a:t>Users ↔ roles ↔ permissions</a:t>
            </a:r>
          </a:p>
          <a:p>
            <a:pPr>
              <a:spcAft>
                <a:spcPts val="800"/>
              </a:spcAft>
              <a:defRPr sz="1300" b="0">
                <a:solidFill>
                  <a:srgbClr val="2D3424"/>
                </a:solidFill>
                <a:latin typeface="Segoe UI"/>
              </a:defRPr>
            </a:pPr>
            <a:r>
              <a:t>Refresh tokens · audit log</a:t>
            </a:r>
          </a:p>
        </p:txBody>
      </p:sp>
      <p:sp>
        <p:nvSpPr>
          <p:cNvPr id="17" name="Rounded Rectangle 16"/>
          <p:cNvSpPr/>
          <p:nvPr/>
        </p:nvSpPr>
        <p:spPr>
          <a:xfrm>
            <a:off x="8394192" y="2267712"/>
            <a:ext cx="3200400" cy="105156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58784" y="2395728"/>
            <a:ext cx="2871216" cy="274320"/>
          </a:xfrm>
          <a:prstGeom prst="rect">
            <a:avLst/>
          </a:prstGeom>
          <a:noFill/>
          <a:effectLst/>
        </p:spPr>
        <p:txBody>
          <a:bodyPr wrap="square" lIns="0" rIns="0" tIns="0" bIns="0">
            <a:spAutoFit/>
          </a:bodyPr>
          <a:lstStyle/>
          <a:p>
            <a:pPr>
              <a:spcAft>
                <a:spcPts val="800"/>
              </a:spcAft>
              <a:defRPr sz="1200" b="1">
                <a:solidFill>
                  <a:srgbClr val="5C6936"/>
                </a:solidFill>
                <a:latin typeface="Segoe UI"/>
              </a:defRPr>
            </a:pPr>
            <a:r>
              <a:t>ORGANIZATION</a:t>
            </a:r>
          </a:p>
        </p:txBody>
      </p:sp>
      <p:sp>
        <p:nvSpPr>
          <p:cNvPr id="19" name="TextBox 18"/>
          <p:cNvSpPr txBox="1"/>
          <p:nvPr/>
        </p:nvSpPr>
        <p:spPr>
          <a:xfrm>
            <a:off x="8558784" y="2761488"/>
            <a:ext cx="2871216" cy="594360"/>
          </a:xfrm>
          <a:prstGeom prst="rect">
            <a:avLst/>
          </a:prstGeom>
          <a:noFill/>
          <a:effectLst/>
        </p:spPr>
        <p:txBody>
          <a:bodyPr wrap="square" lIns="0" rIns="0" tIns="0" bIns="0">
            <a:spAutoFit/>
          </a:bodyPr>
          <a:lstStyle/>
          <a:p>
            <a:pPr>
              <a:spcAft>
                <a:spcPts val="800"/>
              </a:spcAft>
              <a:defRPr sz="1300" b="0">
                <a:solidFill>
                  <a:srgbClr val="2D3424"/>
                </a:solidFill>
                <a:latin typeface="Segoe UI"/>
              </a:defRPr>
            </a:pPr>
            <a:r>
              <a:t>Department · designation · grade</a:t>
            </a:r>
          </a:p>
          <a:p>
            <a:pPr>
              <a:spcAft>
                <a:spcPts val="800"/>
              </a:spcAft>
              <a:defRPr sz="1300" b="0">
                <a:solidFill>
                  <a:srgbClr val="2D3424"/>
                </a:solidFill>
                <a:latin typeface="Segoe UI"/>
              </a:defRPr>
            </a:pPr>
            <a:r>
              <a:t>Location · unit · cost center</a:t>
            </a:r>
          </a:p>
        </p:txBody>
      </p:sp>
      <p:sp>
        <p:nvSpPr>
          <p:cNvPr id="20" name="Rounded Rectangle 19"/>
          <p:cNvSpPr/>
          <p:nvPr/>
        </p:nvSpPr>
        <p:spPr>
          <a:xfrm>
            <a:off x="594360" y="4489704"/>
            <a:ext cx="3200400" cy="118872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4617720"/>
            <a:ext cx="2871216" cy="274320"/>
          </a:xfrm>
          <a:prstGeom prst="rect">
            <a:avLst/>
          </a:prstGeom>
          <a:noFill/>
          <a:effectLst/>
        </p:spPr>
        <p:txBody>
          <a:bodyPr wrap="square" lIns="0" rIns="0" tIns="0" bIns="0">
            <a:spAutoFit/>
          </a:bodyPr>
          <a:lstStyle/>
          <a:p>
            <a:pPr>
              <a:spcAft>
                <a:spcPts val="800"/>
              </a:spcAft>
              <a:defRPr sz="1200" b="1">
                <a:solidFill>
                  <a:srgbClr val="5C6936"/>
                </a:solidFill>
                <a:latin typeface="Segoe UI"/>
              </a:defRPr>
            </a:pPr>
            <a:r>
              <a:t>DAILY WORK</a:t>
            </a:r>
          </a:p>
        </p:txBody>
      </p:sp>
      <p:sp>
        <p:nvSpPr>
          <p:cNvPr id="22" name="TextBox 21"/>
          <p:cNvSpPr txBox="1"/>
          <p:nvPr/>
        </p:nvSpPr>
        <p:spPr>
          <a:xfrm>
            <a:off x="758952" y="4983480"/>
            <a:ext cx="2871216" cy="594360"/>
          </a:xfrm>
          <a:prstGeom prst="rect">
            <a:avLst/>
          </a:prstGeom>
          <a:noFill/>
          <a:effectLst/>
        </p:spPr>
        <p:txBody>
          <a:bodyPr wrap="square" lIns="0" rIns="0" tIns="0" bIns="0">
            <a:spAutoFit/>
          </a:bodyPr>
          <a:lstStyle/>
          <a:p>
            <a:pPr>
              <a:spcAft>
                <a:spcPts val="800"/>
              </a:spcAft>
              <a:defRPr sz="1300" b="0">
                <a:solidFill>
                  <a:srgbClr val="2D3424"/>
                </a:solidFill>
                <a:latin typeface="Segoe UI"/>
              </a:defRPr>
            </a:pPr>
            <a:r>
              <a:t>Attendance · leave · approvals</a:t>
            </a:r>
          </a:p>
          <a:p>
            <a:pPr>
              <a:spcAft>
                <a:spcPts val="800"/>
              </a:spcAft>
              <a:defRPr sz="1300" b="0">
                <a:solidFill>
                  <a:srgbClr val="2D3424"/>
                </a:solidFill>
                <a:latin typeface="Segoe UI"/>
              </a:defRPr>
            </a:pPr>
            <a:r>
              <a:t>Documents · asset assignments</a:t>
            </a:r>
          </a:p>
        </p:txBody>
      </p:sp>
      <p:sp>
        <p:nvSpPr>
          <p:cNvPr id="23" name="Rounded Rectangle 22"/>
          <p:cNvSpPr/>
          <p:nvPr/>
        </p:nvSpPr>
        <p:spPr>
          <a:xfrm>
            <a:off x="8394192" y="4489704"/>
            <a:ext cx="3200400" cy="118872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58784" y="4617720"/>
            <a:ext cx="2871216" cy="274320"/>
          </a:xfrm>
          <a:prstGeom prst="rect">
            <a:avLst/>
          </a:prstGeom>
          <a:noFill/>
          <a:effectLst/>
        </p:spPr>
        <p:txBody>
          <a:bodyPr wrap="square" lIns="0" rIns="0" tIns="0" bIns="0">
            <a:spAutoFit/>
          </a:bodyPr>
          <a:lstStyle/>
          <a:p>
            <a:pPr>
              <a:spcAft>
                <a:spcPts val="800"/>
              </a:spcAft>
              <a:defRPr sz="1200" b="1">
                <a:solidFill>
                  <a:srgbClr val="5C6936"/>
                </a:solidFill>
                <a:latin typeface="Segoe UI"/>
              </a:defRPr>
            </a:pPr>
            <a:r>
              <a:t>PAY &amp; GROWTH</a:t>
            </a:r>
          </a:p>
        </p:txBody>
      </p:sp>
      <p:sp>
        <p:nvSpPr>
          <p:cNvPr id="25" name="TextBox 24"/>
          <p:cNvSpPr txBox="1"/>
          <p:nvPr/>
        </p:nvSpPr>
        <p:spPr>
          <a:xfrm>
            <a:off x="8558784" y="4983480"/>
            <a:ext cx="2871216" cy="594360"/>
          </a:xfrm>
          <a:prstGeom prst="rect">
            <a:avLst/>
          </a:prstGeom>
          <a:noFill/>
          <a:effectLst/>
        </p:spPr>
        <p:txBody>
          <a:bodyPr wrap="square" lIns="0" rIns="0" tIns="0" bIns="0">
            <a:spAutoFit/>
          </a:bodyPr>
          <a:lstStyle/>
          <a:p>
            <a:pPr>
              <a:spcAft>
                <a:spcPts val="800"/>
              </a:spcAft>
              <a:defRPr sz="1300" b="0">
                <a:solidFill>
                  <a:srgbClr val="2D3424"/>
                </a:solidFill>
                <a:latin typeface="Segoe UI"/>
              </a:defRPr>
            </a:pPr>
            <a:r>
              <a:t>Payslips → lines; payroll runs</a:t>
            </a:r>
          </a:p>
          <a:p>
            <a:pPr>
              <a:spcAft>
                <a:spcPts val="800"/>
              </a:spcAft>
              <a:defRPr sz="1300" b="0">
                <a:solidFill>
                  <a:srgbClr val="2D3424"/>
                </a:solidFill>
                <a:latin typeface="Segoe UI"/>
              </a:defRPr>
            </a:pPr>
            <a:r>
              <a:t>Reviews → goals; feedback</a:t>
            </a:r>
          </a:p>
        </p:txBody>
      </p:sp>
      <p:cxnSp>
        <p:nvCxnSpPr>
          <p:cNvPr id="26" name="Connector 25"/>
          <p:cNvCxnSpPr/>
          <p:nvPr/>
        </p:nvCxnSpPr>
        <p:spPr>
          <a:xfrm>
            <a:off x="3794760" y="2788920"/>
            <a:ext cx="411480" cy="73152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7955279" y="2788920"/>
            <a:ext cx="438913" cy="73152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794760" y="3776472"/>
            <a:ext cx="411480" cy="1225296"/>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7955279" y="3776472"/>
            <a:ext cx="438913" cy="1225296"/>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215384" y="2267712"/>
            <a:ext cx="3749039" cy="594360"/>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Candidate → application → offer</a:t>
            </a:r>
          </a:p>
          <a:p>
            <a:pPr>
              <a:spcAft>
                <a:spcPts val="800"/>
              </a:spcAft>
              <a:defRPr sz="1500" b="0">
                <a:solidFill>
                  <a:srgbClr val="626752"/>
                </a:solidFill>
                <a:latin typeface="Segoe UI"/>
              </a:defRPr>
            </a:pPr>
            <a:r>
              <a:t>Onboarding plan → tasks</a:t>
            </a:r>
          </a:p>
        </p:txBody>
      </p:sp>
      <p:cxnSp>
        <p:nvCxnSpPr>
          <p:cNvPr id="31" name="Connector 30"/>
          <p:cNvCxnSpPr/>
          <p:nvPr/>
        </p:nvCxnSpPr>
        <p:spPr>
          <a:xfrm>
            <a:off x="6080760" y="2889504"/>
            <a:ext cx="0" cy="283464"/>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251960" y="4754880"/>
            <a:ext cx="3657600" cy="777240"/>
          </a:xfrm>
          <a:prstGeom prst="rect">
            <a:avLst/>
          </a:prstGeom>
          <a:noFill/>
          <a:effectLst/>
        </p:spPr>
        <p:txBody>
          <a:bodyPr wrap="square" lIns="0" rIns="0" tIns="0" bIns="0">
            <a:spAutoFit/>
          </a:bodyPr>
          <a:lstStyle/>
          <a:p>
            <a:pPr>
              <a:spcAft>
                <a:spcPts val="800"/>
              </a:spcAft>
              <a:defRPr sz="1400" b="0">
                <a:solidFill>
                  <a:srgbClr val="626752"/>
                </a:solidFill>
                <a:latin typeface="Segoe UI"/>
              </a:defRPr>
            </a:pPr>
            <a:r>
              <a:t>Also linked: helpdesk tickets,</a:t>
            </a:r>
          </a:p>
          <a:p>
            <a:pPr>
              <a:spcAft>
                <a:spcPts val="800"/>
              </a:spcAft>
              <a:defRPr sz="1400" b="0">
                <a:solidFill>
                  <a:srgbClr val="626752"/>
                </a:solidFill>
                <a:latin typeface="Segoe UI"/>
              </a:defRPr>
            </a:pPr>
            <a:r>
              <a:t>policy acknowledgements</a:t>
            </a:r>
          </a:p>
          <a:p>
            <a:pPr>
              <a:spcAft>
                <a:spcPts val="800"/>
              </a:spcAft>
              <a:defRPr sz="1400" b="0">
                <a:solidFill>
                  <a:srgbClr val="626752"/>
                </a:solidFill>
                <a:latin typeface="Segoe UI"/>
              </a:defRPr>
            </a:pPr>
            <a:r>
              <a:t>and employee timeline events.</a:t>
            </a:r>
          </a:p>
        </p:txBody>
      </p:sp>
      <p:sp>
        <p:nvSpPr>
          <p:cNvPr id="33" name="Can 32"/>
          <p:cNvSpPr/>
          <p:nvPr/>
        </p:nvSpPr>
        <p:spPr>
          <a:xfrm>
            <a:off x="11097158" y="201168"/>
            <a:ext cx="263347" cy="329184"/>
          </a:xfrm>
          <a:prstGeom prst="can">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02920" y="274320"/>
            <a:ext cx="8229600" cy="228600"/>
          </a:xfrm>
          <a:prstGeom prst="rect">
            <a:avLst/>
          </a:prstGeom>
          <a:noFill/>
          <a:effectLst/>
        </p:spPr>
        <p:txBody>
          <a:bodyPr wrap="square" lIns="0" rIns="0" tIns="0" bIns="0">
            <a:spAutoFit/>
          </a:bodyPr>
          <a:lstStyle/>
          <a:p>
            <a:pPr>
              <a:spcAft>
                <a:spcPts val="800"/>
              </a:spcAft>
              <a:defRPr sz="1000" b="1">
                <a:solidFill>
                  <a:srgbClr val="5C6936"/>
                </a:solidFill>
                <a:latin typeface="Segoe UI"/>
              </a:defRPr>
            </a:pPr>
            <a:r>
              <a:t>HRGenius  /  DELIVERY + NEXT STEPS</a:t>
            </a:r>
          </a:p>
        </p:txBody>
      </p:sp>
      <p:sp>
        <p:nvSpPr>
          <p:cNvPr id="3" name="TextBox 2"/>
          <p:cNvSpPr txBox="1"/>
          <p:nvPr/>
        </p:nvSpPr>
        <p:spPr>
          <a:xfrm>
            <a:off x="502920" y="804672"/>
            <a:ext cx="11064240" cy="640080"/>
          </a:xfrm>
          <a:prstGeom prst="rect">
            <a:avLst/>
          </a:prstGeom>
          <a:noFill/>
          <a:effectLst/>
        </p:spPr>
        <p:txBody>
          <a:bodyPr wrap="square" lIns="0" rIns="0" tIns="0" bIns="0">
            <a:spAutoFit/>
          </a:bodyPr>
          <a:lstStyle/>
          <a:p>
            <a:pPr>
              <a:spcAft>
                <a:spcPts val="800"/>
              </a:spcAft>
              <a:defRPr sz="3200" b="1">
                <a:solidFill>
                  <a:srgbClr val="2D3424"/>
                </a:solidFill>
                <a:latin typeface="Segoe UI"/>
              </a:defRPr>
            </a:pPr>
            <a:r>
              <a:t>Ready to demonstrate. Room to grow.</a:t>
            </a:r>
          </a:p>
        </p:txBody>
      </p:sp>
      <p:sp>
        <p:nvSpPr>
          <p:cNvPr id="4" name="TextBox 3"/>
          <p:cNvSpPr txBox="1"/>
          <p:nvPr/>
        </p:nvSpPr>
        <p:spPr>
          <a:xfrm>
            <a:off x="530352" y="1508760"/>
            <a:ext cx="10972800" cy="530352"/>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Keep implementation, verification and future work distinct.</a:t>
            </a:r>
          </a:p>
        </p:txBody>
      </p:sp>
      <p:sp>
        <p:nvSpPr>
          <p:cNvPr id="5" name="Rectangle 4"/>
          <p:cNvSpPr/>
          <p:nvPr/>
        </p:nvSpPr>
        <p:spPr>
          <a:xfrm>
            <a:off x="502920" y="6364224"/>
            <a:ext cx="11155680" cy="10972"/>
          </a:xfrm>
          <a:prstGeom prst="rect">
            <a:avLst/>
          </a:prstGeom>
          <a:solidFill>
            <a:srgbClr val="E3E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9672"/>
            <a:ext cx="6400800" cy="182880"/>
          </a:xfrm>
          <a:prstGeom prst="rect">
            <a:avLst/>
          </a:prstGeom>
          <a:noFill/>
          <a:effectLst/>
        </p:spPr>
        <p:txBody>
          <a:bodyPr wrap="square" lIns="0" rIns="0" tIns="0" bIns="0">
            <a:spAutoFit/>
          </a:bodyPr>
          <a:lstStyle/>
          <a:p>
            <a:pPr>
              <a:spcAft>
                <a:spcPts val="800"/>
              </a:spcAft>
              <a:defRPr sz="900" b="0">
                <a:solidFill>
                  <a:srgbClr val="626752"/>
                </a:solidFill>
                <a:latin typeface="Segoe UI"/>
              </a:defRPr>
            </a:pPr>
            <a:r>
              <a:t>A LITTLE MORE HUMAN.   •   OPTIONAL DEEP DIVE</a:t>
            </a:r>
          </a:p>
        </p:txBody>
      </p:sp>
      <p:sp>
        <p:nvSpPr>
          <p:cNvPr id="7" name="Rounded Rectangle 6">
            <a:hlinkClick action="ppaction://hlinksldjump" r:id="rId2"/>
          </p:cNvPr>
          <p:cNvSpPr/>
          <p:nvPr/>
        </p:nvSpPr>
        <p:spPr>
          <a:xfrm>
            <a:off x="9281160" y="6437376"/>
            <a:ext cx="777240"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Menu</a:t>
            </a:r>
          </a:p>
        </p:txBody>
      </p:sp>
      <p:sp>
        <p:nvSpPr>
          <p:cNvPr id="8" name="Rounded Rectangle 7">
            <a:hlinkClick action="ppaction://hlinksldjump" r:id="rId3"/>
          </p:cNvPr>
          <p:cNvSpPr/>
          <p:nvPr/>
        </p:nvSpPr>
        <p:spPr>
          <a:xfrm>
            <a:off x="10149840"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9" name="Rounded Rectangle 8">
            <a:hlinkClick action="ppaction://hlinksldjump" r:id="rId4"/>
          </p:cNvPr>
          <p:cNvSpPr/>
          <p:nvPr/>
        </p:nvSpPr>
        <p:spPr>
          <a:xfrm>
            <a:off x="10625328" y="6437376"/>
            <a:ext cx="384048" cy="402336"/>
          </a:xfrm>
          <a:prstGeom prst="roundRect">
            <a:avLst>
              <a:gd name="adj" fmla="val 13000"/>
            </a:avLst>
          </a:prstGeom>
          <a:solidFill>
            <a:srgbClr val="ECEFD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2D3424"/>
                </a:solidFill>
                <a:latin typeface="Segoe UI"/>
              </a:defRPr>
            </a:pPr>
            <a:r>
              <a:t>›</a:t>
            </a:r>
          </a:p>
        </p:txBody>
      </p:sp>
      <p:sp>
        <p:nvSpPr>
          <p:cNvPr id="10" name="TextBox 9"/>
          <p:cNvSpPr txBox="1"/>
          <p:nvPr/>
        </p:nvSpPr>
        <p:spPr>
          <a:xfrm>
            <a:off x="11201400" y="6510528"/>
            <a:ext cx="548640" cy="182880"/>
          </a:xfrm>
          <a:prstGeom prst="rect">
            <a:avLst/>
          </a:prstGeom>
          <a:noFill/>
          <a:effectLst/>
        </p:spPr>
        <p:txBody>
          <a:bodyPr wrap="square" lIns="0" rIns="0" tIns="0" bIns="0">
            <a:spAutoFit/>
          </a:bodyPr>
          <a:lstStyle/>
          <a:p>
            <a:pPr>
              <a:spcAft>
                <a:spcPts val="800"/>
              </a:spcAft>
              <a:defRPr sz="1000" b="1">
                <a:solidFill>
                  <a:srgbClr val="626752"/>
                </a:solidFill>
                <a:latin typeface="Segoe UI"/>
              </a:defRPr>
            </a:pPr>
            <a:r>
              <a:t>14</a:t>
            </a:r>
          </a:p>
        </p:txBody>
      </p:sp>
      <p:sp>
        <p:nvSpPr>
          <p:cNvPr id="11" name="Rounded Rectangle 10"/>
          <p:cNvSpPr/>
          <p:nvPr/>
        </p:nvSpPr>
        <p:spPr>
          <a:xfrm>
            <a:off x="594360" y="2286000"/>
            <a:ext cx="3456432" cy="333756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450592"/>
            <a:ext cx="3054096" cy="256032"/>
          </a:xfrm>
          <a:prstGeom prst="rect">
            <a:avLst/>
          </a:prstGeom>
          <a:noFill/>
          <a:effectLst/>
        </p:spPr>
        <p:txBody>
          <a:bodyPr wrap="square" lIns="0" rIns="0" tIns="0" bIns="0">
            <a:spAutoFit/>
          </a:bodyPr>
          <a:lstStyle/>
          <a:p>
            <a:pPr>
              <a:spcAft>
                <a:spcPts val="800"/>
              </a:spcAft>
              <a:defRPr sz="1100" b="1">
                <a:solidFill>
                  <a:srgbClr val="5C6936"/>
                </a:solidFill>
                <a:latin typeface="Segoe UI"/>
              </a:defRPr>
            </a:pPr>
            <a:r>
              <a:t>RUN THE PROJECT</a:t>
            </a:r>
          </a:p>
        </p:txBody>
      </p:sp>
      <p:sp>
        <p:nvSpPr>
          <p:cNvPr id="13" name="TextBox 12"/>
          <p:cNvSpPr txBox="1"/>
          <p:nvPr/>
        </p:nvSpPr>
        <p:spPr>
          <a:xfrm>
            <a:off x="795528" y="2871216"/>
            <a:ext cx="3054096" cy="493776"/>
          </a:xfrm>
          <a:prstGeom prst="rect">
            <a:avLst/>
          </a:prstGeom>
          <a:noFill/>
          <a:effectLst/>
        </p:spPr>
        <p:txBody>
          <a:bodyPr wrap="square" lIns="0" rIns="0" tIns="0" bIns="0">
            <a:spAutoFit/>
          </a:bodyPr>
          <a:lstStyle/>
          <a:p>
            <a:pPr>
              <a:spcAft>
                <a:spcPts val="800"/>
              </a:spcAft>
              <a:defRPr sz="2100" b="1">
                <a:solidFill>
                  <a:srgbClr val="2D3424"/>
                </a:solidFill>
                <a:latin typeface="Segoe UI"/>
              </a:defRPr>
            </a:pPr>
            <a:r>
              <a:t>Development &amp; deploy</a:t>
            </a:r>
          </a:p>
        </p:txBody>
      </p:sp>
      <p:sp>
        <p:nvSpPr>
          <p:cNvPr id="14" name="TextBox 13"/>
          <p:cNvSpPr txBox="1"/>
          <p:nvPr/>
        </p:nvSpPr>
        <p:spPr>
          <a:xfrm>
            <a:off x="795528" y="3429000"/>
            <a:ext cx="3054096" cy="2103120"/>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Angular frontend</a:t>
            </a:r>
          </a:p>
          <a:p>
            <a:pPr>
              <a:spcAft>
                <a:spcPts val="800"/>
              </a:spcAft>
              <a:defRPr sz="1500" b="0">
                <a:solidFill>
                  <a:srgbClr val="626752"/>
                </a:solidFill>
                <a:latin typeface="Segoe UI"/>
              </a:defRPr>
            </a:pPr>
            <a:r>
              <a:t>Spring Boot REST backend</a:t>
            </a:r>
          </a:p>
          <a:p>
            <a:pPr>
              <a:spcAft>
                <a:spcPts val="800"/>
              </a:spcAft>
              <a:defRPr sz="1500" b="0">
                <a:solidFill>
                  <a:srgbClr val="626752"/>
                </a:solidFill>
                <a:latin typeface="Segoe UI"/>
              </a:defRPr>
            </a:pPr>
            <a:r>
              <a:t>Oracle deployment / H2 demo</a:t>
            </a:r>
          </a:p>
          <a:p>
            <a:pPr>
              <a:spcAft>
                <a:spcPts val="800"/>
              </a:spcAft>
              <a:defRPr sz="1500" b="0">
                <a:solidFill>
                  <a:srgbClr val="626752"/>
                </a:solidFill>
                <a:latin typeface="Segoe UI"/>
              </a:defRPr>
            </a:pPr>
            <a:r>
              <a:t>Docker Compose configuration</a:t>
            </a:r>
          </a:p>
          <a:p>
            <a:pPr>
              <a:spcAft>
                <a:spcPts val="800"/>
              </a:spcAft>
              <a:defRPr sz="1500" b="0">
                <a:solidFill>
                  <a:srgbClr val="626752"/>
                </a:solidFill>
                <a:latin typeface="Segoe UI"/>
              </a:defRPr>
            </a:pPr>
            <a:r>
              <a:t>File storage + mail service</a:t>
            </a:r>
          </a:p>
        </p:txBody>
      </p:sp>
      <p:sp>
        <p:nvSpPr>
          <p:cNvPr id="15" name="Rounded Rectangle 14"/>
          <p:cNvSpPr/>
          <p:nvPr/>
        </p:nvSpPr>
        <p:spPr>
          <a:xfrm>
            <a:off x="4370832" y="2286000"/>
            <a:ext cx="3456432" cy="333756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450592"/>
            <a:ext cx="3054096" cy="256032"/>
          </a:xfrm>
          <a:prstGeom prst="rect">
            <a:avLst/>
          </a:prstGeom>
          <a:noFill/>
          <a:effectLst/>
        </p:spPr>
        <p:txBody>
          <a:bodyPr wrap="square" lIns="0" rIns="0" tIns="0" bIns="0">
            <a:spAutoFit/>
          </a:bodyPr>
          <a:lstStyle/>
          <a:p>
            <a:pPr>
              <a:spcAft>
                <a:spcPts val="800"/>
              </a:spcAft>
              <a:defRPr sz="1100" b="1">
                <a:solidFill>
                  <a:srgbClr val="5C6936"/>
                </a:solidFill>
                <a:latin typeface="Segoe UI"/>
              </a:defRPr>
            </a:pPr>
            <a:r>
              <a:t>CHECK THE PROJECT</a:t>
            </a:r>
          </a:p>
        </p:txBody>
      </p:sp>
      <p:sp>
        <p:nvSpPr>
          <p:cNvPr id="17" name="TextBox 16"/>
          <p:cNvSpPr txBox="1"/>
          <p:nvPr/>
        </p:nvSpPr>
        <p:spPr>
          <a:xfrm>
            <a:off x="4572000" y="2871216"/>
            <a:ext cx="3054096" cy="493776"/>
          </a:xfrm>
          <a:prstGeom prst="rect">
            <a:avLst/>
          </a:prstGeom>
          <a:noFill/>
          <a:effectLst/>
        </p:spPr>
        <p:txBody>
          <a:bodyPr wrap="square" lIns="0" rIns="0" tIns="0" bIns="0">
            <a:spAutoFit/>
          </a:bodyPr>
          <a:lstStyle/>
          <a:p>
            <a:pPr>
              <a:spcAft>
                <a:spcPts val="800"/>
              </a:spcAft>
              <a:defRPr sz="2100" b="1">
                <a:solidFill>
                  <a:srgbClr val="2D3424"/>
                </a:solidFill>
                <a:latin typeface="Segoe UI"/>
              </a:defRPr>
            </a:pPr>
            <a:r>
              <a:t>Quality evidence</a:t>
            </a:r>
          </a:p>
        </p:txBody>
      </p:sp>
      <p:sp>
        <p:nvSpPr>
          <p:cNvPr id="18" name="TextBox 17"/>
          <p:cNvSpPr txBox="1"/>
          <p:nvPr/>
        </p:nvSpPr>
        <p:spPr>
          <a:xfrm>
            <a:off x="4572000" y="3429000"/>
            <a:ext cx="3054096" cy="2103120"/>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Frontend build + UI checks</a:t>
            </a:r>
          </a:p>
          <a:p>
            <a:pPr>
              <a:spcAft>
                <a:spcPts val="800"/>
              </a:spcAft>
              <a:defRPr sz="1500" b="0">
                <a:solidFill>
                  <a:srgbClr val="626752"/>
                </a:solidFill>
                <a:latin typeface="Segoe UI"/>
              </a:defRPr>
            </a:pPr>
            <a:r>
              <a:t>Backend test sources present</a:t>
            </a:r>
          </a:p>
          <a:p>
            <a:pPr>
              <a:spcAft>
                <a:spcPts val="800"/>
              </a:spcAft>
              <a:defRPr sz="1500" b="0">
                <a:solidFill>
                  <a:srgbClr val="626752"/>
                </a:solidFill>
                <a:latin typeface="Segoe UI"/>
              </a:defRPr>
            </a:pPr>
            <a:r>
              <a:t>Oracle acceptance still needed</a:t>
            </a:r>
          </a:p>
          <a:p>
            <a:pPr>
              <a:spcAft>
                <a:spcPts val="800"/>
              </a:spcAft>
              <a:defRPr sz="1500" b="0">
                <a:solidFill>
                  <a:srgbClr val="626752"/>
                </a:solidFill>
                <a:latin typeface="Segoe UI"/>
              </a:defRPr>
            </a:pPr>
            <a:r>
              <a:t>Business-flow regression</a:t>
            </a:r>
          </a:p>
          <a:p>
            <a:pPr>
              <a:spcAft>
                <a:spcPts val="800"/>
              </a:spcAft>
              <a:defRPr sz="1500" b="0">
                <a:solidFill>
                  <a:srgbClr val="626752"/>
                </a:solidFill>
                <a:latin typeface="Segoe UI"/>
              </a:defRPr>
            </a:pPr>
            <a:r>
              <a:t>Manual accessibility review</a:t>
            </a:r>
          </a:p>
        </p:txBody>
      </p:sp>
      <p:sp>
        <p:nvSpPr>
          <p:cNvPr id="19" name="Rounded Rectangle 18"/>
          <p:cNvSpPr/>
          <p:nvPr/>
        </p:nvSpPr>
        <p:spPr>
          <a:xfrm>
            <a:off x="8138160" y="2286000"/>
            <a:ext cx="3456432" cy="3337560"/>
          </a:xfrm>
          <a:prstGeom prst="roundRect">
            <a:avLst>
              <a:gd name="adj" fmla="val 1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8" y="2450592"/>
            <a:ext cx="3054096" cy="256032"/>
          </a:xfrm>
          <a:prstGeom prst="rect">
            <a:avLst/>
          </a:prstGeom>
          <a:noFill/>
          <a:effectLst/>
        </p:spPr>
        <p:txBody>
          <a:bodyPr wrap="square" lIns="0" rIns="0" tIns="0" bIns="0">
            <a:spAutoFit/>
          </a:bodyPr>
          <a:lstStyle/>
          <a:p>
            <a:pPr>
              <a:spcAft>
                <a:spcPts val="800"/>
              </a:spcAft>
              <a:defRPr sz="1100" b="1">
                <a:solidFill>
                  <a:srgbClr val="5C6936"/>
                </a:solidFill>
                <a:latin typeface="Segoe UI"/>
              </a:defRPr>
            </a:pPr>
            <a:r>
              <a:t>EVOLVE THE PROJECT</a:t>
            </a:r>
          </a:p>
        </p:txBody>
      </p:sp>
      <p:sp>
        <p:nvSpPr>
          <p:cNvPr id="21" name="TextBox 20"/>
          <p:cNvSpPr txBox="1"/>
          <p:nvPr/>
        </p:nvSpPr>
        <p:spPr>
          <a:xfrm>
            <a:off x="8339328" y="2871216"/>
            <a:ext cx="3054096" cy="493776"/>
          </a:xfrm>
          <a:prstGeom prst="rect">
            <a:avLst/>
          </a:prstGeom>
          <a:noFill/>
          <a:effectLst/>
        </p:spPr>
        <p:txBody>
          <a:bodyPr wrap="square" lIns="0" rIns="0" tIns="0" bIns="0">
            <a:spAutoFit/>
          </a:bodyPr>
          <a:lstStyle/>
          <a:p>
            <a:pPr>
              <a:spcAft>
                <a:spcPts val="800"/>
              </a:spcAft>
              <a:defRPr sz="2100" b="1">
                <a:solidFill>
                  <a:srgbClr val="2D3424"/>
                </a:solidFill>
                <a:latin typeface="Segoe UI"/>
              </a:defRPr>
            </a:pPr>
            <a:r>
              <a:t>Proposed next steps</a:t>
            </a:r>
          </a:p>
        </p:txBody>
      </p:sp>
      <p:sp>
        <p:nvSpPr>
          <p:cNvPr id="22" name="TextBox 21"/>
          <p:cNvSpPr txBox="1"/>
          <p:nvPr/>
        </p:nvSpPr>
        <p:spPr>
          <a:xfrm>
            <a:off x="8339328" y="3429000"/>
            <a:ext cx="3054096" cy="2103120"/>
          </a:xfrm>
          <a:prstGeom prst="rect">
            <a:avLst/>
          </a:prstGeom>
          <a:noFill/>
          <a:effectLst/>
        </p:spPr>
        <p:txBody>
          <a:bodyPr wrap="square" lIns="0" rIns="0" tIns="0" bIns="0">
            <a:spAutoFit/>
          </a:bodyPr>
          <a:lstStyle/>
          <a:p>
            <a:pPr>
              <a:spcAft>
                <a:spcPts val="800"/>
              </a:spcAft>
              <a:defRPr sz="1500" b="0">
                <a:solidFill>
                  <a:srgbClr val="626752"/>
                </a:solidFill>
                <a:latin typeface="Segoe UI"/>
              </a:defRPr>
            </a:pPr>
            <a:r>
              <a:t>Deeper role-based dashboards</a:t>
            </a:r>
          </a:p>
          <a:p>
            <a:pPr>
              <a:spcAft>
                <a:spcPts val="800"/>
              </a:spcAft>
              <a:defRPr sz="1500" b="0">
                <a:solidFill>
                  <a:srgbClr val="626752"/>
                </a:solidFill>
                <a:latin typeface="Segoe UI"/>
              </a:defRPr>
            </a:pPr>
            <a:r>
              <a:t>Chart-to-record navigation</a:t>
            </a:r>
          </a:p>
          <a:p>
            <a:pPr>
              <a:spcAft>
                <a:spcPts val="800"/>
              </a:spcAft>
              <a:defRPr sz="1500" b="0">
                <a:solidFill>
                  <a:srgbClr val="626752"/>
                </a:solidFill>
                <a:latin typeface="Segoe UI"/>
              </a:defRPr>
            </a:pPr>
            <a:r>
              <a:t>SSO and stronger operations</a:t>
            </a:r>
          </a:p>
          <a:p>
            <a:pPr>
              <a:spcAft>
                <a:spcPts val="800"/>
              </a:spcAft>
              <a:defRPr sz="1500" b="0">
                <a:solidFill>
                  <a:srgbClr val="626752"/>
                </a:solidFill>
                <a:latin typeface="Segoe UI"/>
              </a:defRPr>
            </a:pPr>
            <a:r>
              <a:t>Monitoring + recovery drills</a:t>
            </a:r>
          </a:p>
          <a:p>
            <a:pPr>
              <a:spcAft>
                <a:spcPts val="800"/>
              </a:spcAft>
              <a:defRPr sz="1500" b="0">
                <a:solidFill>
                  <a:srgbClr val="626752"/>
                </a:solidFill>
                <a:latin typeface="Segoe UI"/>
              </a:defRPr>
            </a:pPr>
            <a:r>
              <a:t>Measured user feedback</a:t>
            </a:r>
          </a:p>
        </p:txBody>
      </p:sp>
      <p:sp>
        <p:nvSpPr>
          <p:cNvPr id="23" name="Rounded Rectangle 22">
            <a:hlinkClick action="ppaction://hlinksldjump" r:id="rId5"/>
          </p:cNvPr>
          <p:cNvSpPr/>
          <p:nvPr/>
        </p:nvSpPr>
        <p:spPr>
          <a:xfrm>
            <a:off x="594360" y="5852160"/>
            <a:ext cx="2743200" cy="402336"/>
          </a:xfrm>
          <a:prstGeom prst="roundRect">
            <a:avLst>
              <a:gd name="adj" fmla="val 13000"/>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l">
              <a:defRPr sz="1200" b="1">
                <a:solidFill>
                  <a:srgbClr val="FFFFFF"/>
                </a:solidFill>
                <a:latin typeface="Segoe UI"/>
              </a:defRPr>
            </a:pPr>
            <a:r>
              <a:t>Back to the demo choices  →</a:t>
            </a:r>
          </a:p>
        </p:txBody>
      </p:sp>
      <p:sp>
        <p:nvSpPr>
          <p:cNvPr id="24" name="Rectangle 23"/>
          <p:cNvSpPr/>
          <p:nvPr/>
        </p:nvSpPr>
        <p:spPr>
          <a:xfrm>
            <a:off x="11172870" y="201168"/>
            <a:ext cx="108630" cy="82296"/>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064240" y="415137"/>
            <a:ext cx="108630" cy="82296"/>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278209" y="415137"/>
            <a:ext cx="108630" cy="82296"/>
          </a:xfrm>
          <a:prstGeom prst="rect">
            <a:avLst/>
          </a:prstGeom>
          <a:solidFill>
            <a:srgbClr val="5C6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1225540" y="283464"/>
            <a:ext cx="0" cy="75712"/>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116909" y="359176"/>
            <a:ext cx="217261" cy="0"/>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116909" y="359176"/>
            <a:ext cx="0" cy="55961"/>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334170" y="359176"/>
            <a:ext cx="0" cy="55961"/>
          </a:xfrm>
          <a:prstGeom prst="line">
            <a:avLst/>
          </a:prstGeom>
          <a:ln w="25400">
            <a:solidFill>
              <a:srgbClr val="5C6936"/>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HRGenius — A Little More Human</dc:title>
  <dc:subject>Interactive project showcase with technical presenter notes</dc:subject>
  <dc:creator>HRGenius Project</dc:creator>
  <cp:keywords>HRGenius, HRMS, olive, white, interactive, project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